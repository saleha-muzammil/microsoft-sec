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269d853553adf0db_3_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h269d853553adf0db_3_2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Opening. We took the SCuBA/OSCAL challenge. Three numbers to remember: eight validated OSCAL documents, 100% eval accuracy, and 26 false findings that existing approaches produce and we eliminate.</a:t>
            </a:r>
            <a:endParaRPr/>
          </a:p>
        </p:txBody>
      </p:sp>
      <p:sp>
        <p:nvSpPr>
          <p:cNvPr id="14" name="Google Shape;14;h269d853553adf0db_3_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h269d853553adf0db_3_2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h269d853553adf0db_3_2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gap is not detection — CISA solved that. The gap is everything after detection. And BOD 25-01 makes it mandatory, so this work is not optional.</a:t>
            </a:r>
            <a:endParaRPr/>
          </a:p>
        </p:txBody>
      </p:sp>
      <p:sp>
        <p:nvSpPr>
          <p:cNvPr id="34" name="Google Shape;34;h269d853553adf0db_3_2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h269d853553adf0db_57_110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h269d853553adf0db_57_1108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Our goal was not another scanner. It was to close the gap after detection: take any Virginia public body from a ScubaGear run to an auditor-ready package in minutes. We set three success criteria up front: complete, faithful to CISA, and grounded AI. Everything that follows is measured against them.</a:t>
            </a:r>
            <a:endParaRPr/>
          </a:p>
        </p:txBody>
      </p:sp>
      <p:sp>
        <p:nvSpPr>
          <p:cNvPr id="59" name="Google Shape;59;h269d853553adf0db_57_110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269d853553adf0db_3_53:notes"/>
          <p:cNvSpPr/>
          <p:nvPr>
            <p:ph idx="2" type="sldImg"/>
          </p:nvPr>
        </p:nvSpPr>
        <p:spPr>
          <a:xfrm>
            <a:off x="685800" y="857250"/>
            <a:ext cx="54864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h269d853553adf0db_3_53:notes"/>
          <p:cNvSpPr txBox="1"/>
          <p:nvPr>
            <p:ph idx="1" type="body"/>
          </p:nvPr>
        </p:nvSpPr>
        <p:spPr>
          <a:xfrm>
            <a:off x="685800" y="3300413"/>
            <a:ext cx="5486400" cy="2700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single most important decision: parsing and OSCAL generation are plain typed Python. AI is layered on top where judgement helps, and is structurally prevented from touching the facts.</a:t>
            </a:r>
            <a:endParaRPr/>
          </a:p>
        </p:txBody>
      </p:sp>
      <p:sp>
        <p:nvSpPr>
          <p:cNvPr id="80" name="Google Shape;80;h269d853553adf0db_3_53:notes"/>
          <p:cNvSpPr txBox="1"/>
          <p:nvPr>
            <p:ph idx="12" type="sldNum"/>
          </p:nvPr>
        </p:nvSpPr>
        <p:spPr>
          <a:xfrm>
            <a:off x="3884613" y="6513910"/>
            <a:ext cx="2971800" cy="3440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h269d853553adf0db_3_8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h269d853553adf0db_3_8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Three of these — component-definition, SSP and POA&amp;M — are the ones CISA marked TODO. Passing JSON Schema is necessary but not sufficient; Metaschema enforces cardinality and cross-reference resolution too.</a:t>
            </a:r>
            <a:endParaRPr/>
          </a:p>
        </p:txBody>
      </p:sp>
      <p:sp>
        <p:nvSpPr>
          <p:cNvPr id="89" name="Google Shape;89;h269d853553adf0db_3_8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h269d853553adf0db_3_12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h269d853553adf0db_3_125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difference between a tool you can audit and one you have to trust. 97% deterministic from CISA's own published data; the remaining 3 are reported as unmapped — never inferred by a model.</a:t>
            </a:r>
            <a:endParaRPr/>
          </a:p>
        </p:txBody>
      </p:sp>
      <p:sp>
        <p:nvSpPr>
          <p:cNvPr id="158" name="Google Shape;158;h269d853553adf0db_3_12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h269d853553adf0db_3_14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h269d853553adf0db_3_149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a real technical insight, not a feature list item. Every drift tool we found compares run-to-run by ID and would get this wrong.</a:t>
            </a:r>
            <a:endParaRPr/>
          </a:p>
        </p:txBody>
      </p:sp>
      <p:sp>
        <p:nvSpPr>
          <p:cNvPr id="183" name="Google Shape;183;h269d853553adf0db_3_14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h269d853553adf0db_3_1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h269d853553adf0db_3_16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audits of the compliance number itself. Left: exemptions are the denominator nobody checks, and we make them OSCAL risks with a status. Right: ranking by attack coverage genuinely disagrees with ranking by SHALL/SHOULD.</a:t>
            </a:r>
            <a:endParaRPr/>
          </a:p>
        </p:txBody>
      </p:sp>
      <p:sp>
        <p:nvSpPr>
          <p:cNvPr id="200" name="Google Shape;200;h269d853553adf0db_3_1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h269d853553adf0db_3_19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h269d853553adf0db_3_19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contest is for Virginia, and this is the slide that earns that. A Virginia institution otherwise works this out by hand, per finding, per standard.</a:t>
            </a:r>
            <a:endParaRPr/>
          </a:p>
        </p:txBody>
      </p:sp>
      <p:sp>
        <p:nvSpPr>
          <p:cNvPr id="237" name="Google Shape;237;h269d853553adf0db_3_19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h269d853553adf0db_3_2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h269d853553adf0db_3_224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Four specialists share one grounding rule. The guardrails are architectural: agents have no access to data, only to tools that read validated documents.</a:t>
            </a:r>
            <a:endParaRPr/>
          </a:p>
        </p:txBody>
      </p:sp>
      <p:sp>
        <p:nvSpPr>
          <p:cNvPr id="278" name="Google Shape;278;h269d853553adf0db_3_2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h269d853553adf0db_3_2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h269d853553adf0db_3_24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the beat that converts restraint into measured superiority. We are not claiming the model is dangerous - we are showing what the obvious implementation actually does, with the same model and the same questions.</a:t>
            </a:r>
            <a:endParaRPr/>
          </a:p>
        </p:txBody>
      </p:sp>
      <p:sp>
        <p:nvSpPr>
          <p:cNvPr id="289" name="Google Shape;289;h269d853553adf0db_3_2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h269d853553adf0db_3_27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h269d853553adf0db_3_273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give a band, not a number, and every assumption is a slider in the app. Judges do not have to accept our inputs - they can change them. The measured column needs no assumption at all.</a:t>
            </a:r>
            <a:endParaRPr/>
          </a:p>
        </p:txBody>
      </p:sp>
      <p:sp>
        <p:nvSpPr>
          <p:cNvPr id="315" name="Google Shape;315;h269d853553adf0db_3_27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h269d853553adf0db_3_31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2" name="Google Shape;352;h269d853553adf0db_3_310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is demonstrated rather than argued. Everything on this slide can be checked from the repository in a few minutes.</a:t>
            </a:r>
            <a:endParaRPr/>
          </a:p>
        </p:txBody>
      </p:sp>
      <p:sp>
        <p:nvSpPr>
          <p:cNvPr id="353" name="Google Shape;353;h269d853553adf0db_3_31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h269d853553adf0db_57_11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h269d853553adf0db_57_113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Five things we'd tell the next team. The big one: grounding is an architectural decision, not a prompt. Same model, same questions, and the tool-grounded version stopped fabricating entirely. And wherever an authority has already published the answer, look it up rather than generate it.</a:t>
            </a:r>
            <a:endParaRPr/>
          </a:p>
        </p:txBody>
      </p:sp>
      <p:sp>
        <p:nvSpPr>
          <p:cNvPr id="380" name="Google Shape;380;h269d853553adf0db_57_11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b="0" i="0" lang="en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h269d853553adf0db_3_3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h269d853553adf0db_3_337:notes"/>
          <p:cNvSpPr txBox="1"/>
          <p:nvPr>
            <p:ph idx="1" type="body"/>
          </p:nvPr>
        </p:nvSpPr>
        <p:spPr>
          <a:xfrm>
            <a:off x="685800" y="3300413"/>
            <a:ext cx="54864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Close on the framing that makes the contribution legible: CISA built detection, we built the compliance layer that turns detection into an auditable package.</a:t>
            </a:r>
            <a:endParaRPr/>
          </a:p>
        </p:txBody>
      </p:sp>
      <p:sp>
        <p:nvSpPr>
          <p:cNvPr id="407" name="Google Shape;407;h269d853553adf0db_3_3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h269d853553adf0db_57_9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h269d853553adf0db_57_9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9" name="Google Shape;9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0" name="Google Shape;1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4.png"/><Relationship Id="rId7" Type="http://schemas.openxmlformats.org/officeDocument/2006/relationships/image" Target="../media/image3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6.jpg"/><Relationship Id="rId5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hyperlink" Target="https://github.com/saleha-muzammil/microsoft-sec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/>
        </p:nvSpPr>
        <p:spPr>
          <a:xfrm>
            <a:off x="557070" y="221463"/>
            <a:ext cx="75438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MICROSOFT &amp; CCI INNOVATION CHALLENGE FOR VIRGINIA</a:t>
            </a:r>
            <a:endParaRPr b="1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 txBox="1"/>
          <p:nvPr/>
        </p:nvSpPr>
        <p:spPr>
          <a:xfrm>
            <a:off x="488775" y="595150"/>
            <a:ext cx="77391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700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SCuBA Compliance Copilot</a:t>
            </a:r>
            <a:endParaRPr b="1" sz="3700">
              <a:solidFill>
                <a:srgbClr val="1021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" name="Google Shape;18;p4"/>
          <p:cNvSpPr txBox="1"/>
          <p:nvPr/>
        </p:nvSpPr>
        <p:spPr>
          <a:xfrm>
            <a:off x="488775" y="1404850"/>
            <a:ext cx="7968600" cy="8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Turning CISA's SCuBA baselines and ScubaGear assessments into validated OSCAL</a:t>
            </a:r>
            <a:r>
              <a:rPr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an AI layer that cannot invent a compliance fact.</a:t>
            </a:r>
            <a:endParaRPr b="0"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 txBox="1"/>
          <p:nvPr/>
        </p:nvSpPr>
        <p:spPr>
          <a:xfrm>
            <a:off x="1109370" y="2403825"/>
            <a:ext cx="2190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sz="296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 txBox="1"/>
          <p:nvPr/>
        </p:nvSpPr>
        <p:spPr>
          <a:xfrm>
            <a:off x="1109370" y="2880225"/>
            <a:ext cx="2190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OSCAL documents</a:t>
            </a:r>
            <a:endParaRPr b="0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/>
        </p:nvSpPr>
        <p:spPr>
          <a:xfrm>
            <a:off x="3509670" y="2479025"/>
            <a:ext cx="2190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1" sz="296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 txBox="1"/>
          <p:nvPr/>
        </p:nvSpPr>
        <p:spPr>
          <a:xfrm>
            <a:off x="3509670" y="2937575"/>
            <a:ext cx="2190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b="0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val accuracy</a:t>
            </a:r>
            <a:endParaRPr b="0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 txBox="1"/>
          <p:nvPr/>
        </p:nvSpPr>
        <p:spPr>
          <a:xfrm>
            <a:off x="5909970" y="2479025"/>
            <a:ext cx="2190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6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sz="2960">
              <a:solidFill>
                <a:srgbClr val="D9770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 txBox="1"/>
          <p:nvPr/>
        </p:nvSpPr>
        <p:spPr>
          <a:xfrm>
            <a:off x="5909970" y="2894750"/>
            <a:ext cx="21909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r>
              <a:rPr b="0" lang="en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alse findings eliminated</a:t>
            </a:r>
            <a:endParaRPr b="0"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 txBox="1"/>
          <p:nvPr/>
        </p:nvSpPr>
        <p:spPr>
          <a:xfrm>
            <a:off x="105951" y="3587525"/>
            <a:ext cx="8490600" cy="285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Contributors: 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Saleha Muzammil (UVA), Mughees Ur Rehman (Virginia Tech)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26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6625" y="4632150"/>
            <a:ext cx="1747375" cy="51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4" y="0"/>
            <a:ext cx="1656325" cy="60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4"/>
          <p:cNvPicPr preferRelativeResize="0"/>
          <p:nvPr/>
        </p:nvPicPr>
        <p:blipFill rotWithShape="1">
          <a:blip r:embed="rId6">
            <a:alphaModFix/>
          </a:blip>
          <a:srcRect b="25294" l="19728" r="19885" t="30291"/>
          <a:stretch/>
        </p:blipFill>
        <p:spPr>
          <a:xfrm>
            <a:off x="2744812" y="4222449"/>
            <a:ext cx="1153262" cy="80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238078" y="4222450"/>
            <a:ext cx="1261537" cy="70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0" y="4534500"/>
            <a:ext cx="609000" cy="60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/>
        </p:nvSpPr>
        <p:spPr>
          <a:xfrm>
            <a:off x="480060" y="190500"/>
            <a:ext cx="816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1" sz="1600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 txBox="1"/>
          <p:nvPr/>
        </p:nvSpPr>
        <p:spPr>
          <a:xfrm>
            <a:off x="480060" y="438150"/>
            <a:ext cx="816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5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Compliance stops where the scanner ends</a:t>
            </a:r>
            <a:endParaRPr b="1" sz="2405">
              <a:solidFill>
                <a:srgbClr val="1021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8" name="Google Shape;38;p5"/>
          <p:cNvSpPr txBox="1"/>
          <p:nvPr/>
        </p:nvSpPr>
        <p:spPr>
          <a:xfrm>
            <a:off x="480051" y="876300"/>
            <a:ext cx="81609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CISA's </a:t>
            </a:r>
            <a:r>
              <a:rPr b="1"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ScubaGear</a:t>
            </a:r>
            <a:r>
              <a:rPr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 grades Microsoft 365 tenants against </a:t>
            </a:r>
            <a:r>
              <a:rPr b="1"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SCuBA</a:t>
            </a:r>
            <a:r>
              <a:rPr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 baselines, but outputs human-readable reports:  </a:t>
            </a:r>
            <a:r>
              <a:rPr b="1" lang="en" sz="1410">
                <a:solidFill>
                  <a:srgbClr val="D97706"/>
                </a:solidFill>
                <a:latin typeface="Calibri"/>
                <a:ea typeface="Calibri"/>
                <a:cs typeface="Calibri"/>
                <a:sym typeface="Calibri"/>
              </a:rPr>
              <a:t>not machine-readable compliance evidence</a:t>
            </a:r>
            <a:r>
              <a:rPr lang="en" sz="141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1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498860" y="1597700"/>
            <a:ext cx="4857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So everything downstream is still done by hand:</a:t>
            </a:r>
            <a:endParaRPr b="1" sz="130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498860" y="1902500"/>
            <a:ext cx="4857900" cy="362100"/>
            <a:chOff x="0" y="0"/>
            <a:chExt cx="4857900" cy="362100"/>
          </a:xfrm>
        </p:grpSpPr>
        <p:sp>
          <p:nvSpPr>
            <p:cNvPr id="41" name="Google Shape;41;p5"/>
            <p:cNvSpPr/>
            <p:nvPr/>
          </p:nvSpPr>
          <p:spPr>
            <a:xfrm>
              <a:off x="0" y="0"/>
              <a:ext cx="4857900" cy="362100"/>
            </a:xfrm>
            <a:prstGeom prst="roundRect">
              <a:avLst>
                <a:gd fmla="val 15789" name="adj"/>
              </a:avLst>
            </a:prstGeom>
            <a:solidFill>
              <a:srgbClr val="F4F7F9"/>
            </a:solidFill>
            <a:ln cap="flat" cmpd="sng" w="9525">
              <a:solidFill>
                <a:srgbClr val="E2E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5"/>
            <p:cNvSpPr txBox="1"/>
            <p:nvPr/>
          </p:nvSpPr>
          <p:spPr>
            <a:xfrm>
              <a:off x="133350" y="0"/>
              <a:ext cx="4591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System Security Plans</a:t>
              </a:r>
              <a:r>
                <a:rPr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 written in Word</a:t>
              </a:r>
              <a:endParaRPr b="1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" name="Google Shape;43;p5"/>
          <p:cNvGrpSpPr/>
          <p:nvPr/>
        </p:nvGrpSpPr>
        <p:grpSpPr>
          <a:xfrm>
            <a:off x="498860" y="2340650"/>
            <a:ext cx="4857900" cy="362100"/>
            <a:chOff x="0" y="0"/>
            <a:chExt cx="4857900" cy="362100"/>
          </a:xfrm>
        </p:grpSpPr>
        <p:sp>
          <p:nvSpPr>
            <p:cNvPr id="44" name="Google Shape;44;p5"/>
            <p:cNvSpPr/>
            <p:nvPr/>
          </p:nvSpPr>
          <p:spPr>
            <a:xfrm>
              <a:off x="0" y="0"/>
              <a:ext cx="4857900" cy="362100"/>
            </a:xfrm>
            <a:prstGeom prst="roundRect">
              <a:avLst>
                <a:gd fmla="val 15789" name="adj"/>
              </a:avLst>
            </a:prstGeom>
            <a:solidFill>
              <a:srgbClr val="F4F7F9"/>
            </a:solidFill>
            <a:ln cap="flat" cmpd="sng" w="9525">
              <a:solidFill>
                <a:srgbClr val="E2E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5"/>
            <p:cNvSpPr txBox="1"/>
            <p:nvPr/>
          </p:nvSpPr>
          <p:spPr>
            <a:xfrm>
              <a:off x="133350" y="0"/>
              <a:ext cx="4591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Plans of Action &amp; Milestones</a:t>
              </a:r>
              <a:r>
                <a:rPr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tracked in spreadsheets</a:t>
              </a:r>
              <a:endParaRPr b="1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" name="Google Shape;46;p5"/>
          <p:cNvGrpSpPr/>
          <p:nvPr/>
        </p:nvGrpSpPr>
        <p:grpSpPr>
          <a:xfrm>
            <a:off x="498860" y="2778800"/>
            <a:ext cx="4857900" cy="362100"/>
            <a:chOff x="0" y="0"/>
            <a:chExt cx="4857900" cy="362100"/>
          </a:xfrm>
        </p:grpSpPr>
        <p:sp>
          <p:nvSpPr>
            <p:cNvPr id="47" name="Google Shape;47;p5"/>
            <p:cNvSpPr/>
            <p:nvPr/>
          </p:nvSpPr>
          <p:spPr>
            <a:xfrm>
              <a:off x="0" y="0"/>
              <a:ext cx="4857900" cy="362100"/>
            </a:xfrm>
            <a:prstGeom prst="roundRect">
              <a:avLst>
                <a:gd fmla="val 15789" name="adj"/>
              </a:avLst>
            </a:prstGeom>
            <a:solidFill>
              <a:srgbClr val="F4F7F9"/>
            </a:solidFill>
            <a:ln cap="flat" cmpd="sng" w="9525">
              <a:solidFill>
                <a:srgbClr val="E2E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" name="Google Shape;48;p5"/>
            <p:cNvSpPr txBox="1"/>
            <p:nvPr/>
          </p:nvSpPr>
          <p:spPr>
            <a:xfrm>
              <a:off x="133350" y="0"/>
              <a:ext cx="4591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NIST 800-53 Mappings</a:t>
              </a:r>
              <a:r>
                <a:rPr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 assembled by hand for ATO packages</a:t>
              </a:r>
              <a:endParaRPr b="1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9" name="Google Shape;49;p5"/>
          <p:cNvGrpSpPr/>
          <p:nvPr/>
        </p:nvGrpSpPr>
        <p:grpSpPr>
          <a:xfrm>
            <a:off x="498860" y="3216950"/>
            <a:ext cx="4857900" cy="362100"/>
            <a:chOff x="0" y="0"/>
            <a:chExt cx="4857900" cy="362100"/>
          </a:xfrm>
        </p:grpSpPr>
        <p:sp>
          <p:nvSpPr>
            <p:cNvPr id="50" name="Google Shape;50;p5"/>
            <p:cNvSpPr/>
            <p:nvPr/>
          </p:nvSpPr>
          <p:spPr>
            <a:xfrm>
              <a:off x="0" y="0"/>
              <a:ext cx="4857900" cy="362100"/>
            </a:xfrm>
            <a:prstGeom prst="roundRect">
              <a:avLst>
                <a:gd fmla="val 15789" name="adj"/>
              </a:avLst>
            </a:prstGeom>
            <a:solidFill>
              <a:srgbClr val="F4F7F9"/>
            </a:solidFill>
            <a:ln cap="flat" cmpd="sng" w="9525">
              <a:solidFill>
                <a:srgbClr val="E2E8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 txBox="1"/>
            <p:nvPr/>
          </p:nvSpPr>
          <p:spPr>
            <a:xfrm>
              <a:off x="133350" y="0"/>
              <a:ext cx="45912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• Auditor Inquirie</a:t>
              </a:r>
              <a:r>
                <a:rPr b="1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r>
                <a:rPr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r>
                <a:rPr b="0" lang="en" sz="13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b="0" lang="en" sz="1300">
                  <a:solidFill>
                    <a:srgbClr val="10212F"/>
                  </a:solidFill>
                  <a:latin typeface="Calibri"/>
                  <a:ea typeface="Calibri"/>
                  <a:cs typeface="Calibri"/>
                  <a:sym typeface="Calibri"/>
                </a:rPr>
                <a:t>answered by manually re-reading reports</a:t>
              </a:r>
              <a:endParaRPr b="1" sz="13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5574150" y="1826298"/>
            <a:ext cx="3048000" cy="1827000"/>
          </a:xfrm>
          <a:prstGeom prst="roundRect">
            <a:avLst>
              <a:gd fmla="val 3125" name="adj"/>
            </a:avLst>
          </a:prstGeom>
          <a:solidFill>
            <a:srgbClr val="0A1A2F"/>
          </a:solidFill>
          <a:ln cap="flat" cmpd="sng" w="9525">
            <a:solidFill>
              <a:srgbClr val="0A1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 txBox="1"/>
          <p:nvPr/>
        </p:nvSpPr>
        <p:spPr>
          <a:xfrm>
            <a:off x="389835" y="4076700"/>
            <a:ext cx="81609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304F"/>
                </a:solidFill>
                <a:latin typeface="Calibri"/>
                <a:ea typeface="Calibri"/>
                <a:cs typeface="Calibri"/>
                <a:sym typeface="Calibri"/>
              </a:rPr>
              <a:t>An organisation without a dedicated GRC team needs weeks to get from “we ran the scanner” to “we have an auditable package.”</a:t>
            </a:r>
            <a:endParaRPr b="1" sz="1500">
              <a:solidFill>
                <a:srgbClr val="1430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5764155" y="1871238"/>
            <a:ext cx="2743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FC1C9"/>
                </a:solidFill>
                <a:latin typeface="Calibri"/>
                <a:ea typeface="Calibri"/>
                <a:cs typeface="Calibri"/>
                <a:sym typeface="Calibri"/>
              </a:rPr>
              <a:t>CISA Binding Operational Directive</a:t>
            </a:r>
            <a:endParaRPr b="1">
              <a:solidFill>
                <a:srgbClr val="3FC1C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764150" y="2166525"/>
            <a:ext cx="2743200" cy="1548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These baselines are not optional best practice.</a:t>
            </a:r>
            <a:endParaRPr b="1" sz="11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0" lang="en" sz="1100">
                <a:solidFill>
                  <a:srgbClr val="D8E3EC"/>
                </a:solidFill>
                <a:latin typeface="Calibri"/>
                <a:ea typeface="Calibri"/>
                <a:cs typeface="Calibri"/>
                <a:sym typeface="Calibri"/>
              </a:rPr>
              <a:t>They are </a:t>
            </a:r>
            <a:r>
              <a:rPr b="1" lang="en" sz="1100">
                <a:solidFill>
                  <a:srgbClr val="FFB700"/>
                </a:solidFill>
                <a:latin typeface="Calibri"/>
                <a:ea typeface="Calibri"/>
                <a:cs typeface="Calibri"/>
                <a:sym typeface="Calibri"/>
              </a:rPr>
              <a:t>legally mandatory</a:t>
            </a:r>
            <a:r>
              <a:rPr b="0" lang="en" sz="1100">
                <a:solidFill>
                  <a:srgbClr val="D8E3EC"/>
                </a:solidFill>
                <a:latin typeface="Calibri"/>
                <a:ea typeface="Calibri"/>
                <a:cs typeface="Calibri"/>
                <a:sym typeface="Calibri"/>
              </a:rPr>
              <a:t> for federal civilian agencies and the de facto standard for universities, school divisions, and local governments running the same Microsoft 365 estate.</a:t>
            </a:r>
            <a:endParaRPr b="0" sz="1100">
              <a:solidFill>
                <a:srgbClr val="D8E3E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OUR GOAL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 txBox="1"/>
          <p:nvPr/>
        </p:nvSpPr>
        <p:spPr>
          <a:xfrm>
            <a:off x="479997" y="411485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From “we ran the scanner” to an auditable package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80060" y="1171125"/>
            <a:ext cx="8160900" cy="1131600"/>
          </a:xfrm>
          <a:prstGeom prst="roundRect">
            <a:avLst>
              <a:gd fmla="val 6061" name="adj"/>
            </a:avLst>
          </a:prstGeom>
          <a:solidFill>
            <a:srgbClr val="FFF6E0"/>
          </a:solidFill>
          <a:ln cap="flat" cmpd="sng" w="12700">
            <a:solidFill>
              <a:srgbClr val="FFE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6"/>
          <p:cNvSpPr txBox="1"/>
          <p:nvPr/>
        </p:nvSpPr>
        <p:spPr>
          <a:xfrm>
            <a:off x="599150" y="1322000"/>
            <a:ext cx="78363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400"/>
              <a:buFont typeface="Cambria"/>
              <a:buNone/>
            </a:pPr>
            <a:r>
              <a:rPr b="1" i="0" lang="en" sz="15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Take any Virginia public body from a ScubaGear run to a validated, auditor-ready OSCAL package in minutes, not weeks.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6"/>
          <p:cNvSpPr txBox="1"/>
          <p:nvPr/>
        </p:nvSpPr>
        <p:spPr>
          <a:xfrm>
            <a:off x="685800" y="1685475"/>
            <a:ext cx="7749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 txBox="1"/>
          <p:nvPr/>
        </p:nvSpPr>
        <p:spPr>
          <a:xfrm>
            <a:off x="685800" y="1729553"/>
            <a:ext cx="7749600" cy="4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Every compliance fact traceable to CISA's or VITA's own published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AI that explains, prioritises and answers questions, but can never invent a fact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 txBox="1"/>
          <p:nvPr/>
        </p:nvSpPr>
        <p:spPr>
          <a:xfrm>
            <a:off x="480060" y="2600000"/>
            <a:ext cx="816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200"/>
              <a:buFont typeface="Calibri"/>
              <a:buNone/>
            </a:pPr>
            <a:r>
              <a:rPr b="1" i="0" lang="en" sz="14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Three success criteria we set before writing code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480060" y="2930000"/>
            <a:ext cx="1577400" cy="582900"/>
          </a:xfrm>
          <a:prstGeom prst="roundRect">
            <a:avLst>
              <a:gd fmla="val 9412" name="adj"/>
            </a:avLst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6"/>
          <p:cNvSpPr txBox="1"/>
          <p:nvPr/>
        </p:nvSpPr>
        <p:spPr>
          <a:xfrm>
            <a:off x="480060" y="3108308"/>
            <a:ext cx="157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Complete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 txBox="1"/>
          <p:nvPr/>
        </p:nvSpPr>
        <p:spPr>
          <a:xfrm>
            <a:off x="2194560" y="2964000"/>
            <a:ext cx="6446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000"/>
              <a:buFont typeface="Calibri"/>
              <a:buNone/>
            </a:pP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All eight OSCAL models, including the three CISA left TODO, passing NIST validation.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6"/>
          <p:cNvSpPr/>
          <p:nvPr/>
        </p:nvSpPr>
        <p:spPr>
          <a:xfrm>
            <a:off x="480060" y="3580000"/>
            <a:ext cx="1577400" cy="582900"/>
          </a:xfrm>
          <a:prstGeom prst="roundRect">
            <a:avLst>
              <a:gd fmla="val 9412" name="adj"/>
            </a:avLst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480060" y="3758308"/>
            <a:ext cx="157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Faithful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2194560" y="3614000"/>
            <a:ext cx="6446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000"/>
              <a:buFont typeface="Calibri"/>
              <a:buNone/>
            </a:pP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Every NIST 800-53 mapping matches CISA's own crosswalk, proven by a CI test, never guessed by a model.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480060" y="4230000"/>
            <a:ext cx="1577400" cy="582900"/>
          </a:xfrm>
          <a:prstGeom prst="roundRect">
            <a:avLst>
              <a:gd fmla="val 9412" name="adj"/>
            </a:avLst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 txBox="1"/>
          <p:nvPr/>
        </p:nvSpPr>
        <p:spPr>
          <a:xfrm>
            <a:off x="480060" y="4408308"/>
            <a:ext cx="1577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2194560" y="4264000"/>
            <a:ext cx="64464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74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000"/>
              <a:buFont typeface="Calibri"/>
              <a:buNone/>
            </a:pP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Agents read only validated documents through tools; every claim cites the exact node it came from.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"/>
          <p:cNvSpPr txBox="1"/>
          <p:nvPr/>
        </p:nvSpPr>
        <p:spPr>
          <a:xfrm>
            <a:off x="479997" y="48385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 txBox="1"/>
          <p:nvPr/>
        </p:nvSpPr>
        <p:spPr>
          <a:xfrm>
            <a:off x="480060" y="26786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Deterministic core</a:t>
            </a:r>
            <a:r>
              <a:rPr b="1" lang="en" sz="2600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 with </a:t>
            </a: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AI on top.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7"/>
          <p:cNvSpPr txBox="1"/>
          <p:nvPr/>
        </p:nvSpPr>
        <p:spPr>
          <a:xfrm>
            <a:off x="697200" y="4431161"/>
            <a:ext cx="7749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8148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000"/>
              <a:buFont typeface="Calibri"/>
              <a:buNone/>
            </a:pPr>
            <a:r>
              <a:rPr b="1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How do you know the model didn't invent that number?</a:t>
            </a: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 It couldn't have. Every figure comes from a pure function over a document that passed the NIST validator, and that function has tests.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p7" title="ChatGPT Image Sep 25, 2026, 09_01_35 PM.png"/>
          <p:cNvPicPr preferRelativeResize="0"/>
          <p:nvPr/>
        </p:nvPicPr>
        <p:blipFill rotWithShape="1">
          <a:blip r:embed="rId3">
            <a:alphaModFix/>
          </a:blip>
          <a:srcRect b="11599" l="2531" r="1958" t="14382"/>
          <a:stretch/>
        </p:blipFill>
        <p:spPr>
          <a:xfrm>
            <a:off x="697200" y="835926"/>
            <a:ext cx="7749599" cy="3380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8"/>
          <p:cNvSpPr txBox="1"/>
          <p:nvPr/>
        </p:nvSpPr>
        <p:spPr>
          <a:xfrm>
            <a:off x="457200" y="76200"/>
            <a:ext cx="82296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D9488"/>
                </a:solidFill>
                <a:latin typeface="Calibri"/>
                <a:ea typeface="Calibri"/>
                <a:cs typeface="Calibri"/>
                <a:sym typeface="Calibri"/>
              </a:rPr>
              <a:t>RESULT #1 · PERFORMANCE</a:t>
            </a:r>
            <a:endParaRPr b="1" sz="1600">
              <a:solidFill>
                <a:srgbClr val="0D94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 txBox="1"/>
          <p:nvPr/>
        </p:nvSpPr>
        <p:spPr>
          <a:xfrm>
            <a:off x="457200" y="323975"/>
            <a:ext cx="8229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The complete OSCAL chain: eight documents, all valid</a:t>
            </a:r>
            <a:endParaRPr b="1" sz="2200">
              <a:solidFill>
                <a:srgbClr val="0F17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93" name="Google Shape;93;p8"/>
          <p:cNvGrpSpPr/>
          <p:nvPr/>
        </p:nvGrpSpPr>
        <p:grpSpPr>
          <a:xfrm>
            <a:off x="457200" y="876300"/>
            <a:ext cx="8229600" cy="333300"/>
            <a:chOff x="0" y="19050"/>
            <a:chExt cx="8229600" cy="333300"/>
          </a:xfrm>
        </p:grpSpPr>
        <p:sp>
          <p:nvSpPr>
            <p:cNvPr id="94" name="Google Shape;94;p8"/>
            <p:cNvSpPr/>
            <p:nvPr/>
          </p:nvSpPr>
          <p:spPr>
            <a:xfrm>
              <a:off x="0" y="19050"/>
              <a:ext cx="8229600" cy="333300"/>
            </a:xfrm>
            <a:prstGeom prst="roundRect">
              <a:avLst>
                <a:gd fmla="val 1714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8"/>
            <p:cNvSpPr/>
            <p:nvPr/>
          </p:nvSpPr>
          <p:spPr>
            <a:xfrm>
              <a:off x="95250" y="90488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8"/>
            <p:cNvSpPr txBox="1"/>
            <p:nvPr/>
          </p:nvSpPr>
          <p:spPr>
            <a:xfrm>
              <a:off x="95250" y="90488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8"/>
            <p:cNvSpPr txBox="1"/>
            <p:nvPr/>
          </p:nvSpPr>
          <p:spPr>
            <a:xfrm>
              <a:off x="400050" y="66675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catalog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98" name="Google Shape;98;p8"/>
            <p:cNvSpPr txBox="1"/>
            <p:nvPr/>
          </p:nvSpPr>
          <p:spPr>
            <a:xfrm>
              <a:off x="2571750" y="66675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127 SCuBA policies, rationale, guidance, MITRE ATT&amp;CK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8"/>
          <p:cNvGrpSpPr/>
          <p:nvPr/>
        </p:nvGrpSpPr>
        <p:grpSpPr>
          <a:xfrm>
            <a:off x="457200" y="1219200"/>
            <a:ext cx="8229600" cy="333300"/>
            <a:chOff x="0" y="-9525"/>
            <a:chExt cx="8229600" cy="333300"/>
          </a:xfrm>
        </p:grpSpPr>
        <p:sp>
          <p:nvSpPr>
            <p:cNvPr id="100" name="Google Shape;100;p8"/>
            <p:cNvSpPr/>
            <p:nvPr/>
          </p:nvSpPr>
          <p:spPr>
            <a:xfrm>
              <a:off x="0" y="-9525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8"/>
            <p:cNvSpPr/>
            <p:nvPr/>
          </p:nvSpPr>
          <p:spPr>
            <a:xfrm>
              <a:off x="95250" y="61913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8"/>
            <p:cNvSpPr txBox="1"/>
            <p:nvPr/>
          </p:nvSpPr>
          <p:spPr>
            <a:xfrm>
              <a:off x="95250" y="61913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8"/>
            <p:cNvSpPr txBox="1"/>
            <p:nvPr/>
          </p:nvSpPr>
          <p:spPr>
            <a:xfrm>
              <a:off x="400050" y="38100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profile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04" name="Google Shape;104;p8"/>
            <p:cNvSpPr txBox="1"/>
            <p:nvPr/>
          </p:nvSpPr>
          <p:spPr>
            <a:xfrm>
              <a:off x="2571750" y="38100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controls this assessment covered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8"/>
          <p:cNvGrpSpPr/>
          <p:nvPr/>
        </p:nvGrpSpPr>
        <p:grpSpPr>
          <a:xfrm>
            <a:off x="457200" y="1562100"/>
            <a:ext cx="8229600" cy="333300"/>
            <a:chOff x="0" y="-38100"/>
            <a:chExt cx="8229600" cy="333300"/>
          </a:xfrm>
        </p:grpSpPr>
        <p:sp>
          <p:nvSpPr>
            <p:cNvPr id="106" name="Google Shape;106;p8"/>
            <p:cNvSpPr/>
            <p:nvPr/>
          </p:nvSpPr>
          <p:spPr>
            <a:xfrm>
              <a:off x="0" y="-38100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8"/>
            <p:cNvSpPr/>
            <p:nvPr/>
          </p:nvSpPr>
          <p:spPr>
            <a:xfrm>
              <a:off x="95250" y="33338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8"/>
            <p:cNvSpPr txBox="1"/>
            <p:nvPr/>
          </p:nvSpPr>
          <p:spPr>
            <a:xfrm>
              <a:off x="95250" y="33338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8"/>
            <p:cNvSpPr txBox="1"/>
            <p:nvPr/>
          </p:nvSpPr>
          <p:spPr>
            <a:xfrm>
              <a:off x="400050" y="9525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component-definition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0" name="Google Shape;110;p8"/>
            <p:cNvSpPr txBox="1"/>
            <p:nvPr/>
          </p:nvSpPr>
          <p:spPr>
            <a:xfrm>
              <a:off x="2571750" y="9525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M365 services under assessment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8"/>
            <p:cNvSpPr/>
            <p:nvPr/>
          </p:nvSpPr>
          <p:spPr>
            <a:xfrm>
              <a:off x="7200900" y="23813"/>
              <a:ext cx="895500" cy="209700"/>
            </a:xfrm>
            <a:prstGeom prst="roundRect">
              <a:avLst>
                <a:gd fmla="val 18180" name="adj"/>
              </a:avLst>
            </a:prstGeom>
            <a:solidFill>
              <a:srgbClr val="FEF3C7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8"/>
            <p:cNvSpPr txBox="1"/>
            <p:nvPr/>
          </p:nvSpPr>
          <p:spPr>
            <a:xfrm>
              <a:off x="7200900" y="23813"/>
              <a:ext cx="8955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CISA TODO</a:t>
              </a:r>
              <a:endParaRPr b="1" sz="7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8"/>
          <p:cNvGrpSpPr/>
          <p:nvPr/>
        </p:nvGrpSpPr>
        <p:grpSpPr>
          <a:xfrm>
            <a:off x="457200" y="1905000"/>
            <a:ext cx="8229600" cy="333300"/>
            <a:chOff x="0" y="-66675"/>
            <a:chExt cx="8229600" cy="333300"/>
          </a:xfrm>
        </p:grpSpPr>
        <p:sp>
          <p:nvSpPr>
            <p:cNvPr id="114" name="Google Shape;114;p8"/>
            <p:cNvSpPr/>
            <p:nvPr/>
          </p:nvSpPr>
          <p:spPr>
            <a:xfrm>
              <a:off x="0" y="-66675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95250" y="4763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8"/>
            <p:cNvSpPr txBox="1"/>
            <p:nvPr/>
          </p:nvSpPr>
          <p:spPr>
            <a:xfrm>
              <a:off x="95250" y="4763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8"/>
            <p:cNvSpPr txBox="1"/>
            <p:nvPr/>
          </p:nvSpPr>
          <p:spPr>
            <a:xfrm>
              <a:off x="400050" y="-19050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system-security-plan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8" name="Google Shape;118;p8"/>
            <p:cNvSpPr txBox="1"/>
            <p:nvPr/>
          </p:nvSpPr>
          <p:spPr>
            <a:xfrm>
              <a:off x="2571750" y="-19050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tenant and its in-scope controls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8"/>
            <p:cNvSpPr/>
            <p:nvPr/>
          </p:nvSpPr>
          <p:spPr>
            <a:xfrm>
              <a:off x="7200900" y="-4762"/>
              <a:ext cx="895500" cy="209700"/>
            </a:xfrm>
            <a:prstGeom prst="roundRect">
              <a:avLst>
                <a:gd fmla="val 18180" name="adj"/>
              </a:avLst>
            </a:prstGeom>
            <a:solidFill>
              <a:srgbClr val="FEF3C7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8"/>
            <p:cNvSpPr txBox="1"/>
            <p:nvPr/>
          </p:nvSpPr>
          <p:spPr>
            <a:xfrm>
              <a:off x="7200900" y="-4762"/>
              <a:ext cx="8955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CISA TODO</a:t>
              </a:r>
              <a:endParaRPr b="1" sz="7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1" name="Google Shape;121;p8"/>
          <p:cNvGrpSpPr/>
          <p:nvPr/>
        </p:nvGrpSpPr>
        <p:grpSpPr>
          <a:xfrm>
            <a:off x="457200" y="2247900"/>
            <a:ext cx="8229600" cy="333300"/>
            <a:chOff x="0" y="-95250"/>
            <a:chExt cx="8229600" cy="333300"/>
          </a:xfrm>
        </p:grpSpPr>
        <p:sp>
          <p:nvSpPr>
            <p:cNvPr id="122" name="Google Shape;122;p8"/>
            <p:cNvSpPr/>
            <p:nvPr/>
          </p:nvSpPr>
          <p:spPr>
            <a:xfrm>
              <a:off x="0" y="-95250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95250" y="-23812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8"/>
            <p:cNvSpPr txBox="1"/>
            <p:nvPr/>
          </p:nvSpPr>
          <p:spPr>
            <a:xfrm>
              <a:off x="95250" y="-23812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8"/>
            <p:cNvSpPr txBox="1"/>
            <p:nvPr/>
          </p:nvSpPr>
          <p:spPr>
            <a:xfrm>
              <a:off x="400050" y="-47625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assessment-plan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26" name="Google Shape;126;p8"/>
            <p:cNvSpPr txBox="1"/>
            <p:nvPr/>
          </p:nvSpPr>
          <p:spPr>
            <a:xfrm>
              <a:off x="2571750" y="-47625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procedure ScubaGear performs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8"/>
          <p:cNvGrpSpPr/>
          <p:nvPr/>
        </p:nvGrpSpPr>
        <p:grpSpPr>
          <a:xfrm>
            <a:off x="457200" y="2590800"/>
            <a:ext cx="8229600" cy="333300"/>
            <a:chOff x="0" y="-123825"/>
            <a:chExt cx="8229600" cy="333300"/>
          </a:xfrm>
        </p:grpSpPr>
        <p:sp>
          <p:nvSpPr>
            <p:cNvPr id="128" name="Google Shape;128;p8"/>
            <p:cNvSpPr/>
            <p:nvPr/>
          </p:nvSpPr>
          <p:spPr>
            <a:xfrm>
              <a:off x="0" y="-123825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95250" y="-52387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 txBox="1"/>
            <p:nvPr/>
          </p:nvSpPr>
          <p:spPr>
            <a:xfrm>
              <a:off x="95250" y="-52387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400050" y="-76200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assessment-results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2" name="Google Shape;132;p8"/>
            <p:cNvSpPr txBox="1"/>
            <p:nvPr/>
          </p:nvSpPr>
          <p:spPr>
            <a:xfrm>
              <a:off x="2571750" y="-76200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92 observations · 83 findings · 26 risks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8"/>
          <p:cNvGrpSpPr/>
          <p:nvPr/>
        </p:nvGrpSpPr>
        <p:grpSpPr>
          <a:xfrm>
            <a:off x="457200" y="2933700"/>
            <a:ext cx="8229600" cy="333300"/>
            <a:chOff x="0" y="-152400"/>
            <a:chExt cx="8229600" cy="333300"/>
          </a:xfrm>
        </p:grpSpPr>
        <p:sp>
          <p:nvSpPr>
            <p:cNvPr id="134" name="Google Shape;134;p8"/>
            <p:cNvSpPr/>
            <p:nvPr/>
          </p:nvSpPr>
          <p:spPr>
            <a:xfrm>
              <a:off x="0" y="-152400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8"/>
            <p:cNvSpPr/>
            <p:nvPr/>
          </p:nvSpPr>
          <p:spPr>
            <a:xfrm>
              <a:off x="95250" y="-80962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 txBox="1"/>
            <p:nvPr/>
          </p:nvSpPr>
          <p:spPr>
            <a:xfrm>
              <a:off x="95250" y="-80962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8"/>
            <p:cNvSpPr txBox="1"/>
            <p:nvPr/>
          </p:nvSpPr>
          <p:spPr>
            <a:xfrm>
              <a:off x="400050" y="-104775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plan-of-action-and-milestones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8" name="Google Shape;138;p8"/>
            <p:cNvSpPr txBox="1"/>
            <p:nvPr/>
          </p:nvSpPr>
          <p:spPr>
            <a:xfrm>
              <a:off x="2571750" y="-104775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26 prioritised items with deadlines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7200900" y="-90487"/>
              <a:ext cx="895500" cy="209700"/>
            </a:xfrm>
            <a:prstGeom prst="roundRect">
              <a:avLst>
                <a:gd fmla="val 18180" name="adj"/>
              </a:avLst>
            </a:prstGeom>
            <a:solidFill>
              <a:srgbClr val="FEF3C7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8"/>
            <p:cNvSpPr txBox="1"/>
            <p:nvPr/>
          </p:nvSpPr>
          <p:spPr>
            <a:xfrm>
              <a:off x="7200900" y="-90487"/>
              <a:ext cx="895500" cy="209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CISA TODO</a:t>
              </a:r>
              <a:endParaRPr b="1" sz="7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1" name="Google Shape;141;p8"/>
          <p:cNvGrpSpPr/>
          <p:nvPr/>
        </p:nvGrpSpPr>
        <p:grpSpPr>
          <a:xfrm>
            <a:off x="457200" y="3276600"/>
            <a:ext cx="8229600" cy="333300"/>
            <a:chOff x="0" y="-180975"/>
            <a:chExt cx="8229600" cy="333300"/>
          </a:xfrm>
        </p:grpSpPr>
        <p:sp>
          <p:nvSpPr>
            <p:cNvPr id="142" name="Google Shape;142;p8"/>
            <p:cNvSpPr/>
            <p:nvPr/>
          </p:nvSpPr>
          <p:spPr>
            <a:xfrm>
              <a:off x="0" y="-180975"/>
              <a:ext cx="8229600" cy="333300"/>
            </a:xfrm>
            <a:prstGeom prst="roundRect">
              <a:avLst>
                <a:gd fmla="val 17141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8"/>
            <p:cNvSpPr/>
            <p:nvPr/>
          </p:nvSpPr>
          <p:spPr>
            <a:xfrm>
              <a:off x="95250" y="-109537"/>
              <a:ext cx="190500" cy="190500"/>
            </a:xfrm>
            <a:prstGeom prst="ellipse">
              <a:avLst/>
            </a:prstGeom>
            <a:solidFill>
              <a:srgbClr val="DCFCE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8"/>
            <p:cNvSpPr txBox="1"/>
            <p:nvPr/>
          </p:nvSpPr>
          <p:spPr>
            <a:xfrm>
              <a:off x="95250" y="-109537"/>
              <a:ext cx="1905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16A34A"/>
                  </a:solidFill>
                  <a:latin typeface="Calibri"/>
                  <a:ea typeface="Calibri"/>
                  <a:cs typeface="Calibri"/>
                  <a:sym typeface="Calibri"/>
                </a:rPr>
                <a:t>✓</a:t>
              </a:r>
              <a:endParaRPr b="1" sz="1000">
                <a:solidFill>
                  <a:srgbClr val="16A34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8"/>
            <p:cNvSpPr txBox="1"/>
            <p:nvPr/>
          </p:nvSpPr>
          <p:spPr>
            <a:xfrm>
              <a:off x="400050" y="-133350"/>
              <a:ext cx="20955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rgbClr val="0F172A"/>
                  </a:solidFill>
                  <a:latin typeface="Consolas"/>
                  <a:ea typeface="Consolas"/>
                  <a:cs typeface="Consolas"/>
                  <a:sym typeface="Consolas"/>
                </a:rPr>
                <a:t>mapping-collection</a:t>
              </a:r>
              <a:endParaRPr b="1" sz="1000">
                <a:solidFill>
                  <a:srgbClr val="0F172A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6" name="Google Shape;146;p8"/>
            <p:cNvSpPr txBox="1"/>
            <p:nvPr/>
          </p:nvSpPr>
          <p:spPr>
            <a:xfrm>
              <a:off x="2571750" y="-133350"/>
              <a:ext cx="4476900" cy="238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10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SCuBA → NIST 800-53, with provenance</a:t>
              </a:r>
              <a:endParaRPr b="0" sz="10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8"/>
          <p:cNvGrpSpPr/>
          <p:nvPr/>
        </p:nvGrpSpPr>
        <p:grpSpPr>
          <a:xfrm>
            <a:off x="408300" y="4047901"/>
            <a:ext cx="8401599" cy="899025"/>
            <a:chOff x="0" y="38100"/>
            <a:chExt cx="8229600" cy="1009800"/>
          </a:xfrm>
        </p:grpSpPr>
        <p:sp>
          <p:nvSpPr>
            <p:cNvPr id="148" name="Google Shape;148;p8"/>
            <p:cNvSpPr/>
            <p:nvPr/>
          </p:nvSpPr>
          <p:spPr>
            <a:xfrm>
              <a:off x="0" y="38100"/>
              <a:ext cx="8229600" cy="1009800"/>
            </a:xfrm>
            <a:prstGeom prst="roundRect">
              <a:avLst>
                <a:gd fmla="val 7546" name="adj"/>
              </a:avLst>
            </a:prstGeom>
            <a:solidFill>
              <a:srgbClr val="F0FDF4"/>
            </a:solidFill>
            <a:ln cap="flat" cmpd="sng" w="9525">
              <a:solidFill>
                <a:srgbClr val="BBF7D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171450" y="209550"/>
              <a:ext cx="914400" cy="666900"/>
            </a:xfrm>
            <a:prstGeom prst="roundRect">
              <a:avLst>
                <a:gd fmla="val 8570" name="adj"/>
              </a:avLst>
            </a:prstGeom>
            <a:solidFill>
              <a:srgbClr val="16A34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8"/>
            <p:cNvSpPr txBox="1"/>
            <p:nvPr/>
          </p:nvSpPr>
          <p:spPr>
            <a:xfrm>
              <a:off x="171450" y="209550"/>
              <a:ext cx="914400" cy="666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" sz="20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8/8</a:t>
              </a:r>
              <a:endParaRPr b="0" sz="2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Valid</a:t>
              </a:r>
              <a:endParaRPr b="0"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p8"/>
            <p:cNvSpPr txBox="1"/>
            <p:nvPr/>
          </p:nvSpPr>
          <p:spPr>
            <a:xfrm>
              <a:off x="1257300" y="152400"/>
              <a:ext cx="6801000" cy="781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50">
                  <a:solidFill>
                    <a:srgbClr val="166534"/>
                  </a:solidFill>
                  <a:latin typeface="Calibri"/>
                  <a:ea typeface="Calibri"/>
                  <a:cs typeface="Calibri"/>
                  <a:sym typeface="Calibri"/>
                </a:rPr>
                <a:t>NIST JSON Schema &amp; Metaschema Validation</a:t>
              </a:r>
              <a:endParaRPr b="1" sz="145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225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Calibri"/>
                <a:buChar char="●"/>
              </a:pPr>
              <a:r>
                <a:rPr b="0" lang="en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8/8 pass NIST JSON Schema</a:t>
              </a:r>
              <a:endPara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14325" lvl="0" marL="45720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50"/>
                <a:buFont typeface="Calibri"/>
                <a:buChar char="●"/>
              </a:pPr>
              <a:r>
                <a:rPr b="0" lang="en" sz="13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7/8 also pass NIST's own oscal-cli 3.2.0 with full Metaschema constraints.</a:t>
              </a:r>
              <a:endParaRPr b="1"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"/>
                </a:spcBef>
                <a:spcAft>
                  <a:spcPts val="225"/>
                </a:spcAft>
                <a:buNone/>
              </a:pPr>
              <a:r>
                <a:t/>
              </a:r>
              <a:endParaRPr b="1" sz="1250">
                <a:solidFill>
                  <a:srgbClr val="16653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p8"/>
          <p:cNvGrpSpPr/>
          <p:nvPr/>
        </p:nvGrpSpPr>
        <p:grpSpPr>
          <a:xfrm>
            <a:off x="457200" y="3724275"/>
            <a:ext cx="8229600" cy="190650"/>
            <a:chOff x="0" y="-57150"/>
            <a:chExt cx="8229600" cy="190650"/>
          </a:xfrm>
        </p:grpSpPr>
        <p:sp>
          <p:nvSpPr>
            <p:cNvPr id="153" name="Google Shape;153;p8"/>
            <p:cNvSpPr/>
            <p:nvPr/>
          </p:nvSpPr>
          <p:spPr>
            <a:xfrm>
              <a:off x="0" y="0"/>
              <a:ext cx="8229600" cy="1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8"/>
            <p:cNvSpPr txBox="1"/>
            <p:nvPr/>
          </p:nvSpPr>
          <p:spPr>
            <a:xfrm>
              <a:off x="0" y="-57150"/>
              <a:ext cx="8229600" cy="133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CISA TODO = </a:t>
              </a:r>
              <a:r>
                <a:rPr b="1" lang="en" sz="12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r>
                <a:rPr b="1" lang="en" sz="12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model CISA marked unfinished in their own abandoned oscal-exploration branch. We completed all three.</a:t>
              </a:r>
              <a:endParaRPr b="1" sz="12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9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RESULT #2  ·  INNOVATION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 txBox="1"/>
          <p:nvPr/>
        </p:nvSpPr>
        <p:spPr>
          <a:xfrm>
            <a:off x="480060" y="30861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Mappings provably faithful to CISA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 txBox="1"/>
          <p:nvPr/>
        </p:nvSpPr>
        <p:spPr>
          <a:xfrm>
            <a:off x="480060" y="891535"/>
            <a:ext cx="8160900" cy="44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CISA already publishes the authoritative SCuBA </a:t>
            </a:r>
            <a:r>
              <a:rPr lang="en" sz="13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→ </a:t>
            </a: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NIST 800-53 crosswalk. </a:t>
            </a:r>
            <a:endParaRPr b="0" i="0" sz="1300" u="none" cap="none" strike="noStrike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4827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1100"/>
              <a:buFont typeface="Calibri"/>
              <a:buNone/>
            </a:pP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Asking a model to guess what CISA has already stated is not innovation</a:t>
            </a:r>
            <a:r>
              <a:rPr lang="en" sz="13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b="0" i="0" lang="en" sz="13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 it is a correctness regression.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480060" y="1577340"/>
            <a:ext cx="1885800" cy="1131600"/>
          </a:xfrm>
          <a:prstGeom prst="roundRect">
            <a:avLst>
              <a:gd fmla="val 6061" name="adj"/>
            </a:avLst>
          </a:prstGeom>
          <a:solidFill>
            <a:srgbClr val="F4F7F9"/>
          </a:solidFill>
          <a:ln cap="flat" cmpd="sng" w="12700">
            <a:solidFill>
              <a:srgbClr val="F4F7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480060" y="1700784"/>
            <a:ext cx="1885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 txBox="1"/>
          <p:nvPr/>
        </p:nvSpPr>
        <p:spPr>
          <a:xfrm>
            <a:off x="562356" y="2263140"/>
            <a:ext cx="172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 crosswalk entries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2503170" y="1577340"/>
            <a:ext cx="1885800" cy="1131600"/>
          </a:xfrm>
          <a:prstGeom prst="roundRect">
            <a:avLst>
              <a:gd fmla="val 6061" name="adj"/>
            </a:avLst>
          </a:prstGeom>
          <a:solidFill>
            <a:srgbClr val="F4F7F9"/>
          </a:solidFill>
          <a:ln cap="flat" cmpd="sng" w="12700">
            <a:solidFill>
              <a:srgbClr val="F4F7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"/>
          <p:cNvSpPr txBox="1"/>
          <p:nvPr/>
        </p:nvSpPr>
        <p:spPr>
          <a:xfrm>
            <a:off x="2503170" y="1700784"/>
            <a:ext cx="1885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+18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 txBox="1"/>
          <p:nvPr/>
        </p:nvSpPr>
        <p:spPr>
          <a:xfrm>
            <a:off x="2585466" y="2263140"/>
            <a:ext cx="172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resolved via CISA's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migration table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4526280" y="1577340"/>
            <a:ext cx="1885800" cy="1131600"/>
          </a:xfrm>
          <a:prstGeom prst="roundRect">
            <a:avLst>
              <a:gd fmla="val 6061" name="adj"/>
            </a:avLst>
          </a:prstGeom>
          <a:solidFill>
            <a:srgbClr val="E8F6EF"/>
          </a:solidFill>
          <a:ln cap="flat" cmpd="sng" w="12700">
            <a:solidFill>
              <a:srgbClr val="E8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4526280" y="1700784"/>
            <a:ext cx="18858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89/92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4608576" y="2263140"/>
            <a:ext cx="17214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eterministic</a:t>
            </a: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97%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zero AI guessing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6549390" y="1577340"/>
            <a:ext cx="2091600" cy="1131600"/>
          </a:xfrm>
          <a:prstGeom prst="roundRect">
            <a:avLst>
              <a:gd fmla="val 6061" name="adj"/>
            </a:avLst>
          </a:prstGeom>
          <a:solidFill>
            <a:srgbClr val="FFF6E0"/>
          </a:solidFill>
          <a:ln cap="flat" cmpd="sng" w="12700">
            <a:solidFill>
              <a:srgbClr val="FFF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549390" y="1700784"/>
            <a:ext cx="20916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6631686" y="2263140"/>
            <a:ext cx="19272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reported as unmapped: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never inferred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80050" y="2948950"/>
            <a:ext cx="8160900" cy="1347900"/>
          </a:xfrm>
          <a:prstGeom prst="roundRect">
            <a:avLst>
              <a:gd fmla="val 6667" name="adj"/>
            </a:avLst>
          </a:prstGeom>
          <a:solidFill>
            <a:srgbClr val="EA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685790" y="2996578"/>
            <a:ext cx="7749600" cy="31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u="none" strike="noStrike">
                <a:solidFill>
                  <a:srgbClr val="1A7F37"/>
                </a:solidFill>
                <a:latin typeface="Calibri"/>
                <a:ea typeface="Calibri"/>
                <a:cs typeface="Calibri"/>
                <a:sym typeface="Calibri"/>
              </a:rPr>
              <a:t>The CI test that proves it</a:t>
            </a:r>
            <a:endParaRPr b="1" i="0" u="none" strike="noStrike">
              <a:solidFill>
                <a:srgbClr val="1A7F3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661341" y="3367943"/>
            <a:ext cx="7749600" cy="494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●"/>
            </a:pPr>
            <a:r>
              <a:rPr b="0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Our build fails if any emitted mapping diverges from CISA's CSV</a:t>
            </a:r>
            <a:endParaRPr sz="13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●"/>
            </a:pPr>
            <a:r>
              <a:rPr b="0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read independently of our own parser, so a parser bug cannot make the test agree with itself. It also pins a case published third-party tooling gets wrong:</a:t>
            </a:r>
            <a:endParaRPr b="0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 txBox="1"/>
          <p:nvPr/>
        </p:nvSpPr>
        <p:spPr>
          <a:xfrm>
            <a:off x="685790" y="3919316"/>
            <a:ext cx="7749600" cy="28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A7F37"/>
                </a:solidFill>
                <a:latin typeface="Courier New"/>
                <a:ea typeface="Courier New"/>
                <a:cs typeface="Courier New"/>
                <a:sym typeface="Courier New"/>
              </a:rPr>
              <a:t>MS.AAD.1.1v1 → CM-7 (least functionality)</a:t>
            </a:r>
            <a:r>
              <a:rPr b="1" i="0" lang="en" sz="1300" u="none" strike="noStrike">
                <a:solidFill>
                  <a:srgbClr val="CF222E"/>
                </a:solidFill>
                <a:latin typeface="Courier New"/>
                <a:ea typeface="Courier New"/>
                <a:cs typeface="Courier New"/>
                <a:sym typeface="Courier New"/>
              </a:rPr>
              <a:t> not IA-2(1) (an MFA control)</a:t>
            </a:r>
            <a:endParaRPr b="1" i="0" sz="1300" u="none" strike="noStrike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9" name="Google Shape;179;p9"/>
          <p:cNvSpPr txBox="1"/>
          <p:nvPr/>
        </p:nvSpPr>
        <p:spPr>
          <a:xfrm>
            <a:off x="528960" y="4546850"/>
            <a:ext cx="8160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4000"/>
              </a:lnSpc>
              <a:spcBef>
                <a:spcPts val="0"/>
              </a:spcBef>
              <a:spcAft>
                <a:spcPts val="0"/>
              </a:spcAft>
              <a:buClr>
                <a:srgbClr val="5A6B7B"/>
              </a:buClr>
              <a:buSzPts val="900"/>
              <a:buFont typeface="Calibri"/>
              <a:buNone/>
            </a:pPr>
            <a:r>
              <a:rPr b="0" i="1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Emitted as an OSCAL 1.2 mapping-collection</a:t>
            </a:r>
            <a:r>
              <a:rPr i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1" lang="en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provenance, confidence-score and matching-rationale are native fields, so the distinction lives in the standard rather than a convention we invented.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"/>
          <p:cNvSpPr txBox="1"/>
          <p:nvPr/>
        </p:nvSpPr>
        <p:spPr>
          <a:xfrm>
            <a:off x="405250" y="0"/>
            <a:ext cx="82683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3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RESULT #3 · INNOVATION</a:t>
            </a:r>
            <a:endParaRPr b="1" sz="1603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 txBox="1"/>
          <p:nvPr/>
        </p:nvSpPr>
        <p:spPr>
          <a:xfrm>
            <a:off x="350450" y="205825"/>
            <a:ext cx="8317200" cy="362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20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Drift that survives a baseline version change</a:t>
            </a:r>
            <a:endParaRPr b="1" sz="2220">
              <a:solidFill>
                <a:srgbClr val="1021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7" name="Google Shape;187;p10"/>
          <p:cNvSpPr txBox="1"/>
          <p:nvPr/>
        </p:nvSpPr>
        <p:spPr>
          <a:xfrm>
            <a:off x="350450" y="631500"/>
            <a:ext cx="85653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Calibri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SCuBA policy IDs are versioned, and CISA revises them. B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Between two runs, </a:t>
            </a:r>
            <a:r>
              <a:rPr b="1"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MS.DEFENDER.*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became </a:t>
            </a:r>
            <a:r>
              <a:rPr b="1" lang="en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MS.SECURITYSUITE.*</a:t>
            </a:r>
            <a:r>
              <a:rPr lang="en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A tool matching on identifier reports each renumbered policy twice, once vanished, once new.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5817875" y="1450347"/>
            <a:ext cx="3143400" cy="1105200"/>
          </a:xfrm>
          <a:prstGeom prst="roundRect">
            <a:avLst>
              <a:gd fmla="val 6349" name="adj"/>
            </a:avLst>
          </a:prstGeom>
          <a:solidFill>
            <a:srgbClr val="FDECEC"/>
          </a:solidFill>
          <a:ln cap="flat" cmpd="sng" w="12675">
            <a:solidFill>
              <a:srgbClr val="F7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 txBox="1"/>
          <p:nvPr/>
        </p:nvSpPr>
        <p:spPr>
          <a:xfrm>
            <a:off x="5913125" y="1450347"/>
            <a:ext cx="29529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945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sz="2945">
              <a:solidFill>
                <a:srgbClr val="E5484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/>
        </p:nvSpPr>
        <p:spPr>
          <a:xfrm>
            <a:off x="5913125" y="1945647"/>
            <a:ext cx="2952900" cy="495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8A2A2A"/>
                </a:solidFill>
                <a:latin typeface="Calibri"/>
                <a:ea typeface="Calibri"/>
                <a:cs typeface="Calibri"/>
                <a:sym typeface="Calibri"/>
              </a:rPr>
              <a:t>fabricated events from a single baseline renumbering</a:t>
            </a:r>
            <a:endParaRPr b="1">
              <a:solidFill>
                <a:srgbClr val="8A2A2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5817875" y="2669547"/>
            <a:ext cx="3143400" cy="1390800"/>
          </a:xfrm>
          <a:prstGeom prst="roundRect">
            <a:avLst>
              <a:gd fmla="val 5479" name="adj"/>
            </a:avLst>
          </a:prstGeom>
          <a:solidFill>
            <a:srgbClr val="FFFFFF"/>
          </a:solidFill>
          <a:ln cap="flat" cmpd="sng" w="12675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 txBox="1"/>
          <p:nvPr/>
        </p:nvSpPr>
        <p:spPr>
          <a:xfrm>
            <a:off x="5970275" y="2764797"/>
            <a:ext cx="2838600" cy="209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What actually changed</a:t>
            </a:r>
            <a:endParaRPr b="1" sz="110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5970275" y="3012447"/>
            <a:ext cx="2838600" cy="95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✓ </a:t>
            </a:r>
            <a:r>
              <a:rPr b="0" lang="en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3 genuine improvements</a:t>
            </a:r>
            <a:endParaRPr b="1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✕ </a:t>
            </a:r>
            <a:r>
              <a:rPr b="0" lang="en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 genuine regression</a:t>
            </a:r>
            <a:endParaRPr b="1">
              <a:solidFill>
                <a:srgbClr val="E5484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⟳ </a:t>
            </a:r>
            <a:r>
              <a:rPr b="0" lang="en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13 renumberings, correctly absorbed</a:t>
            </a:r>
            <a:endParaRPr b="1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"/>
          <p:cNvSpPr/>
          <p:nvPr/>
        </p:nvSpPr>
        <p:spPr>
          <a:xfrm>
            <a:off x="350450" y="4275025"/>
            <a:ext cx="8565300" cy="762000"/>
          </a:xfrm>
          <a:prstGeom prst="roundRect">
            <a:avLst>
              <a:gd fmla="val 10000" name="adj"/>
            </a:avLst>
          </a:prstGeom>
          <a:solidFill>
            <a:srgbClr val="F4F7F9"/>
          </a:solidFill>
          <a:ln cap="flat" cmpd="sng" w="12675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"/>
          <p:cNvSpPr txBox="1"/>
          <p:nvPr/>
        </p:nvSpPr>
        <p:spPr>
          <a:xfrm>
            <a:off x="464525" y="4351225"/>
            <a:ext cx="7980000" cy="60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 on Compliance Metrics:</a:t>
            </a:r>
            <a:endParaRPr b="1" i="0" sz="115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rPr b="0" i="0" lang="en" sz="115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corrupts exactly the numbers a compliance report is built onhow many findings opened, how many closed, whether posture improved. CISA publishes the fix themselves: we consume it.</a:t>
            </a:r>
            <a:endParaRPr b="1" i="0" sz="115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7475" y="1338563"/>
            <a:ext cx="5523498" cy="283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/>
          <p:nvPr/>
        </p:nvSpPr>
        <p:spPr>
          <a:xfrm>
            <a:off x="480060" y="190500"/>
            <a:ext cx="8160900" cy="190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RESULT #4 · INNOVATION</a:t>
            </a:r>
            <a:endParaRPr b="1" sz="1600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 txBox="1"/>
          <p:nvPr/>
        </p:nvSpPr>
        <p:spPr>
          <a:xfrm>
            <a:off x="480060" y="400050"/>
            <a:ext cx="81609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F172A"/>
                </a:solidFill>
                <a:latin typeface="Cambria"/>
                <a:ea typeface="Cambria"/>
                <a:cs typeface="Cambria"/>
                <a:sym typeface="Cambria"/>
              </a:rPr>
              <a:t>Two questions the compliance number hides</a:t>
            </a:r>
            <a:endParaRPr b="1" sz="2200">
              <a:solidFill>
                <a:srgbClr val="0F172A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204" name="Google Shape;204;p11"/>
          <p:cNvGrpSpPr/>
          <p:nvPr/>
        </p:nvGrpSpPr>
        <p:grpSpPr>
          <a:xfrm>
            <a:off x="480060" y="904875"/>
            <a:ext cx="3952800" cy="3429000"/>
            <a:chOff x="0" y="0"/>
            <a:chExt cx="3952800" cy="3429000"/>
          </a:xfrm>
        </p:grpSpPr>
        <p:sp>
          <p:nvSpPr>
            <p:cNvPr id="205" name="Google Shape;205;p11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11"/>
            <p:cNvSpPr txBox="1"/>
            <p:nvPr/>
          </p:nvSpPr>
          <p:spPr>
            <a:xfrm>
              <a:off x="228600" y="228600"/>
              <a:ext cx="3495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find_in_page</a:t>
              </a:r>
              <a:r>
                <a:rPr lang="en"/>
                <a:t> </a:t>
              </a:r>
              <a:r>
                <a:rPr b="1" lang="en" sz="1500">
                  <a:solidFill>
                    <a:srgbClr val="0F172A"/>
                  </a:solidFill>
                  <a:latin typeface="Cambria"/>
                  <a:ea typeface="Cambria"/>
                  <a:cs typeface="Cambria"/>
                  <a:sym typeface="Cambria"/>
                </a:rPr>
                <a:t>“Is the number even real?”</a:t>
              </a:r>
              <a:endParaRPr/>
            </a:p>
          </p:txBody>
        </p:sp>
        <p:sp>
          <p:nvSpPr>
            <p:cNvPr id="207" name="Google Shape;207;p11"/>
            <p:cNvSpPr txBox="1"/>
            <p:nvPr/>
          </p:nvSpPr>
          <p:spPr>
            <a:xfrm>
              <a:off x="228600" y="628650"/>
              <a:ext cx="3495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5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Policies can be omitted from the report by editing a config file, which removes them from the denominator.</a:t>
              </a:r>
              <a:endParaRPr b="0" i="0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08" name="Google Shape;208;p11"/>
            <p:cNvGrpSpPr/>
            <p:nvPr/>
          </p:nvGrpSpPr>
          <p:grpSpPr>
            <a:xfrm>
              <a:off x="228600" y="1219200"/>
              <a:ext cx="3495600" cy="1447800"/>
              <a:chOff x="0" y="0"/>
              <a:chExt cx="3495600" cy="1447800"/>
            </a:xfrm>
          </p:grpSpPr>
          <p:sp>
            <p:nvSpPr>
              <p:cNvPr id="209" name="Google Shape;209;p11"/>
              <p:cNvSpPr txBox="1"/>
              <p:nvPr/>
            </p:nvSpPr>
            <p:spPr>
              <a:xfrm>
                <a:off x="0" y="0"/>
                <a:ext cx="685800" cy="419100"/>
              </a:xfrm>
              <a:prstGeom prst="rect">
                <a:avLst/>
              </a:prstGeom>
              <a:solidFill>
                <a:srgbClr val="FDECEC"/>
              </a:solidFill>
              <a:ln cap="flat" cmpd="sng" w="9525">
                <a:solidFill>
                  <a:srgbClr val="FCA5A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CF222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1" i="0" sz="2200">
                  <a:solidFill>
                    <a:srgbClr val="CF222E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0" name="Google Shape;210;p11"/>
              <p:cNvSpPr txBox="1"/>
              <p:nvPr/>
            </p:nvSpPr>
            <p:spPr>
              <a:xfrm>
                <a:off x="800100" y="0"/>
                <a:ext cx="2695500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50">
                    <a:solidFill>
                      <a:srgbClr val="1F29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policies suppressed, all mandatory SHALL</a:t>
                </a:r>
                <a:endParaRPr b="0" i="0" sz="1150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 txBox="1"/>
              <p:nvPr/>
            </p:nvSpPr>
            <p:spPr>
              <a:xfrm>
                <a:off x="0" y="514350"/>
                <a:ext cx="685800" cy="419100"/>
              </a:xfrm>
              <a:prstGeom prst="rect">
                <a:avLst/>
              </a:prstGeom>
              <a:solidFill>
                <a:srgbClr val="FFF6E0"/>
              </a:solidFill>
              <a:ln cap="flat" cmpd="sng" w="9525">
                <a:solidFill>
                  <a:srgbClr val="FDE68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2200">
                    <a:solidFill>
                      <a:srgbClr val="BF87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i="0" sz="2200">
                  <a:solidFill>
                    <a:srgbClr val="BF87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2" name="Google Shape;212;p11"/>
              <p:cNvSpPr txBox="1"/>
              <p:nvPr/>
            </p:nvSpPr>
            <p:spPr>
              <a:xfrm>
                <a:off x="800100" y="514350"/>
                <a:ext cx="2695500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50">
                    <a:solidFill>
                      <a:srgbClr val="1F29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exemptions expired but still active</a:t>
                </a:r>
                <a:endParaRPr b="0" i="0" sz="1150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3" name="Google Shape;213;p11"/>
              <p:cNvSpPr txBox="1"/>
              <p:nvPr/>
            </p:nvSpPr>
            <p:spPr>
              <a:xfrm>
                <a:off x="0" y="1028700"/>
                <a:ext cx="685800" cy="419100"/>
              </a:xfrm>
              <a:prstGeom prst="rect">
                <a:avLst/>
              </a:prstGeom>
              <a:solidFill>
                <a:srgbClr val="EAF1F8"/>
              </a:solidFill>
              <a:ln cap="flat" cmpd="sng" w="9525">
                <a:solidFill>
                  <a:srgbClr val="BDD5EA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i="0" lang="en" sz="1800">
                    <a:solidFill>
                      <a:srgbClr val="14304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+0.9</a:t>
                </a:r>
                <a:endParaRPr b="1" i="0" sz="1800">
                  <a:solidFill>
                    <a:srgbClr val="14304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" name="Google Shape;214;p11"/>
              <p:cNvSpPr txBox="1"/>
              <p:nvPr/>
            </p:nvSpPr>
            <p:spPr>
              <a:xfrm>
                <a:off x="800100" y="1028700"/>
                <a:ext cx="2695500" cy="4191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i="0" lang="en" sz="1150">
                    <a:solidFill>
                      <a:srgbClr val="1F29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percentage points added to the score</a:t>
                </a:r>
                <a:endParaRPr b="0" i="0" sz="1150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5" name="Google Shape;215;p11"/>
            <p:cNvSpPr txBox="1"/>
            <p:nvPr/>
          </p:nvSpPr>
          <p:spPr>
            <a:xfrm>
              <a:off x="74115" y="2952750"/>
              <a:ext cx="36501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50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rPr>
                <a:t>Every exemption becomes an OSCAL risk an auditor can query.</a:t>
              </a:r>
              <a:endParaRPr b="0" i="1" sz="11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11"/>
          <p:cNvGrpSpPr/>
          <p:nvPr/>
        </p:nvGrpSpPr>
        <p:grpSpPr>
          <a:xfrm>
            <a:off x="4709160" y="904875"/>
            <a:ext cx="3952800" cy="3429000"/>
            <a:chOff x="0" y="0"/>
            <a:chExt cx="3952800" cy="3429000"/>
          </a:xfrm>
        </p:grpSpPr>
        <p:sp>
          <p:nvSpPr>
            <p:cNvPr id="217" name="Google Shape;217;p11"/>
            <p:cNvSpPr/>
            <p:nvPr/>
          </p:nvSpPr>
          <p:spPr>
            <a:xfrm>
              <a:off x="0" y="0"/>
              <a:ext cx="3952800" cy="3429000"/>
            </a:xfrm>
            <a:prstGeom prst="roundRect">
              <a:avLst>
                <a:gd fmla="val 222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11"/>
            <p:cNvSpPr txBox="1"/>
            <p:nvPr/>
          </p:nvSpPr>
          <p:spPr>
            <a:xfrm>
              <a:off x="228600" y="228600"/>
              <a:ext cx="3495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0">
                  <a:solidFill>
                    <a:srgbClr val="334155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security</a:t>
              </a:r>
              <a:r>
                <a:rPr lang="en"/>
                <a:t> </a:t>
              </a:r>
              <a:r>
                <a:rPr b="1" lang="en" sz="1500">
                  <a:solidFill>
                    <a:srgbClr val="0F172A"/>
                  </a:solidFill>
                  <a:latin typeface="Cambria"/>
                  <a:ea typeface="Cambria"/>
                  <a:cs typeface="Cambria"/>
                  <a:sym typeface="Cambria"/>
                </a:rPr>
                <a:t>“What can still happen to us?”</a:t>
              </a:r>
              <a:endParaRPr/>
            </a:p>
          </p:txBody>
        </p:sp>
        <p:sp>
          <p:nvSpPr>
            <p:cNvPr id="219" name="Google Shape;219;p11"/>
            <p:cNvSpPr txBox="1"/>
            <p:nvPr/>
          </p:nvSpPr>
          <p:spPr>
            <a:xfrm>
              <a:off x="228600" y="628650"/>
              <a:ext cx="3495600" cy="457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" sz="117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CISA maps each policy to the MITRE ATT&amp;CK techniques it mitigates. A technique is uncovered when every mapped policy is failing.</a:t>
              </a:r>
              <a:endParaRPr b="0" i="0" sz="117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0" name="Google Shape;220;p11"/>
            <p:cNvGrpSpPr/>
            <p:nvPr/>
          </p:nvGrpSpPr>
          <p:grpSpPr>
            <a:xfrm>
              <a:off x="228600" y="1285875"/>
              <a:ext cx="3486300" cy="1047900"/>
              <a:chOff x="0" y="0"/>
              <a:chExt cx="3486300" cy="1047900"/>
            </a:xfrm>
          </p:grpSpPr>
          <p:grpSp>
            <p:nvGrpSpPr>
              <p:cNvPr id="221" name="Google Shape;221;p11"/>
              <p:cNvGrpSpPr/>
              <p:nvPr/>
            </p:nvGrpSpPr>
            <p:grpSpPr>
              <a:xfrm>
                <a:off x="0" y="0"/>
                <a:ext cx="1086000" cy="1047900"/>
                <a:chOff x="0" y="0"/>
                <a:chExt cx="1086000" cy="1047900"/>
              </a:xfrm>
            </p:grpSpPr>
            <p:sp>
              <p:nvSpPr>
                <p:cNvPr id="222" name="Google Shape;222;p11"/>
                <p:cNvSpPr/>
                <p:nvPr/>
              </p:nvSpPr>
              <p:spPr>
                <a:xfrm>
                  <a:off x="0" y="0"/>
                  <a:ext cx="1086000" cy="1047900"/>
                </a:xfrm>
                <a:prstGeom prst="roundRect">
                  <a:avLst>
                    <a:gd fmla="val 5454" name="adj"/>
                  </a:avLst>
                </a:prstGeom>
                <a:solidFill>
                  <a:srgbClr val="FEF2F2"/>
                </a:solidFill>
                <a:ln cap="flat" cmpd="sng" w="9525">
                  <a:solidFill>
                    <a:srgbClr val="FCA5A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" name="Google Shape;223;p11"/>
                <p:cNvSpPr txBox="1"/>
                <p:nvPr/>
              </p:nvSpPr>
              <p:spPr>
                <a:xfrm>
                  <a:off x="0" y="0"/>
                  <a:ext cx="10860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800">
                      <a:solidFill>
                        <a:srgbClr val="DC262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6</a:t>
                  </a:r>
                  <a:endParaRPr b="1" sz="2800">
                    <a:solidFill>
                      <a:srgbClr val="DC262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" sz="1150">
                      <a:solidFill>
                        <a:srgbClr val="991B1B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uncovered</a:t>
                  </a:r>
                  <a:endParaRPr sz="115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4" name="Google Shape;224;p11"/>
              <p:cNvGrpSpPr/>
              <p:nvPr/>
            </p:nvGrpSpPr>
            <p:grpSpPr>
              <a:xfrm>
                <a:off x="1200150" y="0"/>
                <a:ext cx="1086000" cy="1047900"/>
                <a:chOff x="0" y="0"/>
                <a:chExt cx="1086000" cy="1047900"/>
              </a:xfrm>
            </p:grpSpPr>
            <p:sp>
              <p:nvSpPr>
                <p:cNvPr id="225" name="Google Shape;225;p11"/>
                <p:cNvSpPr/>
                <p:nvPr/>
              </p:nvSpPr>
              <p:spPr>
                <a:xfrm>
                  <a:off x="0" y="0"/>
                  <a:ext cx="1086000" cy="1047900"/>
                </a:xfrm>
                <a:prstGeom prst="roundRect">
                  <a:avLst>
                    <a:gd fmla="val 5454" name="adj"/>
                  </a:avLst>
                </a:prstGeom>
                <a:solidFill>
                  <a:srgbClr val="FFFBEB"/>
                </a:solidFill>
                <a:ln cap="flat" cmpd="sng" w="9525">
                  <a:solidFill>
                    <a:srgbClr val="FDE68A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" name="Google Shape;226;p11"/>
                <p:cNvSpPr txBox="1"/>
                <p:nvPr/>
              </p:nvSpPr>
              <p:spPr>
                <a:xfrm>
                  <a:off x="0" y="0"/>
                  <a:ext cx="10860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800">
                      <a:solidFill>
                        <a:srgbClr val="D97706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15</a:t>
                  </a:r>
                  <a:endParaRPr b="1" sz="2800">
                    <a:solidFill>
                      <a:srgbClr val="D97706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" sz="1150">
                      <a:solidFill>
                        <a:srgbClr val="92400E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degraded</a:t>
                  </a:r>
                  <a:endParaRPr sz="1150">
                    <a:solidFill>
                      <a:srgbClr val="92400E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27" name="Google Shape;227;p11"/>
              <p:cNvGrpSpPr/>
              <p:nvPr/>
            </p:nvGrpSpPr>
            <p:grpSpPr>
              <a:xfrm>
                <a:off x="2400300" y="0"/>
                <a:ext cx="1086000" cy="1047900"/>
                <a:chOff x="0" y="0"/>
                <a:chExt cx="1086000" cy="1047900"/>
              </a:xfrm>
            </p:grpSpPr>
            <p:sp>
              <p:nvSpPr>
                <p:cNvPr id="228" name="Google Shape;228;p11"/>
                <p:cNvSpPr/>
                <p:nvPr/>
              </p:nvSpPr>
              <p:spPr>
                <a:xfrm>
                  <a:off x="0" y="0"/>
                  <a:ext cx="1086000" cy="1047900"/>
                </a:xfrm>
                <a:prstGeom prst="roundRect">
                  <a:avLst>
                    <a:gd fmla="val 5454" name="adj"/>
                  </a:avLst>
                </a:prstGeom>
                <a:solidFill>
                  <a:srgbClr val="F0FDF4"/>
                </a:solidFill>
                <a:ln cap="flat" cmpd="sng" w="9525">
                  <a:solidFill>
                    <a:srgbClr val="86EFAC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" name="Google Shape;229;p11"/>
                <p:cNvSpPr txBox="1"/>
                <p:nvPr/>
              </p:nvSpPr>
              <p:spPr>
                <a:xfrm>
                  <a:off x="0" y="0"/>
                  <a:ext cx="1086000" cy="1047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2800">
                      <a:solidFill>
                        <a:srgbClr val="16A34A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32</a:t>
                  </a:r>
                  <a:endParaRPr b="1" sz="2800">
                    <a:solidFill>
                      <a:srgbClr val="16A34A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  <a:p>
                  <a:pPr indent="0" lvl="0" marL="0" rtl="0" algn="ctr">
                    <a:spcBef>
                      <a:spcPts val="300"/>
                    </a:spcBef>
                    <a:spcAft>
                      <a:spcPts val="0"/>
                    </a:spcAft>
                    <a:buNone/>
                  </a:pPr>
                  <a:r>
                    <a:rPr lang="en" sz="1150">
                      <a:solidFill>
                        <a:srgbClr val="166534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covered</a:t>
                  </a:r>
                  <a:endParaRPr sz="1150">
                    <a:solidFill>
                      <a:srgbClr val="166534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230" name="Google Shape;230;p11"/>
            <p:cNvSpPr txBox="1"/>
            <p:nvPr/>
          </p:nvSpPr>
          <p:spPr>
            <a:xfrm>
              <a:off x="228600" y="2952750"/>
              <a:ext cx="34956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" sz="1179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rPr>
                <a:t>Three low-severity findings are the last remaining mitigation for two techniques each.</a:t>
              </a:r>
              <a:endParaRPr b="0" i="1" sz="1179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11"/>
          <p:cNvGrpSpPr/>
          <p:nvPr/>
        </p:nvGrpSpPr>
        <p:grpSpPr>
          <a:xfrm>
            <a:off x="480060" y="4572000"/>
            <a:ext cx="8184000" cy="285900"/>
            <a:chOff x="0" y="0"/>
            <a:chExt cx="8184000" cy="285900"/>
          </a:xfrm>
        </p:grpSpPr>
        <p:sp>
          <p:nvSpPr>
            <p:cNvPr id="232" name="Google Shape;232;p11"/>
            <p:cNvSpPr/>
            <p:nvPr/>
          </p:nvSpPr>
          <p:spPr>
            <a:xfrm>
              <a:off x="0" y="0"/>
              <a:ext cx="8184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11"/>
            <p:cNvSpPr txBox="1"/>
            <p:nvPr/>
          </p:nvSpPr>
          <p:spPr>
            <a:xfrm>
              <a:off x="0" y="0"/>
              <a:ext cx="81840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" sz="1100">
                  <a:solidFill>
                    <a:srgbClr val="1F2933"/>
                  </a:solidFill>
                  <a:latin typeface="Calibri"/>
                  <a:ea typeface="Calibri"/>
                  <a:cs typeface="Calibri"/>
                  <a:sym typeface="Calibri"/>
                </a:rPr>
                <a:t>A POA&amp;M says what is non-compliant. Neither question can be answered from the scanner's own report.</a:t>
              </a:r>
              <a:endParaRPr b="1" i="0" sz="11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BUILT FOR THE COMMONWEALTH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480060" y="30861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What a SCuBA failure means in Virginia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480060" y="942974"/>
            <a:ext cx="8160900" cy="44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●"/>
            </a:pPr>
            <a:r>
              <a:rPr b="0" i="0" lang="en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SCuBA is federal guidance. </a:t>
            </a:r>
            <a:endParaRPr b="0" i="0" sz="13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00"/>
              <a:buFont typeface="Calibri"/>
              <a:buChar char="●"/>
            </a:pPr>
            <a:r>
              <a:rPr b="0" i="0" lang="en" sz="13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Virginia public bodies every public college, university and school division are governed by SEC530, VITA's Information Security Standard, which adopts NIST 800-53 and uses its control identifiers directly.</a:t>
            </a:r>
            <a:endParaRPr b="0" i="0" sz="13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480060" y="1671755"/>
            <a:ext cx="1783200" cy="4116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2"/>
          <p:cNvSpPr txBox="1"/>
          <p:nvPr/>
        </p:nvSpPr>
        <p:spPr>
          <a:xfrm>
            <a:off x="480060" y="1774625"/>
            <a:ext cx="17832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SCuBA policy</a:t>
            </a:r>
            <a:endParaRPr b="1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2263140" y="1760909"/>
            <a:ext cx="3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2571750" y="1671755"/>
            <a:ext cx="1783200" cy="4116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2571750" y="1774625"/>
            <a:ext cx="17832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CISA crosswalk</a:t>
            </a:r>
            <a:endParaRPr b="1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4354830" y="1760909"/>
            <a:ext cx="3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4663440" y="1671755"/>
            <a:ext cx="1783200" cy="411600"/>
          </a:xfrm>
          <a:prstGeom prst="roundRect">
            <a:avLst>
              <a:gd fmla="val 13333" name="adj"/>
            </a:avLst>
          </a:prstGeom>
          <a:solidFill>
            <a:srgbClr val="FFFFFF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4663440" y="1774625"/>
            <a:ext cx="17832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NIST 800-53</a:t>
            </a:r>
            <a:endParaRPr b="1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2"/>
          <p:cNvSpPr txBox="1"/>
          <p:nvPr/>
        </p:nvSpPr>
        <p:spPr>
          <a:xfrm>
            <a:off x="6446520" y="1760909"/>
            <a:ext cx="308700" cy="23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755130" y="1671755"/>
            <a:ext cx="1783200" cy="411600"/>
          </a:xfrm>
          <a:prstGeom prst="roundRect">
            <a:avLst>
              <a:gd fmla="val 13333" name="adj"/>
            </a:avLst>
          </a:prstGeom>
          <a:solidFill>
            <a:srgbClr val="14304F"/>
          </a:solidFill>
          <a:ln cap="flat" cmpd="sng" w="12700">
            <a:solidFill>
              <a:srgbClr val="1430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6755130" y="1774625"/>
            <a:ext cx="17832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i="0" lang="en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VITA SEC530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480060" y="2146248"/>
            <a:ext cx="81609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An exact join on identifiers published by CISA and VITA. No model is involved anywhere in this chain.</a:t>
            </a:r>
            <a:endParaRPr b="0" i="1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2"/>
          <p:cNvSpPr/>
          <p:nvPr/>
        </p:nvSpPr>
        <p:spPr>
          <a:xfrm>
            <a:off x="480060" y="259082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E8F6EF"/>
          </a:solidFill>
          <a:ln cap="flat" cmpd="sng" w="12700">
            <a:solidFill>
              <a:srgbClr val="E8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5" name="Google Shape;255;p12"/>
          <p:cNvGrpSpPr/>
          <p:nvPr/>
        </p:nvGrpSpPr>
        <p:grpSpPr>
          <a:xfrm>
            <a:off x="480060" y="2646065"/>
            <a:ext cx="2606100" cy="213868"/>
            <a:chOff x="0" y="0"/>
            <a:chExt cx="2606100" cy="213868"/>
          </a:xfrm>
        </p:grpSpPr>
        <p:sp>
          <p:nvSpPr>
            <p:cNvPr id="256" name="Google Shape;256;p12"/>
            <p:cNvSpPr/>
            <p:nvPr/>
          </p:nvSpPr>
          <p:spPr>
            <a:xfrm>
              <a:off x="0" y="0"/>
              <a:ext cx="2606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12"/>
            <p:cNvSpPr txBox="1"/>
            <p:nvPr/>
          </p:nvSpPr>
          <p:spPr>
            <a:xfrm>
              <a:off x="0" y="23368"/>
              <a:ext cx="2606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60">
                  <a:solidFill>
                    <a:srgbClr val="1F29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fact_check</a:t>
              </a:r>
              <a:endParaRPr sz="1360">
                <a:solidFill>
                  <a:srgbClr val="1F29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58" name="Google Shape;258;p12"/>
          <p:cNvSpPr txBox="1"/>
          <p:nvPr/>
        </p:nvSpPr>
        <p:spPr>
          <a:xfrm>
            <a:off x="480060" y="2817515"/>
            <a:ext cx="260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23 of 26</a:t>
            </a:r>
            <a:endParaRPr b="1" i="0" sz="280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 txBox="1"/>
          <p:nvPr/>
        </p:nvSpPr>
        <p:spPr>
          <a:xfrm>
            <a:off x="562356" y="327662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failures are also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Commonwealth obligations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3257550" y="259082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F4F7F9"/>
          </a:solidFill>
          <a:ln cap="flat" cmpd="sng" w="12700">
            <a:solidFill>
              <a:srgbClr val="F4F7F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1" name="Google Shape;261;p12"/>
          <p:cNvGrpSpPr/>
          <p:nvPr/>
        </p:nvGrpSpPr>
        <p:grpSpPr>
          <a:xfrm>
            <a:off x="3257550" y="2646065"/>
            <a:ext cx="2606100" cy="213868"/>
            <a:chOff x="0" y="0"/>
            <a:chExt cx="2606100" cy="213868"/>
          </a:xfrm>
        </p:grpSpPr>
        <p:sp>
          <p:nvSpPr>
            <p:cNvPr id="262" name="Google Shape;262;p12"/>
            <p:cNvSpPr/>
            <p:nvPr/>
          </p:nvSpPr>
          <p:spPr>
            <a:xfrm>
              <a:off x="0" y="0"/>
              <a:ext cx="2606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2"/>
            <p:cNvSpPr txBox="1"/>
            <p:nvPr/>
          </p:nvSpPr>
          <p:spPr>
            <a:xfrm>
              <a:off x="0" y="23368"/>
              <a:ext cx="2606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60">
                  <a:solidFill>
                    <a:srgbClr val="1F29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grid_on</a:t>
              </a:r>
              <a:endParaRPr sz="1360">
                <a:solidFill>
                  <a:srgbClr val="1F29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64" name="Google Shape;264;p12"/>
          <p:cNvSpPr txBox="1"/>
          <p:nvPr/>
        </p:nvSpPr>
        <p:spPr>
          <a:xfrm>
            <a:off x="3257550" y="2817515"/>
            <a:ext cx="260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1,189</a:t>
            </a:r>
            <a:endParaRPr b="1" i="0" sz="280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2"/>
          <p:cNvSpPr txBox="1"/>
          <p:nvPr/>
        </p:nvSpPr>
        <p:spPr>
          <a:xfrm>
            <a:off x="3339846" y="327662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SEC530 controls parsed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from VITA's own spreadsheet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2"/>
          <p:cNvSpPr/>
          <p:nvPr/>
        </p:nvSpPr>
        <p:spPr>
          <a:xfrm>
            <a:off x="6035040" y="259082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FFF6E0"/>
          </a:solidFill>
          <a:ln cap="flat" cmpd="sng" w="12700">
            <a:solidFill>
              <a:srgbClr val="FFF6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7" name="Google Shape;267;p12"/>
          <p:cNvGrpSpPr/>
          <p:nvPr/>
        </p:nvGrpSpPr>
        <p:grpSpPr>
          <a:xfrm>
            <a:off x="6035040" y="2646065"/>
            <a:ext cx="2606100" cy="213868"/>
            <a:chOff x="0" y="0"/>
            <a:chExt cx="2606100" cy="213868"/>
          </a:xfrm>
        </p:grpSpPr>
        <p:sp>
          <p:nvSpPr>
            <p:cNvPr id="268" name="Google Shape;268;p12"/>
            <p:cNvSpPr/>
            <p:nvPr/>
          </p:nvSpPr>
          <p:spPr>
            <a:xfrm>
              <a:off x="0" y="0"/>
              <a:ext cx="2606100" cy="1905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2"/>
            <p:cNvSpPr txBox="1"/>
            <p:nvPr/>
          </p:nvSpPr>
          <p:spPr>
            <a:xfrm>
              <a:off x="0" y="23368"/>
              <a:ext cx="2606100" cy="190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60">
                  <a:solidFill>
                    <a:srgbClr val="1F2933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balance</a:t>
              </a:r>
              <a:endParaRPr sz="1360">
                <a:solidFill>
                  <a:srgbClr val="1F2933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270" name="Google Shape;270;p12"/>
          <p:cNvSpPr txBox="1"/>
          <p:nvPr/>
        </p:nvSpPr>
        <p:spPr>
          <a:xfrm>
            <a:off x="6035040" y="2817515"/>
            <a:ext cx="2606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800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2800">
              <a:solidFill>
                <a:srgbClr val="8A5A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2"/>
          <p:cNvSpPr txBox="1"/>
          <p:nvPr/>
        </p:nvSpPr>
        <p:spPr>
          <a:xfrm>
            <a:off x="6117336" y="327662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federal only — Virginia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withdrew the control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2"/>
          <p:cNvSpPr/>
          <p:nvPr/>
        </p:nvSpPr>
        <p:spPr>
          <a:xfrm>
            <a:off x="480050" y="3895200"/>
            <a:ext cx="8160900" cy="1084200"/>
          </a:xfrm>
          <a:prstGeom prst="roundRect">
            <a:avLst>
              <a:gd fmla="val 7406" name="adj"/>
            </a:avLst>
          </a:prstGeom>
          <a:solidFill>
            <a:srgbClr val="FFF6E0"/>
          </a:solidFill>
          <a:ln cap="flat" cmpd="sng" w="12700">
            <a:solidFill>
              <a:srgbClr val="FFE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2"/>
          <p:cNvSpPr txBox="1"/>
          <p:nvPr/>
        </p:nvSpPr>
        <p:spPr>
          <a:xfrm>
            <a:off x="562350" y="3961211"/>
            <a:ext cx="77496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Where the two governments differ</a:t>
            </a:r>
            <a:endParaRPr b="1" i="0" sz="1300">
              <a:solidFill>
                <a:srgbClr val="8A5A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 txBox="1"/>
          <p:nvPr/>
        </p:nvSpPr>
        <p:spPr>
          <a:xfrm>
            <a:off x="685800" y="4258674"/>
            <a:ext cx="77496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Char char="●"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Three failures map only to SC-7(10), which the Commonwealth has withdrawn — “not applicable to COV”.</a:t>
            </a:r>
            <a:endParaRPr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Char char="●"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They remain federal obligations and carry no SEC530 duty. 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00"/>
              <a:buFont typeface="Calibri"/>
              <a:buChar char="●"/>
            </a:pPr>
            <a:r>
              <a:rPr b="0" i="0" lang="en" sz="120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We also surface who Virginia says owns each control, from SEC530's own IMPLEMENTED BY column.</a:t>
            </a:r>
            <a:endParaRPr b="0" i="0" sz="120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3"/>
          <p:cNvSpPr txBox="1"/>
          <p:nvPr/>
        </p:nvSpPr>
        <p:spPr>
          <a:xfrm>
            <a:off x="480060" y="40112"/>
            <a:ext cx="81609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600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MICROSOFT FOUNDRY</a:t>
            </a:r>
            <a:endParaRPr b="1" i="0" sz="1600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3"/>
          <p:cNvSpPr txBox="1"/>
          <p:nvPr/>
        </p:nvSpPr>
        <p:spPr>
          <a:xfrm>
            <a:off x="480060" y="151383"/>
            <a:ext cx="8160900" cy="61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500">
                <a:solidFill>
                  <a:srgbClr val="1F2933"/>
                </a:solidFill>
                <a:latin typeface="Cambria"/>
                <a:ea typeface="Cambria"/>
                <a:cs typeface="Cambria"/>
                <a:sym typeface="Cambria"/>
              </a:rPr>
              <a:t>An AI layer that cannot fabricate</a:t>
            </a:r>
            <a:endParaRPr b="1" i="0" sz="2500">
              <a:solidFill>
                <a:srgbClr val="1F2933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82" name="Google Shape;282;p13"/>
          <p:cNvSpPr txBox="1"/>
          <p:nvPr/>
        </p:nvSpPr>
        <p:spPr>
          <a:xfrm>
            <a:off x="427822" y="3827619"/>
            <a:ext cx="8160900" cy="24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Guardrails that are mechanisms, not promises</a:t>
            </a:r>
            <a:endParaRPr b="1" i="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3"/>
          <p:cNvSpPr txBox="1"/>
          <p:nvPr/>
        </p:nvSpPr>
        <p:spPr>
          <a:xfrm>
            <a:off x="208275" y="4124275"/>
            <a:ext cx="8023800" cy="914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190500" spcFirstLastPara="1" rIns="0" wrap="square" tIns="0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Every claim is checked against the evidence: policy IDs, NIST controls, ATT&amp;CK techniques, OSCAL UUIDs </a:t>
            </a:r>
            <a:endParaRPr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Each citation resolves to the exact node in the validated document </a:t>
            </a:r>
            <a:endParaRPr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Unknown policy IDs return an error, never a plausible control </a:t>
            </a:r>
            <a:endParaRPr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Uploaded scans are untrusted: instruction-like text is neutralised first</a:t>
            </a:r>
            <a:endParaRPr b="0" i="0"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4" name="Google Shape;284;p13" title="Gemini_Generated_Image_adhsi1adhsi1adhs.jpeg"/>
          <p:cNvPicPr preferRelativeResize="0"/>
          <p:nvPr/>
        </p:nvPicPr>
        <p:blipFill rotWithShape="1">
          <a:blip r:embed="rId4">
            <a:alphaModFix/>
          </a:blip>
          <a:srcRect b="4965" l="1729" r="1652" t="8537"/>
          <a:stretch/>
        </p:blipFill>
        <p:spPr>
          <a:xfrm>
            <a:off x="1718338" y="821883"/>
            <a:ext cx="5707325" cy="1267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13" title="ChatGPT Image Sep 25, 2026, 09_50_16 PM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7825" y="2265220"/>
            <a:ext cx="7804252" cy="15623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4"/>
          <p:cNvSpPr txBox="1"/>
          <p:nvPr/>
        </p:nvSpPr>
        <p:spPr>
          <a:xfrm>
            <a:off x="479997" y="41135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MEASURED, NOT ASSERTED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4"/>
          <p:cNvSpPr txBox="1"/>
          <p:nvPr/>
        </p:nvSpPr>
        <p:spPr>
          <a:xfrm>
            <a:off x="480060" y="26756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We tested our architecture against the obvious one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 txBox="1"/>
          <p:nvPr/>
        </p:nvSpPr>
        <p:spPr>
          <a:xfrm>
            <a:off x="480000" y="998684"/>
            <a:ext cx="8160900" cy="532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15 questions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model</a:t>
            </a: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grader. </a:t>
            </a:r>
            <a:endParaRPr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b="0" i="0" lang="en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variable: one arm gets tools over validated OSCAL, the other gets the raw scanner output dumped into context.</a:t>
            </a:r>
            <a:endParaRPr b="0" i="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 txBox="1"/>
          <p:nvPr/>
        </p:nvSpPr>
        <p:spPr>
          <a:xfrm>
            <a:off x="5006340" y="1405337"/>
            <a:ext cx="16458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GROUNDED</a:t>
            </a:r>
            <a:endParaRPr b="1" i="0" sz="105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 txBox="1"/>
          <p:nvPr/>
        </p:nvSpPr>
        <p:spPr>
          <a:xfrm>
            <a:off x="6789420" y="1405337"/>
            <a:ext cx="18516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UNGROUNDED</a:t>
            </a:r>
            <a:endParaRPr b="1" i="0" sz="105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4"/>
          <p:cNvSpPr/>
          <p:nvPr/>
        </p:nvSpPr>
        <p:spPr>
          <a:xfrm>
            <a:off x="480060" y="1761953"/>
            <a:ext cx="8160900" cy="384000"/>
          </a:xfrm>
          <a:prstGeom prst="roundRect">
            <a:avLst>
              <a:gd fmla="val 8929" name="adj"/>
            </a:avLst>
          </a:prstGeom>
          <a:solidFill>
            <a:srgbClr val="F4F7F9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4"/>
          <p:cNvSpPr txBox="1"/>
          <p:nvPr/>
        </p:nvSpPr>
        <p:spPr>
          <a:xfrm>
            <a:off x="685800" y="1844249"/>
            <a:ext cx="4183500" cy="24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Pass rate</a:t>
            </a:r>
            <a:endParaRPr b="1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 txBox="1"/>
          <p:nvPr/>
        </p:nvSpPr>
        <p:spPr>
          <a:xfrm>
            <a:off x="5006340" y="1816817"/>
            <a:ext cx="1645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 txBox="1"/>
          <p:nvPr/>
        </p:nvSpPr>
        <p:spPr>
          <a:xfrm>
            <a:off x="6789420" y="1816817"/>
            <a:ext cx="185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80%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480060" y="2187149"/>
            <a:ext cx="8160900" cy="384000"/>
          </a:xfrm>
          <a:prstGeom prst="roundRect">
            <a:avLst>
              <a:gd fmla="val 8929" name="adj"/>
            </a:avLst>
          </a:prstGeom>
          <a:solidFill>
            <a:srgbClr val="FFFFFF"/>
          </a:solidFill>
          <a:ln cap="flat" cmpd="sng" w="12700">
            <a:solidFill>
              <a:srgbClr val="EDF1F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4"/>
          <p:cNvSpPr txBox="1"/>
          <p:nvPr/>
        </p:nvSpPr>
        <p:spPr>
          <a:xfrm>
            <a:off x="685800" y="2269445"/>
            <a:ext cx="4183500" cy="24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Answers asserting facts never given to it</a:t>
            </a:r>
            <a:endParaRPr b="1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4"/>
          <p:cNvSpPr txBox="1"/>
          <p:nvPr/>
        </p:nvSpPr>
        <p:spPr>
          <a:xfrm>
            <a:off x="5006340" y="2242013"/>
            <a:ext cx="1645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 txBox="1"/>
          <p:nvPr/>
        </p:nvSpPr>
        <p:spPr>
          <a:xfrm>
            <a:off x="6789420" y="2242013"/>
            <a:ext cx="185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480060" y="2612345"/>
            <a:ext cx="8160900" cy="384000"/>
          </a:xfrm>
          <a:prstGeom prst="roundRect">
            <a:avLst>
              <a:gd fmla="val 8929" name="adj"/>
            </a:avLst>
          </a:prstGeom>
          <a:solidFill>
            <a:srgbClr val="F4F7F9"/>
          </a:solidFill>
          <a:ln cap="flat" cmpd="sng" w="12700">
            <a:solidFill>
              <a:srgbClr val="E2E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4"/>
          <p:cNvSpPr txBox="1"/>
          <p:nvPr/>
        </p:nvSpPr>
        <p:spPr>
          <a:xfrm>
            <a:off x="685800" y="2694641"/>
            <a:ext cx="4183500" cy="24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Security identifiers invented from memory</a:t>
            </a:r>
            <a:endParaRPr b="1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 txBox="1"/>
          <p:nvPr/>
        </p:nvSpPr>
        <p:spPr>
          <a:xfrm>
            <a:off x="5006340" y="2667209"/>
            <a:ext cx="16458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 txBox="1"/>
          <p:nvPr/>
        </p:nvSpPr>
        <p:spPr>
          <a:xfrm>
            <a:off x="6789420" y="2667209"/>
            <a:ext cx="18516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5484D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5484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480050" y="3157075"/>
            <a:ext cx="8160900" cy="1417200"/>
          </a:xfrm>
          <a:prstGeom prst="roundRect">
            <a:avLst>
              <a:gd fmla="val 5714" name="adj"/>
            </a:avLst>
          </a:prstGeom>
          <a:solidFill>
            <a:srgbClr val="FDECEC"/>
          </a:solidFill>
          <a:ln cap="flat" cmpd="sng" w="12700">
            <a:solidFill>
              <a:srgbClr val="F7C9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4"/>
          <p:cNvSpPr txBox="1"/>
          <p:nvPr/>
        </p:nvSpPr>
        <p:spPr>
          <a:xfrm>
            <a:off x="685800" y="3185257"/>
            <a:ext cx="7749600" cy="24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pass rate is not the story. Fabrication is.</a:t>
            </a:r>
            <a:endParaRPr b="1" i="0" sz="135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 txBox="1"/>
          <p:nvPr/>
        </p:nvSpPr>
        <p:spPr>
          <a:xfrm>
            <a:off x="685800" y="3614166"/>
            <a:ext cx="7749600" cy="58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●"/>
            </a:pPr>
            <a:r>
              <a:rPr b="0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The scanner file contains no NIST control IDs and no MITRE technique IDs</a:t>
            </a:r>
            <a:r>
              <a:rPr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0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those come from CISA's baselines, which we integrate. </a:t>
            </a:r>
            <a:endParaRPr b="0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●"/>
            </a:pPr>
            <a:r>
              <a:rPr b="0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Asked anyway, the ungrounded model did not decline. </a:t>
            </a:r>
            <a:endParaRPr b="0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7975" lvl="1" marL="9144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250"/>
              <a:buFont typeface="Calibri"/>
              <a:buChar char="○"/>
            </a:pPr>
            <a:r>
              <a:rPr b="0"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It asserted six identifiers from memory, and named T1110.003 “Credential Stuffing” when MITRE and CISA both say “Password Spraying”.</a:t>
            </a:r>
            <a:endParaRPr b="0"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 txBox="1"/>
          <p:nvPr/>
        </p:nvSpPr>
        <p:spPr>
          <a:xfrm>
            <a:off x="480060" y="4574286"/>
            <a:ext cx="81609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Our agents asserted zero facts they were not given</a:t>
            </a:r>
            <a:r>
              <a:rPr lang="en" sz="11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" sz="11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enforced by a test that fails the build if it ever changes.</a:t>
            </a:r>
            <a:endParaRPr i="0" sz="11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5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ECONOMIC VALUE &amp; SOCIETAL IMPACT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5"/>
          <p:cNvSpPr txBox="1"/>
          <p:nvPr/>
        </p:nvSpPr>
        <p:spPr>
          <a:xfrm>
            <a:off x="480060" y="30861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Measured, not asserted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 txBox="1"/>
          <p:nvPr/>
        </p:nvSpPr>
        <p:spPr>
          <a:xfrm>
            <a:off x="480050" y="860322"/>
            <a:ext cx="8160900" cy="525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We separate what we measured from what we assumed, and expose every assumption.</a:t>
            </a:r>
            <a:endParaRPr b="0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480060" y="1440180"/>
            <a:ext cx="3977700" cy="1371600"/>
          </a:xfrm>
          <a:prstGeom prst="roundRect">
            <a:avLst>
              <a:gd fmla="val 5000" name="adj"/>
            </a:avLst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15"/>
          <p:cNvSpPr txBox="1"/>
          <p:nvPr/>
        </p:nvSpPr>
        <p:spPr>
          <a:xfrm>
            <a:off x="651510" y="1549908"/>
            <a:ext cx="363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MEASURED</a:t>
            </a:r>
            <a:r>
              <a:rPr b="1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1" i="0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counted from the artifacts</a:t>
            </a:r>
            <a:endParaRPr b="1" i="0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5"/>
          <p:cNvSpPr txBox="1"/>
          <p:nvPr/>
        </p:nvSpPr>
        <p:spPr>
          <a:xfrm>
            <a:off x="651510" y="1783080"/>
            <a:ext cx="480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i="0" sz="125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5"/>
          <p:cNvSpPr txBox="1"/>
          <p:nvPr/>
        </p:nvSpPr>
        <p:spPr>
          <a:xfrm>
            <a:off x="1165860" y="1796796"/>
            <a:ext cx="315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POA&amp;M items with severity + deadline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5"/>
          <p:cNvSpPr txBox="1"/>
          <p:nvPr/>
        </p:nvSpPr>
        <p:spPr>
          <a:xfrm>
            <a:off x="651510" y="2023110"/>
            <a:ext cx="480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1" i="0" sz="125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5"/>
          <p:cNvSpPr txBox="1"/>
          <p:nvPr/>
        </p:nvSpPr>
        <p:spPr>
          <a:xfrm>
            <a:off x="1165860" y="2036826"/>
            <a:ext cx="315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SSP implemented-requirements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5"/>
          <p:cNvSpPr txBox="1"/>
          <p:nvPr/>
        </p:nvSpPr>
        <p:spPr>
          <a:xfrm>
            <a:off x="651510" y="2263140"/>
            <a:ext cx="480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89</a:t>
            </a:r>
            <a:endParaRPr b="1" i="0" sz="125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 txBox="1"/>
          <p:nvPr/>
        </p:nvSpPr>
        <p:spPr>
          <a:xfrm>
            <a:off x="1165860" y="2276856"/>
            <a:ext cx="315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NIST 800-53 mappings resolved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 txBox="1"/>
          <p:nvPr/>
        </p:nvSpPr>
        <p:spPr>
          <a:xfrm>
            <a:off x="651510" y="2503170"/>
            <a:ext cx="480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0212F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i="0" sz="1250">
              <a:solidFill>
                <a:srgbClr val="10212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1165860" y="2516886"/>
            <a:ext cx="315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phantom drift findings avoided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4663440" y="1440180"/>
            <a:ext cx="3977700" cy="1371600"/>
          </a:xfrm>
          <a:prstGeom prst="roundRect">
            <a:avLst>
              <a:gd fmla="val 5000" name="adj"/>
            </a:avLst>
          </a:prstGeom>
          <a:solidFill>
            <a:srgbClr val="FFF6E0"/>
          </a:solidFill>
          <a:ln cap="flat" cmpd="sng" w="12700">
            <a:solidFill>
              <a:srgbClr val="FFE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5"/>
          <p:cNvSpPr txBox="1"/>
          <p:nvPr/>
        </p:nvSpPr>
        <p:spPr>
          <a:xfrm>
            <a:off x="4834890" y="1549908"/>
            <a:ext cx="36348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ASSUMED</a:t>
            </a:r>
            <a:r>
              <a:rPr b="1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</a:t>
            </a:r>
            <a:r>
              <a:rPr b="1" i="0" lang="en" sz="11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djustable by the reader</a:t>
            </a:r>
            <a:endParaRPr b="1" i="0"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4834890" y="1783080"/>
            <a:ext cx="891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20 min</a:t>
            </a:r>
            <a:endParaRPr b="1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5795010" y="1796796"/>
            <a:ext cx="2743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to hand-author one POA&amp;M item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4834890" y="2023110"/>
            <a:ext cx="891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10 min</a:t>
            </a:r>
            <a:endParaRPr b="1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5"/>
          <p:cNvSpPr txBox="1"/>
          <p:nvPr/>
        </p:nvSpPr>
        <p:spPr>
          <a:xfrm>
            <a:off x="5795010" y="2036826"/>
            <a:ext cx="2743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 SSP requirement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 txBox="1"/>
          <p:nvPr/>
        </p:nvSpPr>
        <p:spPr>
          <a:xfrm>
            <a:off x="4834890" y="2263140"/>
            <a:ext cx="891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6 min</a:t>
            </a:r>
            <a:endParaRPr b="1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 txBox="1"/>
          <p:nvPr/>
        </p:nvSpPr>
        <p:spPr>
          <a:xfrm>
            <a:off x="5795010" y="2276856"/>
            <a:ext cx="2743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 NIST mapping lookup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15"/>
          <p:cNvSpPr txBox="1"/>
          <p:nvPr/>
        </p:nvSpPr>
        <p:spPr>
          <a:xfrm>
            <a:off x="4834890" y="2503170"/>
            <a:ext cx="8916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$62.11/h</a:t>
            </a:r>
            <a:endParaRPr b="1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 txBox="1"/>
          <p:nvPr/>
        </p:nvSpPr>
        <p:spPr>
          <a:xfrm>
            <a:off x="5795010" y="2516886"/>
            <a:ext cx="2743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BLS Virginia analyst wage x1.3 loaded</a:t>
            </a:r>
            <a:endParaRPr b="0" i="0" sz="10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480060" y="298323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E8F6EF"/>
          </a:solidFill>
          <a:ln cap="flat" cmpd="sng" w="12700">
            <a:solidFill>
              <a:srgbClr val="E8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5"/>
          <p:cNvSpPr txBox="1"/>
          <p:nvPr/>
        </p:nvSpPr>
        <p:spPr>
          <a:xfrm>
            <a:off x="480060" y="3106674"/>
            <a:ext cx="2606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20–69 h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5"/>
          <p:cNvSpPr txBox="1"/>
          <p:nvPr/>
        </p:nvSpPr>
        <p:spPr>
          <a:xfrm>
            <a:off x="562356" y="366903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manual effort replaced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 assessment cycle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3257550" y="298323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E8F6EF"/>
          </a:solidFill>
          <a:ln cap="flat" cmpd="sng" w="12700">
            <a:solidFill>
              <a:srgbClr val="E8F6E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5"/>
          <p:cNvSpPr txBox="1"/>
          <p:nvPr/>
        </p:nvSpPr>
        <p:spPr>
          <a:xfrm>
            <a:off x="3257550" y="3106674"/>
            <a:ext cx="26061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0A46C"/>
              </a:buClr>
              <a:buSzPts val="3000"/>
              <a:buFont typeface="Calibri"/>
              <a:buNone/>
            </a:pPr>
            <a:r>
              <a:rPr b="1" i="0" lang="en" sz="3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$1.6k–$5.5k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 txBox="1"/>
          <p:nvPr/>
        </p:nvSpPr>
        <p:spPr>
          <a:xfrm>
            <a:off x="3339846" y="366903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analyst time value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 assessment cycle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6035040" y="2983230"/>
            <a:ext cx="2606100" cy="1131600"/>
          </a:xfrm>
          <a:prstGeom prst="roundRect">
            <a:avLst>
              <a:gd fmla="val 6061" name="adj"/>
            </a:avLst>
          </a:prstGeom>
          <a:solidFill>
            <a:srgbClr val="FFF6E0"/>
          </a:solidFill>
          <a:ln cap="flat" cmpd="sng" w="12700">
            <a:solidFill>
              <a:srgbClr val="FFE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5"/>
          <p:cNvSpPr txBox="1"/>
          <p:nvPr/>
        </p:nvSpPr>
        <p:spPr>
          <a:xfrm>
            <a:off x="6035040" y="3106674"/>
            <a:ext cx="2606100" cy="562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BF8700"/>
                </a:solidFill>
                <a:latin typeface="Calibri"/>
                <a:ea typeface="Calibri"/>
                <a:cs typeface="Calibri"/>
                <a:sym typeface="Calibri"/>
              </a:rPr>
              <a:t>$0.62</a:t>
            </a:r>
            <a:endParaRPr b="1" i="0" sz="3000">
              <a:solidFill>
                <a:srgbClr val="BF87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 txBox="1"/>
          <p:nvPr/>
        </p:nvSpPr>
        <p:spPr>
          <a:xfrm>
            <a:off x="6117336" y="3669030"/>
            <a:ext cx="2441400" cy="37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cost to run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per month, all Azure</a:t>
            </a:r>
            <a:endParaRPr b="1" i="0" sz="12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5"/>
          <p:cNvSpPr txBox="1"/>
          <p:nvPr/>
        </p:nvSpPr>
        <p:spPr>
          <a:xfrm>
            <a:off x="508800" y="4375375"/>
            <a:ext cx="8126400" cy="61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i="0"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Roughly a 5,000x return. </a:t>
            </a:r>
            <a:endParaRPr i="0"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4325" lvl="0" marL="457200" rtl="0" algn="l">
              <a:spcBef>
                <a:spcPts val="0"/>
              </a:spcBef>
              <a:spcAft>
                <a:spcPts val="0"/>
              </a:spcAft>
              <a:buClr>
                <a:srgbClr val="1F2933"/>
              </a:buClr>
              <a:buSzPts val="1350"/>
              <a:buFont typeface="Calibri"/>
              <a:buChar char="●"/>
            </a:pPr>
            <a:r>
              <a:rPr i="0" lang="en" sz="1350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Across Virginia's 326 public institutions on the quarterly cycle SEC530 already requires: 26,000–90,000 analyst hours a year returned to actual security work.</a:t>
            </a:r>
            <a:endParaRPr i="0" sz="1350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6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FEASIBILITY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6"/>
          <p:cNvSpPr txBox="1"/>
          <p:nvPr/>
        </p:nvSpPr>
        <p:spPr>
          <a:xfrm>
            <a:off x="480060" y="30861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This is running today, not a prototype sketch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6"/>
          <p:cNvSpPr/>
          <p:nvPr/>
        </p:nvSpPr>
        <p:spPr>
          <a:xfrm>
            <a:off x="514350" y="104775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6"/>
          <p:cNvSpPr txBox="1"/>
          <p:nvPr/>
        </p:nvSpPr>
        <p:spPr>
          <a:xfrm>
            <a:off x="514350" y="108585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i="0" sz="1000" u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6"/>
          <p:cNvSpPr txBox="1"/>
          <p:nvPr/>
        </p:nvSpPr>
        <p:spPr>
          <a:xfrm>
            <a:off x="925830" y="1047750"/>
            <a:ext cx="17145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Real data</a:t>
            </a:r>
            <a:endParaRPr b="1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6"/>
          <p:cNvSpPr txBox="1"/>
          <p:nvPr/>
        </p:nvSpPr>
        <p:spPr>
          <a:xfrm>
            <a:off x="2674620" y="1009650"/>
            <a:ext cx="59664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164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CISA's published ScubaGear assessment</a:t>
            </a:r>
            <a:r>
              <a:rPr lang="en" sz="1164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i="0" lang="en" sz="1164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" sz="1164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a genuine redacted run, CC0 licensed. Any tenant's own ScubaResults file runs the same parser, transformers and validator</a:t>
            </a:r>
            <a:r>
              <a:rPr lang="en" sz="1164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0" lang="en" sz="1164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 there is no separate demo path.</a:t>
            </a:r>
            <a:endParaRPr i="0" sz="1164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6"/>
          <p:cNvSpPr/>
          <p:nvPr/>
        </p:nvSpPr>
        <p:spPr>
          <a:xfrm>
            <a:off x="514350" y="1762125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6"/>
          <p:cNvSpPr txBox="1"/>
          <p:nvPr/>
        </p:nvSpPr>
        <p:spPr>
          <a:xfrm>
            <a:off x="514350" y="1800225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i="0" sz="1000" u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6"/>
          <p:cNvSpPr txBox="1"/>
          <p:nvPr/>
        </p:nvSpPr>
        <p:spPr>
          <a:xfrm>
            <a:off x="925830" y="1762125"/>
            <a:ext cx="17145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Real validation</a:t>
            </a:r>
            <a:endParaRPr b="1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6"/>
          <p:cNvSpPr txBox="1"/>
          <p:nvPr/>
        </p:nvSpPr>
        <p:spPr>
          <a:xfrm>
            <a:off x="2674620" y="1724025"/>
            <a:ext cx="59664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NIST oscal-cli in CI. The build fails if any document stops validating.</a:t>
            </a:r>
            <a:endParaRPr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514350" y="24765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6"/>
          <p:cNvSpPr txBox="1"/>
          <p:nvPr/>
        </p:nvSpPr>
        <p:spPr>
          <a:xfrm>
            <a:off x="514350" y="25146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i="0" sz="1000" u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6"/>
          <p:cNvSpPr txBox="1"/>
          <p:nvPr/>
        </p:nvSpPr>
        <p:spPr>
          <a:xfrm>
            <a:off x="925830" y="2476500"/>
            <a:ext cx="17145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Real deployment</a:t>
            </a:r>
            <a:endParaRPr b="1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6"/>
          <p:cNvSpPr txBox="1"/>
          <p:nvPr/>
        </p:nvSpPr>
        <p:spPr>
          <a:xfrm>
            <a:off x="2674620" y="2438400"/>
            <a:ext cx="59664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Microsoft Foundry project in eastus2, gpt-5-mini, keyless auth. Provisioned and answering.</a:t>
            </a:r>
            <a:endParaRPr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514350" y="3190875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6"/>
          <p:cNvSpPr txBox="1"/>
          <p:nvPr/>
        </p:nvSpPr>
        <p:spPr>
          <a:xfrm>
            <a:off x="514350" y="3228975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1" i="0" sz="1000" u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6"/>
          <p:cNvSpPr txBox="1"/>
          <p:nvPr/>
        </p:nvSpPr>
        <p:spPr>
          <a:xfrm>
            <a:off x="925830" y="3190875"/>
            <a:ext cx="17145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Reproducible</a:t>
            </a:r>
            <a:endParaRPr b="1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6"/>
          <p:cNvSpPr txBox="1"/>
          <p:nvPr/>
        </p:nvSpPr>
        <p:spPr>
          <a:xfrm>
            <a:off x="2674620" y="3152775"/>
            <a:ext cx="59664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From a clean clone: Install, then two commands, generate and validate, reproduce every artifact byte-for-byte, fully offline. Every document carries the SHA-256 of each input inside its own metadata, so an artifact can be tied back to the exact scan that produced it.</a:t>
            </a:r>
            <a:endParaRPr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6"/>
          <p:cNvSpPr/>
          <p:nvPr/>
        </p:nvSpPr>
        <p:spPr>
          <a:xfrm>
            <a:off x="514350" y="4048125"/>
            <a:ext cx="288000" cy="288000"/>
          </a:xfrm>
          <a:prstGeom prst="ellipse">
            <a:avLst/>
          </a:prstGeom>
          <a:solidFill>
            <a:srgbClr val="FFF1CC"/>
          </a:solidFill>
          <a:ln cap="flat" cmpd="sng" w="12700">
            <a:solidFill>
              <a:srgbClr val="FFE2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6"/>
          <p:cNvSpPr txBox="1"/>
          <p:nvPr/>
        </p:nvSpPr>
        <p:spPr>
          <a:xfrm>
            <a:off x="514350" y="4086225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strike="noStrike">
                <a:solidFill>
                  <a:srgbClr val="8A5A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 b="1" i="0" sz="1000" u="none" strike="noStrike">
              <a:solidFill>
                <a:srgbClr val="8A5A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6"/>
          <p:cNvSpPr txBox="1"/>
          <p:nvPr/>
        </p:nvSpPr>
        <p:spPr>
          <a:xfrm>
            <a:off x="925830" y="4048125"/>
            <a:ext cx="17145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Honest about limits</a:t>
            </a:r>
            <a:endParaRPr b="1" i="0" sz="130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 txBox="1"/>
          <p:nvPr/>
        </p:nvSpPr>
        <p:spPr>
          <a:xfrm>
            <a:off x="2674620" y="4010025"/>
            <a:ext cx="59664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0" lang="en" sz="1250" u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oscal-cli has no mapping command yet, so that document is JSON-Schema validated only. We report cli:n/a rather than implying more.</a:t>
            </a:r>
            <a:endParaRPr i="0" sz="1250" u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7"/>
          <p:cNvSpPr txBox="1"/>
          <p:nvPr/>
        </p:nvSpPr>
        <p:spPr>
          <a:xfrm>
            <a:off x="480060" y="137160"/>
            <a:ext cx="81609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896"/>
              </a:buClr>
              <a:buSzPts val="900"/>
              <a:buFont typeface="Calibri"/>
              <a:buNone/>
            </a:pPr>
            <a:r>
              <a:rPr b="1" i="0" lang="en" sz="1600" u="none" cap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KEY LEARNINGS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7"/>
          <p:cNvSpPr txBox="1"/>
          <p:nvPr/>
        </p:nvSpPr>
        <p:spPr>
          <a:xfrm>
            <a:off x="480060" y="308610"/>
            <a:ext cx="8160900" cy="61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0212F"/>
              </a:buClr>
              <a:buSzPts val="2600"/>
              <a:buFont typeface="Cambria"/>
              <a:buNone/>
            </a:pPr>
            <a:r>
              <a:rPr b="1" i="0" lang="en" sz="2600" u="none" cap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What building it taught us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7"/>
          <p:cNvSpPr/>
          <p:nvPr/>
        </p:nvSpPr>
        <p:spPr>
          <a:xfrm>
            <a:off x="514350" y="10600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7"/>
          <p:cNvSpPr txBox="1"/>
          <p:nvPr/>
        </p:nvSpPr>
        <p:spPr>
          <a:xfrm>
            <a:off x="514350" y="10981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000" u="none" cap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7"/>
          <p:cNvSpPr txBox="1"/>
          <p:nvPr/>
        </p:nvSpPr>
        <p:spPr>
          <a:xfrm>
            <a:off x="925830" y="1094200"/>
            <a:ext cx="21501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Grounding beats prompting</a:t>
            </a:r>
            <a:endParaRPr b="1" i="0" sz="13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7"/>
          <p:cNvSpPr txBox="1"/>
          <p:nvPr/>
        </p:nvSpPr>
        <p:spPr>
          <a:xfrm>
            <a:off x="3160000" y="1000000"/>
            <a:ext cx="54801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Same model, same 15 questions: giving it tools over validated OSCAL took accuracy from 80% to 100% and invented identifiers from 6 to 0. Architecture did what no prompt could.</a:t>
            </a:r>
            <a:endParaRPr b="0" i="0" sz="125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7"/>
          <p:cNvSpPr/>
          <p:nvPr/>
        </p:nvSpPr>
        <p:spPr>
          <a:xfrm>
            <a:off x="514350" y="17900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7"/>
          <p:cNvSpPr txBox="1"/>
          <p:nvPr/>
        </p:nvSpPr>
        <p:spPr>
          <a:xfrm>
            <a:off x="514350" y="18281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1" i="0" sz="1000" u="none" cap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7"/>
          <p:cNvSpPr txBox="1"/>
          <p:nvPr/>
        </p:nvSpPr>
        <p:spPr>
          <a:xfrm>
            <a:off x="925830" y="1824200"/>
            <a:ext cx="21501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Look it up, don't generate it</a:t>
            </a:r>
            <a:endParaRPr b="1" i="0" sz="13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7"/>
          <p:cNvSpPr txBox="1"/>
          <p:nvPr/>
        </p:nvSpPr>
        <p:spPr>
          <a:xfrm>
            <a:off x="3160000" y="1730000"/>
            <a:ext cx="54801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CISA's own crosswalk resolved 89 of 92 mappings deterministically. Keeping the model for judgement, not lookup, is what made the output auditable.</a:t>
            </a:r>
            <a:endParaRPr b="0" i="0" sz="125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7"/>
          <p:cNvSpPr/>
          <p:nvPr/>
        </p:nvSpPr>
        <p:spPr>
          <a:xfrm>
            <a:off x="514350" y="25200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7"/>
          <p:cNvSpPr txBox="1"/>
          <p:nvPr/>
        </p:nvSpPr>
        <p:spPr>
          <a:xfrm>
            <a:off x="514350" y="25581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000" u="none" cap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925830" y="2554200"/>
            <a:ext cx="21501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Schema-valid isn't enough</a:t>
            </a:r>
            <a:endParaRPr b="1" i="0" sz="13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7"/>
          <p:cNvSpPr txBox="1"/>
          <p:nvPr/>
        </p:nvSpPr>
        <p:spPr>
          <a:xfrm>
            <a:off x="3160000" y="2460000"/>
            <a:ext cx="54801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JSON Schema checks structure only. NIST's Metaschema also enforces cardinality and cross-references, so we made oscal-cli a CI gate.</a:t>
            </a:r>
            <a:endParaRPr b="0" i="0" sz="125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7"/>
          <p:cNvSpPr/>
          <p:nvPr/>
        </p:nvSpPr>
        <p:spPr>
          <a:xfrm>
            <a:off x="514350" y="32500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7"/>
          <p:cNvSpPr txBox="1"/>
          <p:nvPr/>
        </p:nvSpPr>
        <p:spPr>
          <a:xfrm>
            <a:off x="514350" y="32881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1" i="0" sz="1000" u="none" cap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7"/>
          <p:cNvSpPr txBox="1"/>
          <p:nvPr/>
        </p:nvSpPr>
        <p:spPr>
          <a:xfrm>
            <a:off x="925830" y="3284200"/>
            <a:ext cx="21501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IDs drift, meaning doesn't</a:t>
            </a:r>
            <a:endParaRPr b="1" i="0" sz="13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7"/>
          <p:cNvSpPr txBox="1"/>
          <p:nvPr/>
        </p:nvSpPr>
        <p:spPr>
          <a:xfrm>
            <a:off x="3160000" y="3190000"/>
            <a:ext cx="54801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One baseline renumbering produced 26 phantom findings. Consuming CISA's migration table turned drift into something a report can trust.</a:t>
            </a:r>
            <a:endParaRPr b="0" i="0" sz="125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/>
          <p:nvPr/>
        </p:nvSpPr>
        <p:spPr>
          <a:xfrm>
            <a:off x="514350" y="3980000"/>
            <a:ext cx="288000" cy="288000"/>
          </a:xfrm>
          <a:prstGeom prst="ellipse">
            <a:avLst/>
          </a:prstGeom>
          <a:solidFill>
            <a:srgbClr val="E8F6EF"/>
          </a:solidFill>
          <a:ln cap="flat" cmpd="sng" w="12700">
            <a:solidFill>
              <a:srgbClr val="C3E9D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7"/>
          <p:cNvSpPr txBox="1"/>
          <p:nvPr/>
        </p:nvSpPr>
        <p:spPr>
          <a:xfrm>
            <a:off x="514350" y="4018100"/>
            <a:ext cx="288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" sz="1000" u="none" cap="none" strike="noStrike">
                <a:solidFill>
                  <a:srgbClr val="30A46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1" i="0" sz="1000" u="none" cap="none" strike="noStrike">
              <a:solidFill>
                <a:srgbClr val="30A46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7"/>
          <p:cNvSpPr txBox="1"/>
          <p:nvPr/>
        </p:nvSpPr>
        <p:spPr>
          <a:xfrm>
            <a:off x="925830" y="4014200"/>
            <a:ext cx="2150100" cy="2196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" sz="130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Research before building</a:t>
            </a:r>
            <a:endParaRPr b="1" i="0" sz="130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17"/>
          <p:cNvSpPr txBox="1"/>
          <p:nvPr/>
        </p:nvSpPr>
        <p:spPr>
          <a:xfrm>
            <a:off x="3160000" y="3920000"/>
            <a:ext cx="5480100" cy="51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" sz="1250" u="none" cap="none" strike="noStrike">
                <a:solidFill>
                  <a:srgbClr val="1F2933"/>
                </a:solidFill>
                <a:latin typeface="Calibri"/>
                <a:ea typeface="Calibri"/>
                <a:cs typeface="Calibri"/>
                <a:sym typeface="Calibri"/>
              </a:rPr>
              <a:t>CISA's abandoned oscal-exploration branch showed us exactly where the gap was, and what not to rebuild.</a:t>
            </a:r>
            <a:endParaRPr b="0" i="0" sz="1250" u="none" cap="none" strike="noStrike">
              <a:solidFill>
                <a:srgbClr val="1F29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"/>
          <p:cNvSpPr txBox="1"/>
          <p:nvPr/>
        </p:nvSpPr>
        <p:spPr>
          <a:xfrm>
            <a:off x="617220" y="349160"/>
            <a:ext cx="7680900" cy="10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900" u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CISA built the scanner.</a:t>
            </a:r>
            <a:r>
              <a:rPr b="1" lang="en" sz="2900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rPr b="1" i="0" lang="en" sz="2900" u="none" strike="noStrike">
                <a:solidFill>
                  <a:srgbClr val="10212F"/>
                </a:solidFill>
                <a:latin typeface="Cambria"/>
                <a:ea typeface="Cambria"/>
                <a:cs typeface="Cambria"/>
                <a:sym typeface="Cambria"/>
              </a:rPr>
              <a:t>We built everything after it.</a:t>
            </a:r>
            <a:endParaRPr b="1" i="0" sz="2900" u="none" strike="noStrike">
              <a:solidFill>
                <a:srgbClr val="10212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410" name="Google Shape;410;p18"/>
          <p:cNvSpPr txBox="1"/>
          <p:nvPr/>
        </p:nvSpPr>
        <p:spPr>
          <a:xfrm>
            <a:off x="617220" y="1523265"/>
            <a:ext cx="7406700" cy="857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complete, validated OSCAL chain for Microsoft 365 mappings that is provably faithful to CISA’s own crosswalk, with drift that survives a baseline version change and exemptions an auditor can query.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AI layer that cannot invent a compliance fact, with every finding for a Commonwealth institution also traced to SEC530.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8"/>
          <p:cNvSpPr txBox="1"/>
          <p:nvPr/>
        </p:nvSpPr>
        <p:spPr>
          <a:xfrm>
            <a:off x="617220" y="2948940"/>
            <a:ext cx="1851600" cy="44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1" i="0" sz="2600" u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8"/>
          <p:cNvSpPr txBox="1"/>
          <p:nvPr/>
        </p:nvSpPr>
        <p:spPr>
          <a:xfrm>
            <a:off x="617220" y="3394710"/>
            <a:ext cx="1851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OSCAL documents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NIST-validated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8"/>
          <p:cNvSpPr txBox="1"/>
          <p:nvPr/>
        </p:nvSpPr>
        <p:spPr>
          <a:xfrm>
            <a:off x="2640330" y="2948940"/>
            <a:ext cx="1851600" cy="44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89/92</a:t>
            </a:r>
            <a:endParaRPr b="1" i="0" sz="2600" u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8"/>
          <p:cNvSpPr txBox="1"/>
          <p:nvPr/>
        </p:nvSpPr>
        <p:spPr>
          <a:xfrm>
            <a:off x="2640330" y="3394710"/>
            <a:ext cx="1851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mappings deterministic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AI guessing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8"/>
          <p:cNvSpPr txBox="1"/>
          <p:nvPr/>
        </p:nvSpPr>
        <p:spPr>
          <a:xfrm>
            <a:off x="4663440" y="2948940"/>
            <a:ext cx="1851600" cy="44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26</a:t>
            </a:r>
            <a:endParaRPr b="1" i="0" sz="2600" u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4663440" y="3394710"/>
            <a:ext cx="1851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false findings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eliminated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8"/>
          <p:cNvSpPr txBox="1"/>
          <p:nvPr/>
        </p:nvSpPr>
        <p:spPr>
          <a:xfrm>
            <a:off x="6686550" y="2948940"/>
            <a:ext cx="1851600" cy="44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strike="noStrike">
                <a:solidFill>
                  <a:srgbClr val="00A896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1" i="0" sz="2600" u="none" strike="noStrike">
              <a:solidFill>
                <a:srgbClr val="00A8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8"/>
          <p:cNvSpPr txBox="1"/>
          <p:nvPr/>
        </p:nvSpPr>
        <p:spPr>
          <a:xfrm>
            <a:off x="6686550" y="3394710"/>
            <a:ext cx="18516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accuracy</a:t>
            </a:r>
            <a:endParaRPr b="0" i="0" sz="1200" u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8"/>
          <p:cNvSpPr txBox="1"/>
          <p:nvPr/>
        </p:nvSpPr>
        <p:spPr>
          <a:xfrm>
            <a:off x="617220" y="4080510"/>
            <a:ext cx="76809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GitHub: </a:t>
            </a:r>
            <a:r>
              <a:rPr b="1" i="0" lang="en" sz="1300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4"/>
              </a:rPr>
              <a:t>https://github.com/saleha-muzammil/microsoft-sec</a:t>
            </a:r>
            <a:br>
              <a:rPr b="1" lang="en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endParaRPr b="1" i="0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9"/>
          <p:cNvSpPr txBox="1"/>
          <p:nvPr/>
        </p:nvSpPr>
        <p:spPr>
          <a:xfrm>
            <a:off x="0" y="4859045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6" name="Google Shape;426;p19"/>
          <p:cNvSpPr txBox="1"/>
          <p:nvPr/>
        </p:nvSpPr>
        <p:spPr>
          <a:xfrm>
            <a:off x="37500" y="146801"/>
            <a:ext cx="9069000" cy="8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chemeClr val="dk1"/>
                </a:solidFill>
              </a:rPr>
              <a:t>Thankyou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427" name="Google Shape;427;p19"/>
          <p:cNvSpPr txBox="1"/>
          <p:nvPr/>
        </p:nvSpPr>
        <p:spPr>
          <a:xfrm>
            <a:off x="6204000" y="3849125"/>
            <a:ext cx="29400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Mughees Ur Rehman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Virginia Tech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28" name="Google Shape;42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88625" y="1538175"/>
            <a:ext cx="2310950" cy="23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19"/>
          <p:cNvPicPr preferRelativeResize="0"/>
          <p:nvPr/>
        </p:nvPicPr>
        <p:blipFill rotWithShape="1">
          <a:blip r:embed="rId4">
            <a:alphaModFix/>
          </a:blip>
          <a:srcRect b="7130" l="7458" r="7990" t="8096"/>
          <a:stretch/>
        </p:blipFill>
        <p:spPr>
          <a:xfrm>
            <a:off x="586925" y="1733850"/>
            <a:ext cx="1914625" cy="19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30" name="Google Shape;430;p19"/>
          <p:cNvSpPr txBox="1"/>
          <p:nvPr/>
        </p:nvSpPr>
        <p:spPr>
          <a:xfrm>
            <a:off x="182825" y="3727238"/>
            <a:ext cx="2940000" cy="83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Saleha Muzammil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University of Virginia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431" name="Google Shape;43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22826" y="1666875"/>
            <a:ext cx="2786299" cy="1024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