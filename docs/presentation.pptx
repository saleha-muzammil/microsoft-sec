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Matching by identifier</c:v>
                </c:pt>
              </c:strCache>
            </c:strRef>
          </c:tx>
          <c:spPr>
            <a:solidFill>
              <a:srgbClr val="E5484D"/>
            </a:solidFill>
            <a:effectLst/>
          </c:spPr>
          <c:invertIfNegative val="0"/>
          <c:dLbls>
            <c:numFmt formatCode="#,##0" sourceLinked="0"/>
            <c:txPr>
              <a:bodyPr/>
              <a:lstStyle/>
              <a:p>
                <a:pPr>
                  <a:defRPr b="1"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Phantom
new findings</c:v>
                  </c:pt>
                  <c:pt idx="1">
                    <c:v>Phantom
resolved findings</c:v>
                  </c:pt>
                  <c:pt idx="2">
                    <c:v>Renumberings
recognised</c:v>
                  </c:pt>
                </c:lvl>
              </c:multiLvlStrCache>
            </c:multiLvlStrRef>
          </c:cat>
          <c:val>
            <c:numRef>
              <c:f>Sheet1!$B$2:$B$4</c:f>
              <c:numCache>
                <c:formatCode>General</c:formatCode>
                <c:ptCount val="3"/>
                <c:pt idx="0">
                  <c:v>13</c:v>
                </c:pt>
                <c:pt idx="1">
                  <c:v>13</c:v>
                </c:pt>
                <c:pt idx="2">
                  <c:v>0</c:v>
                </c:pt>
              </c:numCache>
            </c:numRef>
          </c:val>
        </c:ser>
        <c:ser>
          <c:idx val="1"/>
          <c:order val="1"/>
          <c:tx>
            <c:strRef>
              <c:f>Sheet1!$C$1</c:f>
              <c:strCache>
                <c:ptCount val="1"/>
                <c:pt idx="0">
                  <c:v>Version-aware (ours)</c:v>
                </c:pt>
              </c:strCache>
            </c:strRef>
          </c:tx>
          <c:spPr>
            <a:solidFill>
              <a:srgbClr val="30A46C"/>
            </a:solidFill>
            <a:effectLst/>
          </c:spPr>
          <c:invertIfNegative val="0"/>
          <c:dLbls>
            <c:numFmt formatCode="#,##0" sourceLinked="0"/>
            <c:txPr>
              <a:bodyPr/>
              <a:lstStyle/>
              <a:p>
                <a:pPr>
                  <a:defRPr b="1"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Phantom
new findings</c:v>
                  </c:pt>
                  <c:pt idx="1">
                    <c:v>Phantom
resolved findings</c:v>
                  </c:pt>
                  <c:pt idx="2">
                    <c:v>Renumberings
recognised</c:v>
                  </c:pt>
                </c:lvl>
              </c:multiLvlStrCache>
            </c:multiLvlStrRef>
          </c:cat>
          <c:val>
            <c:numRef>
              <c:f>Sheet1!$C$2:$C$4</c:f>
              <c:numCache>
                <c:formatCode>General</c:formatCode>
                <c:ptCount val="3"/>
                <c:pt idx="0">
                  <c:v>0</c:v>
                </c:pt>
                <c:pt idx="1">
                  <c:v>0</c:v>
                </c:pt>
                <c:pt idx="2">
                  <c:v>13</c:v>
                </c:pt>
              </c:numCache>
            </c:numRef>
          </c:val>
        </c:ser>
        <c:dLbls>
          <c:numFmt formatCode="#,##0" sourceLinked="0"/>
          <c:txPr>
            <a:bodyPr/>
            <a:lstStyle/>
            <a:p>
              <a:pPr>
                <a:defRPr b="1"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6B7B"/>
                </a:solidFill>
                <a:latin typeface="Arial"/>
              </a:defRPr>
            </a:pPr>
            <a:endParaRPr lang="en-US"/>
          </a:p>
        </c:txPr>
        <c:crossAx val="2094734552"/>
        <c:crosses val="autoZero"/>
        <c:auto val="1"/>
        <c:lblAlgn val="ctr"/>
        <c:noMultiLvlLbl val="1"/>
      </c:catAx>
      <c:valAx>
        <c:axId val="2094734552"/>
        <c:scaling>
          <c:orientation val="minMax"/>
          <c:max val="16"/>
        </c:scaling>
        <c:delete val="0"/>
        <c:axPos val="l"/>
        <c:majorGridlines>
          <c:spPr>
            <a:ln w="12700" cap="flat">
              <a:solidFill>
                <a:srgbClr val="EDF1F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B7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We took the SCuBA/OSCAL challenge. Three numbers to remember: eight validated OSCAL documents, 100% eval accuracy, and 26 false findings that existing approaches produce and we eliminate.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is not detection — CISA solved that. The gap is everything after detection. And BOD 25-01 makes it mandatory, so this work is not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researched prior art first. CISA tried this and abandoned it. That is our opening, and it is evidenced by their own README rather than asserted by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decision: parsing and OSCAL generation are plain typed Python. AI is layered on top where judgement helps, and is structurally prevented from touching the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these — component-definition, SSP and POA&amp;M — are the ones CISA marked TODO. Passing JSON Schema is necessary but not sufficient; Metaschema enforces cardinality and cross-reference resolution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difference between a tool you can audit and one you have to trust. 97% deterministic from CISA's own published data; the remaining 3 are reported as unmapped — never inferred by 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technical insight, not a feature list item. Every drift tool we found compares run-to-run by ID and would get this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audits of the compliance number itself. Left: exemptions are the denominator nobody checks, and we make them OSCAL risks with a status. Right: ranking by attack coverage genuinely disagrees with ranking by SHALL/SHOULD.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contest is for Virginia, and this is the slide that earns that. A Virginia institution otherwise works this out by hand, per finding, per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specialists share one grounding rule. The guardrails are architectural: agents have no access to data, only to tools that read validated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beat that converts restraint into measured superiority. We are not claiming the model is dangerous - we are showing what the obvious implementation actually does, with the same model and the same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give a band, not a number, and every assumption is a slider in the app. Judges do not have to accept our inputs - they can change them. The measured column needs no assumption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Feasibility is demonstrated rather than argued. Everything on this slide can be checked from the repository in a few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framing that makes the contribution legible: CISA built detection, we built the compliance layer that turns detection into an auditable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A2F"/>
        </a:solidFill>
      </p:bgPr>
    </p:bg>
    <p:spTree>
      <p:nvGrpSpPr>
        <p:cNvPr id="1" name=""/>
        <p:cNvGrpSpPr/>
        <p:nvPr/>
      </p:nvGrpSpPr>
      <p:grpSpPr>
        <a:xfrm>
          <a:off x="0" y="0"/>
          <a:ext cx="0" cy="0"/>
          <a:chOff x="0" y="0"/>
          <a:chExt cx="0" cy="0"/>
        </a:xfrm>
      </p:grpSpPr>
      <p:sp>
        <p:nvSpPr>
          <p:cNvPr id="2" name="Shape 0"/>
          <p:cNvSpPr/>
          <p:nvPr/>
        </p:nvSpPr>
        <p:spPr>
          <a:xfrm>
            <a:off x="9692640" y="-1371600"/>
            <a:ext cx="4754880" cy="4754880"/>
          </a:xfrm>
          <a:prstGeom prst="ellipse">
            <a:avLst/>
          </a:prstGeom>
          <a:solidFill>
            <a:srgbClr val="14304F"/>
          </a:solidFill>
          <a:ln/>
        </p:spPr>
      </p:sp>
      <p:sp>
        <p:nvSpPr>
          <p:cNvPr id="3" name="Shape 1"/>
          <p:cNvSpPr/>
          <p:nvPr/>
        </p:nvSpPr>
        <p:spPr>
          <a:xfrm>
            <a:off x="10881360" y="4937760"/>
            <a:ext cx="2560320" cy="2560320"/>
          </a:xfrm>
          <a:prstGeom prst="ellipse">
            <a:avLst/>
          </a:prstGeom>
          <a:solidFill>
            <a:srgbClr val="14304F"/>
          </a:solidFill>
          <a:ln/>
        </p:spPr>
      </p:sp>
      <p:sp>
        <p:nvSpPr>
          <p:cNvPr id="4" name="Text 2"/>
          <p:cNvSpPr txBox="1"/>
          <p:nvPr/>
        </p:nvSpPr>
        <p:spPr>
          <a:xfrm>
            <a:off x="822960" y="1371600"/>
            <a:ext cx="10058400" cy="320040"/>
          </a:xfrm>
          <a:prstGeom prst="rect">
            <a:avLst/>
          </a:prstGeom>
          <a:noFill/>
          <a:ln/>
        </p:spPr>
        <p:txBody>
          <a:bodyPr wrap="square" lIns="0" tIns="0" rIns="0" bIns="0" rtlCol="0" anchor="ctr"/>
          <a:lstStyle/>
          <a:p>
            <a:pPr indent="0" marL="0">
              <a:buNone/>
            </a:pPr>
            <a:r>
              <a:rPr lang="en-US" sz="1200" b="1" spc="200" kern="0" dirty="0">
                <a:solidFill>
                  <a:srgbClr val="3FC1C9"/>
                </a:solidFill>
                <a:latin typeface="Calibri" pitchFamily="34" charset="0"/>
                <a:ea typeface="Calibri" pitchFamily="34" charset="-122"/>
                <a:cs typeface="Calibri" pitchFamily="34" charset="-120"/>
              </a:rPr>
              <a:t>MICROSOFT &amp; CCI INNOVATION CHALLENGE FOR VIRGINIA</a:t>
            </a:r>
            <a:endParaRPr lang="en-US" sz="1200" dirty="0"/>
          </a:p>
        </p:txBody>
      </p:sp>
      <p:sp>
        <p:nvSpPr>
          <p:cNvPr id="5" name="Text 3"/>
          <p:cNvSpPr txBox="1"/>
          <p:nvPr/>
        </p:nvSpPr>
        <p:spPr>
          <a:xfrm>
            <a:off x="822960" y="1828800"/>
            <a:ext cx="10241280" cy="100584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SCuBA Compliance Copilot</a:t>
            </a:r>
            <a:endParaRPr lang="en-US" sz="5200" dirty="0"/>
          </a:p>
        </p:txBody>
      </p:sp>
      <p:sp>
        <p:nvSpPr>
          <p:cNvPr id="6" name="Text 4"/>
          <p:cNvSpPr txBox="1"/>
          <p:nvPr/>
        </p:nvSpPr>
        <p:spPr>
          <a:xfrm>
            <a:off x="822960" y="2880360"/>
            <a:ext cx="9692640" cy="914400"/>
          </a:xfrm>
          <a:prstGeom prst="rect">
            <a:avLst/>
          </a:prstGeom>
          <a:noFill/>
          <a:ln/>
        </p:spPr>
        <p:txBody>
          <a:bodyPr wrap="square" lIns="0" tIns="0" rIns="0" bIns="0" rtlCol="0" anchor="ctr"/>
          <a:lstStyle/>
          <a:p>
            <a:pPr indent="0" marL="0">
              <a:lnSpc>
                <a:spcPts val="2600"/>
              </a:lnSpc>
              <a:buNone/>
            </a:pPr>
            <a:r>
              <a:rPr lang="en-US" sz="1700" dirty="0">
                <a:solidFill>
                  <a:srgbClr val="C6D4E0"/>
                </a:solidFill>
                <a:latin typeface="Calibri" pitchFamily="34" charset="0"/>
                <a:ea typeface="Calibri" pitchFamily="34" charset="-122"/>
                <a:cs typeface="Calibri" pitchFamily="34" charset="-120"/>
              </a:rPr>
              <a:t>Turning CISA's SCuBA baselines and ScubaGear assessments into validated OSCAL —</a:t>
            </a:r>
            <a:endParaRPr lang="en-US" sz="1700" dirty="0"/>
          </a:p>
          <a:p>
            <a:pPr indent="0" marL="0">
              <a:lnSpc>
                <a:spcPts val="2600"/>
              </a:lnSpc>
              <a:buNone/>
            </a:pPr>
            <a:r>
              <a:rPr lang="en-US" sz="1700" dirty="0">
                <a:solidFill>
                  <a:srgbClr val="C6D4E0"/>
                </a:solidFill>
                <a:latin typeface="Calibri" pitchFamily="34" charset="0"/>
                <a:ea typeface="Calibri" pitchFamily="34" charset="-122"/>
                <a:cs typeface="Calibri" pitchFamily="34" charset="-120"/>
              </a:rPr>
              <a:t>with an AI layer that cannot invent a compliance fact.</a:t>
            </a:r>
            <a:endParaRPr lang="en-US" sz="1700" dirty="0"/>
          </a:p>
        </p:txBody>
      </p:sp>
      <p:sp>
        <p:nvSpPr>
          <p:cNvPr id="7" name="Text 5"/>
          <p:cNvSpPr txBox="1"/>
          <p:nvPr/>
        </p:nvSpPr>
        <p:spPr>
          <a:xfrm>
            <a:off x="822960" y="4069080"/>
            <a:ext cx="10058400" cy="365760"/>
          </a:xfrm>
          <a:prstGeom prst="rect">
            <a:avLst/>
          </a:prstGeom>
          <a:noFill/>
          <a:ln/>
        </p:spPr>
        <p:txBody>
          <a:bodyPr wrap="square" lIns="0" tIns="0" rIns="0" bIns="0" rtlCol="0" anchor="ctr"/>
          <a:lstStyle/>
          <a:p>
            <a:pPr indent="0" marL="0">
              <a:buNone/>
            </a:pPr>
            <a:r>
              <a:rPr lang="en-US" sz="1150" i="1" dirty="0">
                <a:solidFill>
                  <a:srgbClr val="3FC1C9"/>
                </a:solidFill>
                <a:latin typeface="Calibri" pitchFamily="34" charset="0"/>
                <a:ea typeface="Calibri" pitchFamily="34" charset="-122"/>
                <a:cs typeface="Calibri" pitchFamily="34" charset="-120"/>
              </a:rPr>
              <a:t>Challenge: SCuBA Security Application — OSCAL-based representation of SCuBA baseline content and assessment results</a:t>
            </a:r>
            <a:endParaRPr lang="en-US" sz="1150" dirty="0"/>
          </a:p>
        </p:txBody>
      </p:sp>
      <p:sp>
        <p:nvSpPr>
          <p:cNvPr id="8" name="Text 6"/>
          <p:cNvSpPr txBox="1"/>
          <p:nvPr/>
        </p:nvSpPr>
        <p:spPr>
          <a:xfrm>
            <a:off x="822960" y="4800600"/>
            <a:ext cx="2926080" cy="548640"/>
          </a:xfrm>
          <a:prstGeom prst="rect">
            <a:avLst/>
          </a:prstGeom>
          <a:noFill/>
          <a:ln/>
        </p:spPr>
        <p:txBody>
          <a:bodyPr wrap="square" lIns="0" tIns="0" rIns="0" bIns="0" rtlCol="0" anchor="ctr"/>
          <a:lstStyle/>
          <a:p>
            <a:pPr indent="0" marL="0">
              <a:buNone/>
            </a:pPr>
            <a:r>
              <a:rPr lang="en-US" sz="3200" b="1" dirty="0">
                <a:solidFill>
                  <a:srgbClr val="FFB700"/>
                </a:solidFill>
                <a:latin typeface="Calibri" pitchFamily="34" charset="0"/>
                <a:ea typeface="Calibri" pitchFamily="34" charset="-122"/>
                <a:cs typeface="Calibri" pitchFamily="34" charset="-120"/>
              </a:rPr>
              <a:t>8</a:t>
            </a:r>
            <a:endParaRPr lang="en-US" sz="3200" dirty="0"/>
          </a:p>
        </p:txBody>
      </p:sp>
      <p:sp>
        <p:nvSpPr>
          <p:cNvPr id="9" name="Text 7"/>
          <p:cNvSpPr txBox="1"/>
          <p:nvPr/>
        </p:nvSpPr>
        <p:spPr>
          <a:xfrm>
            <a:off x="822960" y="5349240"/>
            <a:ext cx="2926080" cy="320040"/>
          </a:xfrm>
          <a:prstGeom prst="rect">
            <a:avLst/>
          </a:prstGeom>
          <a:noFill/>
          <a:ln/>
        </p:spPr>
        <p:txBody>
          <a:bodyPr wrap="square" lIns="0" tIns="0" rIns="0" bIns="0" rtlCol="0" anchor="ctr"/>
          <a:lstStyle/>
          <a:p>
            <a:pPr indent="0" marL="0">
              <a:buNone/>
            </a:pPr>
            <a:r>
              <a:rPr lang="en-US" sz="1200" dirty="0">
                <a:solidFill>
                  <a:srgbClr val="9FB3C8"/>
                </a:solidFill>
                <a:latin typeface="Calibri" pitchFamily="34" charset="0"/>
                <a:ea typeface="Calibri" pitchFamily="34" charset="-122"/>
                <a:cs typeface="Calibri" pitchFamily="34" charset="-120"/>
              </a:rPr>
              <a:t>OSCAL documents</a:t>
            </a:r>
            <a:endParaRPr lang="en-US" sz="1200" dirty="0"/>
          </a:p>
        </p:txBody>
      </p:sp>
      <p:sp>
        <p:nvSpPr>
          <p:cNvPr id="10" name="Text 8"/>
          <p:cNvSpPr txBox="1"/>
          <p:nvPr/>
        </p:nvSpPr>
        <p:spPr>
          <a:xfrm>
            <a:off x="4023360" y="4800600"/>
            <a:ext cx="2926080" cy="548640"/>
          </a:xfrm>
          <a:prstGeom prst="rect">
            <a:avLst/>
          </a:prstGeom>
          <a:noFill/>
          <a:ln/>
        </p:spPr>
        <p:txBody>
          <a:bodyPr wrap="square" lIns="0" tIns="0" rIns="0" bIns="0" rtlCol="0" anchor="ctr"/>
          <a:lstStyle/>
          <a:p>
            <a:pPr indent="0" marL="0">
              <a:buNone/>
            </a:pPr>
            <a:r>
              <a:rPr lang="en-US" sz="3200" b="1" dirty="0">
                <a:solidFill>
                  <a:srgbClr val="FFB700"/>
                </a:solidFill>
                <a:latin typeface="Calibri" pitchFamily="34" charset="0"/>
                <a:ea typeface="Calibri" pitchFamily="34" charset="-122"/>
                <a:cs typeface="Calibri" pitchFamily="34" charset="-120"/>
              </a:rPr>
              <a:t>100%</a:t>
            </a:r>
            <a:endParaRPr lang="en-US" sz="3200" dirty="0"/>
          </a:p>
        </p:txBody>
      </p:sp>
      <p:sp>
        <p:nvSpPr>
          <p:cNvPr id="11" name="Text 9"/>
          <p:cNvSpPr txBox="1"/>
          <p:nvPr/>
        </p:nvSpPr>
        <p:spPr>
          <a:xfrm>
            <a:off x="4023360" y="5349240"/>
            <a:ext cx="2926080" cy="320040"/>
          </a:xfrm>
          <a:prstGeom prst="rect">
            <a:avLst/>
          </a:prstGeom>
          <a:noFill/>
          <a:ln/>
        </p:spPr>
        <p:txBody>
          <a:bodyPr wrap="square" lIns="0" tIns="0" rIns="0" bIns="0" rtlCol="0" anchor="ctr"/>
          <a:lstStyle/>
          <a:p>
            <a:pPr indent="0" marL="0">
              <a:buNone/>
            </a:pPr>
            <a:r>
              <a:rPr lang="en-US" sz="1200" dirty="0">
                <a:solidFill>
                  <a:srgbClr val="9FB3C8"/>
                </a:solidFill>
                <a:latin typeface="Calibri" pitchFamily="34" charset="0"/>
                <a:ea typeface="Calibri" pitchFamily="34" charset="-122"/>
                <a:cs typeface="Calibri" pitchFamily="34" charset="-120"/>
              </a:rPr>
              <a:t>eval accuracy</a:t>
            </a:r>
            <a:endParaRPr lang="en-US" sz="1200" dirty="0"/>
          </a:p>
        </p:txBody>
      </p:sp>
      <p:sp>
        <p:nvSpPr>
          <p:cNvPr id="12" name="Text 10"/>
          <p:cNvSpPr txBox="1"/>
          <p:nvPr/>
        </p:nvSpPr>
        <p:spPr>
          <a:xfrm>
            <a:off x="7223760" y="4800600"/>
            <a:ext cx="2926080" cy="548640"/>
          </a:xfrm>
          <a:prstGeom prst="rect">
            <a:avLst/>
          </a:prstGeom>
          <a:noFill/>
          <a:ln/>
        </p:spPr>
        <p:txBody>
          <a:bodyPr wrap="square" lIns="0" tIns="0" rIns="0" bIns="0" rtlCol="0" anchor="ctr"/>
          <a:lstStyle/>
          <a:p>
            <a:pPr indent="0" marL="0">
              <a:buNone/>
            </a:pPr>
            <a:r>
              <a:rPr lang="en-US" sz="3200" b="1" dirty="0">
                <a:solidFill>
                  <a:srgbClr val="FFB700"/>
                </a:solidFill>
                <a:latin typeface="Calibri" pitchFamily="34" charset="0"/>
                <a:ea typeface="Calibri" pitchFamily="34" charset="-122"/>
                <a:cs typeface="Calibri" pitchFamily="34" charset="-120"/>
              </a:rPr>
              <a:t>26</a:t>
            </a:r>
            <a:endParaRPr lang="en-US" sz="3200" dirty="0"/>
          </a:p>
        </p:txBody>
      </p:sp>
      <p:sp>
        <p:nvSpPr>
          <p:cNvPr id="13" name="Text 11"/>
          <p:cNvSpPr txBox="1"/>
          <p:nvPr/>
        </p:nvSpPr>
        <p:spPr>
          <a:xfrm>
            <a:off x="7223760" y="5349240"/>
            <a:ext cx="2926080" cy="320040"/>
          </a:xfrm>
          <a:prstGeom prst="rect">
            <a:avLst/>
          </a:prstGeom>
          <a:noFill/>
          <a:ln/>
        </p:spPr>
        <p:txBody>
          <a:bodyPr wrap="square" lIns="0" tIns="0" rIns="0" bIns="0" rtlCol="0" anchor="ctr"/>
          <a:lstStyle/>
          <a:p>
            <a:pPr indent="0" marL="0">
              <a:buNone/>
            </a:pPr>
            <a:r>
              <a:rPr lang="en-US" sz="1200" dirty="0">
                <a:solidFill>
                  <a:srgbClr val="9FB3C8"/>
                </a:solidFill>
                <a:latin typeface="Calibri" pitchFamily="34" charset="0"/>
                <a:ea typeface="Calibri" pitchFamily="34" charset="-122"/>
                <a:cs typeface="Calibri" pitchFamily="34" charset="-120"/>
              </a:rPr>
              <a:t>false findings eliminated</a:t>
            </a:r>
            <a:endParaRPr lang="en-US" sz="1200" dirty="0"/>
          </a:p>
        </p:txBody>
      </p:sp>
      <p:sp>
        <p:nvSpPr>
          <p:cNvPr id="14" name="Text 12"/>
          <p:cNvSpPr txBox="1"/>
          <p:nvPr/>
        </p:nvSpPr>
        <p:spPr>
          <a:xfrm>
            <a:off x="822960" y="6126480"/>
            <a:ext cx="10058400" cy="320040"/>
          </a:xfrm>
          <a:prstGeom prst="rect">
            <a:avLst/>
          </a:prstGeom>
          <a:noFill/>
          <a:ln/>
        </p:spPr>
        <p:txBody>
          <a:bodyPr wrap="square" lIns="0" tIns="0" rIns="0" bIns="0" rtlCol="0" anchor="ctr"/>
          <a:lstStyle/>
          <a:p>
            <a:pPr indent="0" marL="0">
              <a:buNone/>
            </a:pPr>
            <a:r>
              <a:rPr lang="en-US" sz="1200" dirty="0">
                <a:solidFill>
                  <a:srgbClr val="7E93A6"/>
                </a:solidFill>
                <a:latin typeface="Calibri" pitchFamily="34" charset="0"/>
                <a:ea typeface="Calibri" pitchFamily="34" charset="-122"/>
                <a:cs typeface="Calibri" pitchFamily="34" charset="-120"/>
              </a:rPr>
              <a:t>Virginia Tech  ·  University of Virginia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182880"/>
            <a:ext cx="1088136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640080" y="411480"/>
            <a:ext cx="10881360" cy="822960"/>
          </a:xfrm>
          <a:prstGeom prst="rect">
            <a:avLst/>
          </a:prstGeom>
          <a:noFill/>
          <a:ln/>
        </p:spPr>
        <p:txBody>
          <a:bodyPr wrap="square" lIns="0" tIns="0" rIns="0" bIns="0" rtlCol="0" anchor="ctr"/>
          <a:lstStyle/>
          <a:p>
            <a:pPr algn="l" indent="0" marL="0">
              <a:buNone/>
            </a:pPr>
            <a:r>
              <a:rPr lang="en-US" sz="3400" b="1" dirty="0">
                <a:solidFill>
                  <a:srgbClr val="10212F"/>
                </a:solidFill>
                <a:latin typeface="Cambria" pitchFamily="34" charset="0"/>
                <a:ea typeface="Cambria" pitchFamily="34" charset="-122"/>
                <a:cs typeface="Cambria" pitchFamily="34" charset="-120"/>
              </a:rPr>
              <a:t>Compliance stops where the scanner ends</a:t>
            </a:r>
            <a:endParaRPr lang="en-US" sz="3400" dirty="0"/>
          </a:p>
        </p:txBody>
      </p:sp>
      <p:sp>
        <p:nvSpPr>
          <p:cNvPr id="4" name="Text 2"/>
          <p:cNvSpPr txBox="1"/>
          <p:nvPr/>
        </p:nvSpPr>
        <p:spPr>
          <a:xfrm>
            <a:off x="640080" y="1371600"/>
            <a:ext cx="6583680" cy="731520"/>
          </a:xfrm>
          <a:prstGeom prst="rect">
            <a:avLst/>
          </a:prstGeom>
          <a:noFill/>
          <a:ln/>
        </p:spPr>
        <p:txBody>
          <a:bodyPr wrap="square" lIns="0" tIns="0" rIns="0" bIns="0" rtlCol="0" anchor="ctr"/>
          <a:lstStyle/>
          <a:p>
            <a:pPr indent="0" marL="0">
              <a:lnSpc>
                <a:spcPts val="2400"/>
              </a:lnSpc>
              <a:buNone/>
            </a:pPr>
            <a:r>
              <a:rPr lang="en-US" sz="1500" b="1" dirty="0">
                <a:solidFill>
                  <a:srgbClr val="10212F"/>
                </a:solidFill>
                <a:latin typeface="Calibri" pitchFamily="34" charset="0"/>
                <a:ea typeface="Calibri" pitchFamily="34" charset="-122"/>
                <a:cs typeface="Calibri" pitchFamily="34" charset="-120"/>
              </a:rPr>
              <a:t>CISA publishes SCuBA</a:t>
            </a:r>
            <a:pPr indent="0" marL="0">
              <a:lnSpc>
                <a:spcPts val="2400"/>
              </a:lnSpc>
              <a:buNone/>
            </a:pPr>
            <a:r>
              <a:rPr lang="en-US" sz="1500" dirty="0">
                <a:solidFill>
                  <a:srgbClr val="10212F"/>
                </a:solidFill>
                <a:latin typeface="Calibri" pitchFamily="34" charset="0"/>
                <a:ea typeface="Calibri" pitchFamily="34" charset="-122"/>
                <a:cs typeface="Calibri" pitchFamily="34" charset="-120"/>
              </a:rPr>
              <a:t> — the secure configuration baselines for Microsoft 365 — and </a:t>
            </a:r>
            <a:pPr indent="0" marL="0">
              <a:lnSpc>
                <a:spcPts val="2400"/>
              </a:lnSpc>
              <a:buNone/>
            </a:pPr>
            <a:r>
              <a:rPr lang="en-US" sz="1500" b="1" dirty="0">
                <a:solidFill>
                  <a:srgbClr val="10212F"/>
                </a:solidFill>
                <a:latin typeface="Calibri" pitchFamily="34" charset="0"/>
                <a:ea typeface="Calibri" pitchFamily="34" charset="-122"/>
                <a:cs typeface="Calibri" pitchFamily="34" charset="-120"/>
              </a:rPr>
              <a:t>ScubaGear</a:t>
            </a:r>
            <a:pPr indent="0" marL="0">
              <a:lnSpc>
                <a:spcPts val="2400"/>
              </a:lnSpc>
              <a:buNone/>
            </a:pPr>
            <a:r>
              <a:rPr lang="en-US" sz="1500" dirty="0">
                <a:solidFill>
                  <a:srgbClr val="10212F"/>
                </a:solidFill>
                <a:latin typeface="Calibri" pitchFamily="34" charset="0"/>
                <a:ea typeface="Calibri" pitchFamily="34" charset="-122"/>
                <a:cs typeface="Calibri" pitchFamily="34" charset="-120"/>
              </a:rPr>
              <a:t>, a scanner that grades a tenant against them.</a:t>
            </a:r>
            <a:endParaRPr lang="en-US" sz="1500" dirty="0"/>
          </a:p>
        </p:txBody>
      </p:sp>
      <p:sp>
        <p:nvSpPr>
          <p:cNvPr id="5" name="Text 3"/>
          <p:cNvSpPr txBox="1"/>
          <p:nvPr/>
        </p:nvSpPr>
        <p:spPr>
          <a:xfrm>
            <a:off x="640080" y="2148840"/>
            <a:ext cx="6583680" cy="548640"/>
          </a:xfrm>
          <a:prstGeom prst="rect">
            <a:avLst/>
          </a:prstGeom>
          <a:noFill/>
          <a:ln/>
        </p:spPr>
        <p:txBody>
          <a:bodyPr wrap="square" lIns="0" tIns="0" rIns="0" bIns="0" rtlCol="0" anchor="ctr"/>
          <a:lstStyle/>
          <a:p>
            <a:pPr indent="0" marL="0">
              <a:lnSpc>
                <a:spcPts val="2400"/>
              </a:lnSpc>
              <a:buNone/>
            </a:pPr>
            <a:r>
              <a:rPr lang="en-US" sz="1500" dirty="0">
                <a:solidFill>
                  <a:srgbClr val="10212F"/>
                </a:solidFill>
                <a:latin typeface="Calibri" pitchFamily="34" charset="0"/>
                <a:ea typeface="Calibri" pitchFamily="34" charset="-122"/>
                <a:cs typeface="Calibri" pitchFamily="34" charset="-120"/>
              </a:rPr>
              <a:t>But ScubaGear produces a report for a human to read — not machine-readable compliance evidence.</a:t>
            </a:r>
            <a:endParaRPr lang="en-US" sz="1500" dirty="0"/>
          </a:p>
        </p:txBody>
      </p:sp>
      <p:sp>
        <p:nvSpPr>
          <p:cNvPr id="6" name="Text 4"/>
          <p:cNvSpPr txBox="1"/>
          <p:nvPr/>
        </p:nvSpPr>
        <p:spPr>
          <a:xfrm>
            <a:off x="640080" y="2834640"/>
            <a:ext cx="6583680" cy="320040"/>
          </a:xfrm>
          <a:prstGeom prst="rect">
            <a:avLst/>
          </a:prstGeom>
          <a:noFill/>
          <a:ln/>
        </p:spPr>
        <p:txBody>
          <a:bodyPr wrap="square" lIns="0" tIns="0" rIns="0" bIns="0" rtlCol="0" anchor="ctr"/>
          <a:lstStyle/>
          <a:p>
            <a:pPr indent="0" marL="0">
              <a:buNone/>
            </a:pPr>
            <a:r>
              <a:rPr lang="en-US" sz="1400" b="1" dirty="0">
                <a:solidFill>
                  <a:srgbClr val="10212F"/>
                </a:solidFill>
                <a:latin typeface="Calibri" pitchFamily="34" charset="0"/>
                <a:ea typeface="Calibri" pitchFamily="34" charset="-122"/>
                <a:cs typeface="Calibri" pitchFamily="34" charset="-120"/>
              </a:rPr>
              <a:t>So everything downstream is still done by hand:</a:t>
            </a:r>
            <a:endParaRPr lang="en-US" sz="1400" dirty="0"/>
          </a:p>
        </p:txBody>
      </p:sp>
      <p:sp>
        <p:nvSpPr>
          <p:cNvPr id="7" name="Text 5"/>
          <p:cNvSpPr txBox="1"/>
          <p:nvPr/>
        </p:nvSpPr>
        <p:spPr>
          <a:xfrm>
            <a:off x="822960" y="3246120"/>
            <a:ext cx="6400800" cy="1554480"/>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10212F"/>
                </a:solidFill>
                <a:latin typeface="Calibri" pitchFamily="34" charset="0"/>
                <a:ea typeface="Calibri" pitchFamily="34" charset="-122"/>
                <a:cs typeface="Calibri" pitchFamily="34" charset="-120"/>
              </a:rPr>
              <a:t>System Security Plans, written in Word</a:t>
            </a:r>
            <a:endParaRPr lang="en-US" sz="1400" dirty="0"/>
          </a:p>
          <a:p>
            <a:pPr marL="342900" indent="-342900">
              <a:spcAft>
                <a:spcPts val="800"/>
              </a:spcAft>
              <a:buSzPct val="100000"/>
              <a:buChar char="•"/>
            </a:pPr>
            <a:r>
              <a:rPr lang="en-US" sz="1400" dirty="0">
                <a:solidFill>
                  <a:srgbClr val="10212F"/>
                </a:solidFill>
                <a:latin typeface="Calibri" pitchFamily="34" charset="0"/>
                <a:ea typeface="Calibri" pitchFamily="34" charset="-122"/>
                <a:cs typeface="Calibri" pitchFamily="34" charset="-120"/>
              </a:rPr>
              <a:t>Plans of Action &amp; Milestones, tracked in spreadsheets</a:t>
            </a:r>
            <a:endParaRPr lang="en-US" sz="1400" dirty="0"/>
          </a:p>
          <a:p>
            <a:pPr marL="342900" indent="-342900">
              <a:spcAft>
                <a:spcPts val="800"/>
              </a:spcAft>
              <a:buSzPct val="100000"/>
              <a:buChar char="•"/>
            </a:pPr>
            <a:r>
              <a:rPr lang="en-US" sz="1400" dirty="0">
                <a:solidFill>
                  <a:srgbClr val="10212F"/>
                </a:solidFill>
                <a:latin typeface="Calibri" pitchFamily="34" charset="0"/>
                <a:ea typeface="Calibri" pitchFamily="34" charset="-122"/>
                <a:cs typeface="Calibri" pitchFamily="34" charset="-120"/>
              </a:rPr>
              <a:t>NIST 800-53 mappings, assembled manually for ATO packages</a:t>
            </a:r>
            <a:endParaRPr lang="en-US" sz="1400" dirty="0"/>
          </a:p>
          <a:p>
            <a:pPr marL="342900" indent="-342900">
              <a:spcAft>
                <a:spcPts val="800"/>
              </a:spcAft>
              <a:buSzPct val="100000"/>
              <a:buChar char="•"/>
            </a:pPr>
            <a:r>
              <a:rPr lang="en-US" sz="1400" dirty="0">
                <a:solidFill>
                  <a:srgbClr val="10212F"/>
                </a:solidFill>
                <a:latin typeface="Calibri" pitchFamily="34" charset="0"/>
                <a:ea typeface="Calibri" pitchFamily="34" charset="-122"/>
                <a:cs typeface="Calibri" pitchFamily="34" charset="-120"/>
              </a:rPr>
              <a:t>Auditor questions, answered by re-reading the report</a:t>
            </a:r>
            <a:endParaRPr lang="en-US" sz="1400" dirty="0"/>
          </a:p>
        </p:txBody>
      </p:sp>
      <p:sp>
        <p:nvSpPr>
          <p:cNvPr id="8" name="Shape 6"/>
          <p:cNvSpPr/>
          <p:nvPr/>
        </p:nvSpPr>
        <p:spPr>
          <a:xfrm>
            <a:off x="7680960" y="1371600"/>
            <a:ext cx="3840480" cy="3566160"/>
          </a:xfrm>
          <a:prstGeom prst="roundRect">
            <a:avLst>
              <a:gd name="adj" fmla="val 2564"/>
            </a:avLst>
          </a:prstGeom>
          <a:solidFill>
            <a:srgbClr val="0A1A2F"/>
          </a:solidFill>
          <a:ln w="12700">
            <a:solidFill>
              <a:srgbClr val="0A1A2F"/>
            </a:solidFill>
            <a:prstDash val="solid"/>
          </a:ln>
        </p:spPr>
      </p:sp>
      <p:sp>
        <p:nvSpPr>
          <p:cNvPr id="9" name="Text 7"/>
          <p:cNvSpPr txBox="1"/>
          <p:nvPr/>
        </p:nvSpPr>
        <p:spPr>
          <a:xfrm>
            <a:off x="7863840" y="1691640"/>
            <a:ext cx="3474720" cy="457200"/>
          </a:xfrm>
          <a:prstGeom prst="rect">
            <a:avLst/>
          </a:prstGeom>
          <a:noFill/>
          <a:ln/>
        </p:spPr>
        <p:txBody>
          <a:bodyPr wrap="square" lIns="0" tIns="0" rIns="0" bIns="0" rtlCol="0" anchor="ctr"/>
          <a:lstStyle/>
          <a:p>
            <a:pPr algn="ctr" indent="0" marL="0">
              <a:buNone/>
            </a:pPr>
            <a:r>
              <a:rPr lang="en-US" sz="2600" b="1" dirty="0">
                <a:solidFill>
                  <a:srgbClr val="FFB700"/>
                </a:solidFill>
                <a:latin typeface="Calibri" pitchFamily="34" charset="0"/>
                <a:ea typeface="Calibri" pitchFamily="34" charset="-122"/>
                <a:cs typeface="Calibri" pitchFamily="34" charset="-120"/>
              </a:rPr>
              <a:t>BOD 25-01</a:t>
            </a:r>
            <a:endParaRPr lang="en-US" sz="2600" dirty="0"/>
          </a:p>
        </p:txBody>
      </p:sp>
      <p:sp>
        <p:nvSpPr>
          <p:cNvPr id="10" name="Text 8"/>
          <p:cNvSpPr txBox="1"/>
          <p:nvPr/>
        </p:nvSpPr>
        <p:spPr>
          <a:xfrm>
            <a:off x="7863840" y="2148840"/>
            <a:ext cx="3474720" cy="320040"/>
          </a:xfrm>
          <a:prstGeom prst="rect">
            <a:avLst/>
          </a:prstGeom>
          <a:noFill/>
          <a:ln/>
        </p:spPr>
        <p:txBody>
          <a:bodyPr wrap="square" lIns="0" tIns="0" rIns="0" bIns="0" rtlCol="0" anchor="ctr"/>
          <a:lstStyle/>
          <a:p>
            <a:pPr algn="ctr" indent="0" marL="0">
              <a:buNone/>
            </a:pPr>
            <a:r>
              <a:rPr lang="en-US" sz="1100" dirty="0">
                <a:solidFill>
                  <a:srgbClr val="3FC1C9"/>
                </a:solidFill>
                <a:latin typeface="Calibri" pitchFamily="34" charset="0"/>
                <a:ea typeface="Calibri" pitchFamily="34" charset="-122"/>
                <a:cs typeface="Calibri" pitchFamily="34" charset="-120"/>
              </a:rPr>
              <a:t>CISA Binding Operational Directive</a:t>
            </a:r>
            <a:endParaRPr lang="en-US" sz="1100" dirty="0"/>
          </a:p>
        </p:txBody>
      </p:sp>
      <p:sp>
        <p:nvSpPr>
          <p:cNvPr id="11" name="Text 9"/>
          <p:cNvSpPr txBox="1"/>
          <p:nvPr/>
        </p:nvSpPr>
        <p:spPr>
          <a:xfrm>
            <a:off x="7955280" y="2606040"/>
            <a:ext cx="3291840" cy="2103120"/>
          </a:xfrm>
          <a:prstGeom prst="rect">
            <a:avLst/>
          </a:prstGeom>
          <a:noFill/>
          <a:ln/>
        </p:spPr>
        <p:txBody>
          <a:bodyPr wrap="square" lIns="0" tIns="0" rIns="0" bIns="0" rtlCol="0" anchor="ctr"/>
          <a:lstStyle/>
          <a:p>
            <a:pPr indent="0" marL="0">
              <a:lnSpc>
                <a:spcPts val="1900"/>
              </a:lnSpc>
              <a:buNone/>
            </a:pPr>
            <a:r>
              <a:rPr lang="en-US" sz="1250" dirty="0">
                <a:solidFill>
                  <a:srgbClr val="D8E3EC"/>
                </a:solidFill>
                <a:latin typeface="Calibri" pitchFamily="34" charset="0"/>
                <a:ea typeface="Calibri" pitchFamily="34" charset="-122"/>
                <a:cs typeface="Calibri" pitchFamily="34" charset="-120"/>
              </a:rPr>
              <a:t>These baselines are not best practice.</a:t>
            </a:r>
            <a:endParaRPr lang="en-US" sz="1250" dirty="0"/>
          </a:p>
          <a:p>
            <a:pPr indent="0" marL="0">
              <a:lnSpc>
                <a:spcPts val="1900"/>
              </a:lnSpc>
              <a:buNone/>
            </a:pPr>
            <a:endParaRPr lang="en-US" sz="1250" dirty="0"/>
          </a:p>
          <a:p>
            <a:pPr indent="0" marL="0">
              <a:lnSpc>
                <a:spcPts val="1900"/>
              </a:lnSpc>
              <a:buNone/>
            </a:pPr>
            <a:r>
              <a:rPr lang="en-US" sz="1250" dirty="0">
                <a:solidFill>
                  <a:srgbClr val="D8E3EC"/>
                </a:solidFill>
                <a:latin typeface="Calibri" pitchFamily="34" charset="0"/>
                <a:ea typeface="Calibri" pitchFamily="34" charset="-122"/>
                <a:cs typeface="Calibri" pitchFamily="34" charset="-120"/>
              </a:rPr>
              <a:t>They are legally mandatory for federal civilian agencies — and the de facto standard for the universities, school divisions and local governments running the same Microsoft 365 estate.</a:t>
            </a:r>
            <a:endParaRPr lang="en-US" sz="1250" dirty="0"/>
          </a:p>
        </p:txBody>
      </p:sp>
      <p:sp>
        <p:nvSpPr>
          <p:cNvPr id="12" name="Text 10"/>
          <p:cNvSpPr txBox="1"/>
          <p:nvPr/>
        </p:nvSpPr>
        <p:spPr>
          <a:xfrm>
            <a:off x="640080" y="5074920"/>
            <a:ext cx="10881360" cy="457200"/>
          </a:xfrm>
          <a:prstGeom prst="rect">
            <a:avLst/>
          </a:prstGeom>
          <a:noFill/>
          <a:ln/>
        </p:spPr>
        <p:txBody>
          <a:bodyPr wrap="square" lIns="0" tIns="0" rIns="0" bIns="0" rtlCol="0" anchor="ctr"/>
          <a:lstStyle/>
          <a:p>
            <a:pPr indent="0" marL="0">
              <a:buNone/>
            </a:pPr>
            <a:r>
              <a:rPr lang="en-US" sz="1450" b="1" i="1" dirty="0">
                <a:solidFill>
                  <a:srgbClr val="14304F"/>
                </a:solidFill>
                <a:latin typeface="Calibri" pitchFamily="34" charset="0"/>
                <a:ea typeface="Calibri" pitchFamily="34" charset="-122"/>
                <a:cs typeface="Calibri" pitchFamily="34" charset="-120"/>
              </a:rPr>
              <a:t>An organisation without a dedicated GRC team needs weeks to get from “we ran the scanner” to “we have an auditable package.”</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182880"/>
            <a:ext cx="1088136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THE OPENING</a:t>
            </a:r>
            <a:endParaRPr lang="en-US" sz="1200" dirty="0"/>
          </a:p>
        </p:txBody>
      </p:sp>
      <p:sp>
        <p:nvSpPr>
          <p:cNvPr id="3" name="Text 1"/>
          <p:cNvSpPr txBox="1"/>
          <p:nvPr/>
        </p:nvSpPr>
        <p:spPr>
          <a:xfrm>
            <a:off x="640080" y="411480"/>
            <a:ext cx="10881360" cy="822960"/>
          </a:xfrm>
          <a:prstGeom prst="rect">
            <a:avLst/>
          </a:prstGeom>
          <a:noFill/>
          <a:ln/>
        </p:spPr>
        <p:txBody>
          <a:bodyPr wrap="square" lIns="0" tIns="0" rIns="0" bIns="0" rtlCol="0" anchor="ctr"/>
          <a:lstStyle/>
          <a:p>
            <a:pPr algn="l" indent="0" marL="0">
              <a:buNone/>
            </a:pPr>
            <a:r>
              <a:rPr lang="en-US" sz="3400" b="1" dirty="0">
                <a:solidFill>
                  <a:srgbClr val="10212F"/>
                </a:solidFill>
                <a:latin typeface="Cambria" pitchFamily="34" charset="0"/>
                <a:ea typeface="Cambria" pitchFamily="34" charset="-122"/>
                <a:cs typeface="Cambria" pitchFamily="34" charset="-120"/>
              </a:rPr>
              <a:t>CISA started this bridge — and stopped</a:t>
            </a:r>
            <a:endParaRPr lang="en-US" sz="3400" dirty="0"/>
          </a:p>
        </p:txBody>
      </p:sp>
      <p:sp>
        <p:nvSpPr>
          <p:cNvPr id="4" name="Shape 2"/>
          <p:cNvSpPr/>
          <p:nvPr/>
        </p:nvSpPr>
        <p:spPr>
          <a:xfrm>
            <a:off x="640080" y="1371600"/>
            <a:ext cx="10881360" cy="1508760"/>
          </a:xfrm>
          <a:prstGeom prst="roundRect">
            <a:avLst>
              <a:gd name="adj" fmla="val 6061"/>
            </a:avLst>
          </a:prstGeom>
          <a:solidFill>
            <a:srgbClr val="FFF6E0"/>
          </a:solidFill>
          <a:ln w="12700">
            <a:solidFill>
              <a:srgbClr val="FFE2A8"/>
            </a:solidFill>
            <a:prstDash val="solid"/>
          </a:ln>
        </p:spPr>
      </p:sp>
      <p:sp>
        <p:nvSpPr>
          <p:cNvPr id="5" name="Text 3"/>
          <p:cNvSpPr txBox="1"/>
          <p:nvPr/>
        </p:nvSpPr>
        <p:spPr>
          <a:xfrm>
            <a:off x="914400" y="1572768"/>
            <a:ext cx="10332720" cy="457200"/>
          </a:xfrm>
          <a:prstGeom prst="rect">
            <a:avLst/>
          </a:prstGeom>
          <a:noFill/>
          <a:ln/>
        </p:spPr>
        <p:txBody>
          <a:bodyPr wrap="square" lIns="0" tIns="0" rIns="0" bIns="0" rtlCol="0" anchor="ctr"/>
          <a:lstStyle/>
          <a:p>
            <a:pPr indent="0" marL="0">
              <a:buNone/>
            </a:pPr>
            <a:r>
              <a:rPr lang="en-US" sz="1800" b="1" i="1" dirty="0">
                <a:solidFill>
                  <a:srgbClr val="10212F"/>
                </a:solidFill>
                <a:latin typeface="Cambria" pitchFamily="34" charset="0"/>
                <a:ea typeface="Cambria" pitchFamily="34" charset="-122"/>
                <a:cs typeface="Cambria" pitchFamily="34" charset="-120"/>
              </a:rPr>
              <a:t>“you can't have an assessment plan model without implementing all the preceeding layers”</a:t>
            </a:r>
            <a:endParaRPr lang="en-US" sz="1800" dirty="0"/>
          </a:p>
        </p:txBody>
      </p:sp>
      <p:sp>
        <p:nvSpPr>
          <p:cNvPr id="6" name="Text 4"/>
          <p:cNvSpPr txBox="1"/>
          <p:nvPr/>
        </p:nvSpPr>
        <p:spPr>
          <a:xfrm>
            <a:off x="914400" y="2057400"/>
            <a:ext cx="10332720" cy="29260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 README of ScubaGear's  oscal-exploration  branch · last commit August 2024 · never merged</a:t>
            </a:r>
            <a:endParaRPr lang="en-US" sz="1200" dirty="0"/>
          </a:p>
        </p:txBody>
      </p:sp>
      <p:sp>
        <p:nvSpPr>
          <p:cNvPr id="7" name="Text 5"/>
          <p:cNvSpPr txBox="1"/>
          <p:nvPr/>
        </p:nvSpPr>
        <p:spPr>
          <a:xfrm>
            <a:off x="914400" y="2395728"/>
            <a:ext cx="10332720" cy="320040"/>
          </a:xfrm>
          <a:prstGeom prst="rect">
            <a:avLst/>
          </a:prstGeom>
          <a:noFill/>
          <a:ln/>
        </p:spPr>
        <p:txBody>
          <a:bodyPr wrap="square" lIns="0" tIns="0" rIns="0" bIns="0" rtlCol="0" anchor="ctr"/>
          <a:lstStyle/>
          <a:p>
            <a:pPr indent="0" marL="0">
              <a:buNone/>
            </a:pPr>
            <a:r>
              <a:rPr lang="en-US" sz="1350" b="1" dirty="0">
                <a:solidFill>
                  <a:srgbClr val="8A5A00"/>
                </a:solidFill>
                <a:latin typeface="Calibri" pitchFamily="34" charset="0"/>
                <a:ea typeface="Calibri" pitchFamily="34" charset="-122"/>
                <a:cs typeface="Calibri" pitchFamily="34" charset="-120"/>
              </a:rPr>
              <a:t>Component-definition, SSP and POA&amp;M are left marked TODO.</a:t>
            </a:r>
            <a:endParaRPr lang="en-US" sz="1350" dirty="0"/>
          </a:p>
        </p:txBody>
      </p:sp>
      <p:sp>
        <p:nvSpPr>
          <p:cNvPr id="8" name="Text 6"/>
          <p:cNvSpPr txBox="1"/>
          <p:nvPr/>
        </p:nvSpPr>
        <p:spPr>
          <a:xfrm>
            <a:off x="640080" y="3154680"/>
            <a:ext cx="10881360" cy="365760"/>
          </a:xfrm>
          <a:prstGeom prst="rect">
            <a:avLst/>
          </a:prstGeom>
          <a:noFill/>
          <a:ln/>
        </p:spPr>
        <p:txBody>
          <a:bodyPr wrap="square" lIns="0" tIns="0" rIns="0" bIns="0" rtlCol="0" anchor="ctr"/>
          <a:lstStyle/>
          <a:p>
            <a:pPr indent="0" marL="0">
              <a:buNone/>
            </a:pPr>
            <a:r>
              <a:rPr lang="en-US" sz="1600" b="1" dirty="0">
                <a:solidFill>
                  <a:srgbClr val="10212F"/>
                </a:solidFill>
                <a:latin typeface="Calibri" pitchFamily="34" charset="0"/>
                <a:ea typeface="Calibri" pitchFamily="34" charset="-122"/>
                <a:cs typeface="Calibri" pitchFamily="34" charset="-120"/>
              </a:rPr>
              <a:t>We verified the landscape before claiming anything</a:t>
            </a:r>
            <a:endParaRPr lang="en-US" sz="1600" dirty="0"/>
          </a:p>
        </p:txBody>
      </p:sp>
      <p:sp>
        <p:nvSpPr>
          <p:cNvPr id="9" name="Shape 7"/>
          <p:cNvSpPr/>
          <p:nvPr/>
        </p:nvSpPr>
        <p:spPr>
          <a:xfrm>
            <a:off x="640080" y="3611880"/>
            <a:ext cx="2103120" cy="777240"/>
          </a:xfrm>
          <a:prstGeom prst="roundRect">
            <a:avLst>
              <a:gd name="adj" fmla="val 9412"/>
            </a:avLst>
          </a:prstGeom>
          <a:solidFill>
            <a:srgbClr val="F4F7F9"/>
          </a:solidFill>
          <a:ln w="12700">
            <a:solidFill>
              <a:srgbClr val="E2E8EE"/>
            </a:solidFill>
            <a:prstDash val="solid"/>
          </a:ln>
        </p:spPr>
      </p:sp>
      <p:sp>
        <p:nvSpPr>
          <p:cNvPr id="10" name="Text 8"/>
          <p:cNvSpPr txBox="1"/>
          <p:nvPr/>
        </p:nvSpPr>
        <p:spPr>
          <a:xfrm>
            <a:off x="640080" y="3849624"/>
            <a:ext cx="2103120" cy="320040"/>
          </a:xfrm>
          <a:prstGeom prst="rect">
            <a:avLst/>
          </a:prstGeom>
          <a:noFill/>
          <a:ln/>
        </p:spPr>
        <p:txBody>
          <a:bodyPr wrap="square" lIns="0" tIns="0" rIns="0" bIns="0" rtlCol="0" anchor="ctr"/>
          <a:lstStyle/>
          <a:p>
            <a:pPr algn="ctr" indent="0" marL="0">
              <a:buNone/>
            </a:pPr>
            <a:r>
              <a:rPr lang="en-US" sz="1300" b="1" dirty="0">
                <a:solidFill>
                  <a:srgbClr val="5A6B7B"/>
                </a:solidFill>
                <a:latin typeface="Calibri" pitchFamily="34" charset="0"/>
                <a:ea typeface="Calibri" pitchFamily="34" charset="-122"/>
                <a:cs typeface="Calibri" pitchFamily="34" charset="-120"/>
              </a:rPr>
              <a:t>Exists already</a:t>
            </a:r>
            <a:endParaRPr lang="en-US" sz="1300" dirty="0"/>
          </a:p>
        </p:txBody>
      </p:sp>
      <p:sp>
        <p:nvSpPr>
          <p:cNvPr id="11" name="Text 9"/>
          <p:cNvSpPr txBox="1"/>
          <p:nvPr/>
        </p:nvSpPr>
        <p:spPr>
          <a:xfrm>
            <a:off x="2926080" y="3685032"/>
            <a:ext cx="8595360" cy="685800"/>
          </a:xfrm>
          <a:prstGeom prst="rect">
            <a:avLst/>
          </a:prstGeom>
          <a:noFill/>
          <a:ln/>
        </p:spPr>
        <p:txBody>
          <a:bodyPr wrap="square" lIns="0" tIns="0" rIns="0" bIns="0" rtlCol="0" anchor="ctr"/>
          <a:lstStyle/>
          <a:p>
            <a:pPr indent="0" marL="0">
              <a:lnSpc>
                <a:spcPts val="1900"/>
              </a:lnSpc>
              <a:buNone/>
            </a:pPr>
            <a:r>
              <a:rPr lang="en-US" sz="1350" dirty="0">
                <a:solidFill>
                  <a:srgbClr val="10212F"/>
                </a:solidFill>
                <a:latin typeface="Calibri" pitchFamily="34" charset="0"/>
                <a:ea typeface="Calibri" pitchFamily="34" charset="-122"/>
                <a:cs typeface="Calibri" pitchFamily="34" charset="-120"/>
              </a:rPr>
              <a:t>A dead 2024 proof-of-concept catalog. Drift tools that match on policy ID. AI-over-OSCAL assistants.</a:t>
            </a:r>
            <a:endParaRPr lang="en-US" sz="1350" dirty="0"/>
          </a:p>
        </p:txBody>
      </p:sp>
      <p:sp>
        <p:nvSpPr>
          <p:cNvPr id="12" name="Shape 10"/>
          <p:cNvSpPr/>
          <p:nvPr/>
        </p:nvSpPr>
        <p:spPr>
          <a:xfrm>
            <a:off x="640080" y="4526280"/>
            <a:ext cx="2103120" cy="777240"/>
          </a:xfrm>
          <a:prstGeom prst="roundRect">
            <a:avLst>
              <a:gd name="adj" fmla="val 9412"/>
            </a:avLst>
          </a:prstGeom>
          <a:solidFill>
            <a:srgbClr val="E8F6EF"/>
          </a:solidFill>
          <a:ln w="12700">
            <a:solidFill>
              <a:srgbClr val="C3E9D7"/>
            </a:solidFill>
            <a:prstDash val="solid"/>
          </a:ln>
        </p:spPr>
      </p:sp>
      <p:sp>
        <p:nvSpPr>
          <p:cNvPr id="13" name="Text 11"/>
          <p:cNvSpPr txBox="1"/>
          <p:nvPr/>
        </p:nvSpPr>
        <p:spPr>
          <a:xfrm>
            <a:off x="640080" y="4764024"/>
            <a:ext cx="2103120" cy="320040"/>
          </a:xfrm>
          <a:prstGeom prst="rect">
            <a:avLst/>
          </a:prstGeom>
          <a:noFill/>
          <a:ln/>
        </p:spPr>
        <p:txBody>
          <a:bodyPr wrap="square" lIns="0" tIns="0" rIns="0" bIns="0" rtlCol="0" anchor="ctr"/>
          <a:lstStyle/>
          <a:p>
            <a:pPr algn="ctr" indent="0" marL="0">
              <a:buNone/>
            </a:pPr>
            <a:r>
              <a:rPr lang="en-US" sz="1300" b="1" dirty="0">
                <a:solidFill>
                  <a:srgbClr val="30A46C"/>
                </a:solidFill>
                <a:latin typeface="Calibri" pitchFamily="34" charset="0"/>
                <a:ea typeface="Calibri" pitchFamily="34" charset="-122"/>
                <a:cs typeface="Calibri" pitchFamily="34" charset="-120"/>
              </a:rPr>
              <a:t>Does NOT exist</a:t>
            </a:r>
            <a:endParaRPr lang="en-US" sz="1300" dirty="0"/>
          </a:p>
        </p:txBody>
      </p:sp>
      <p:sp>
        <p:nvSpPr>
          <p:cNvPr id="14" name="Text 12"/>
          <p:cNvSpPr txBox="1"/>
          <p:nvPr/>
        </p:nvSpPr>
        <p:spPr>
          <a:xfrm>
            <a:off x="2926080" y="4599432"/>
            <a:ext cx="8595360" cy="685800"/>
          </a:xfrm>
          <a:prstGeom prst="rect">
            <a:avLst/>
          </a:prstGeom>
          <a:noFill/>
          <a:ln/>
        </p:spPr>
        <p:txBody>
          <a:bodyPr wrap="square" lIns="0" tIns="0" rIns="0" bIns="0" rtlCol="0" anchor="ctr"/>
          <a:lstStyle/>
          <a:p>
            <a:pPr indent="0" marL="0">
              <a:lnSpc>
                <a:spcPts val="1900"/>
              </a:lnSpc>
              <a:buNone/>
            </a:pPr>
            <a:r>
              <a:rPr lang="en-US" sz="1350" dirty="0">
                <a:solidFill>
                  <a:srgbClr val="10212F"/>
                </a:solidFill>
                <a:latin typeface="Calibri" pitchFamily="34" charset="0"/>
                <a:ea typeface="Calibri" pitchFamily="34" charset="-122"/>
                <a:cs typeface="Calibri" pitchFamily="34" charset="-120"/>
              </a:rPr>
              <a:t>A complete, maintained M365 chain from catalog through POA&amp;M — with mappings provably faithful to CISA's own crosswalk.</a:t>
            </a:r>
            <a:endParaRPr lang="en-US" sz="1350" dirty="0"/>
          </a:p>
        </p:txBody>
      </p:sp>
      <p:sp>
        <p:nvSpPr>
          <p:cNvPr id="15" name="Text 13"/>
          <p:cNvSpPr txBox="1"/>
          <p:nvPr/>
        </p:nvSpPr>
        <p:spPr>
          <a:xfrm>
            <a:off x="640080" y="5577840"/>
            <a:ext cx="10881360" cy="411480"/>
          </a:xfrm>
          <a:prstGeom prst="rect">
            <a:avLst/>
          </a:prstGeom>
          <a:noFill/>
          <a:ln/>
        </p:spPr>
        <p:txBody>
          <a:bodyPr wrap="square" lIns="0" tIns="0" rIns="0" bIns="0" rtlCol="0" anchor="ctr"/>
          <a:lstStyle/>
          <a:p>
            <a:pPr indent="0" marL="0">
              <a:buNone/>
            </a:pPr>
            <a:r>
              <a:rPr lang="en-US" sz="1300" i="1" dirty="0">
                <a:solidFill>
                  <a:srgbClr val="5A6B7B"/>
                </a:solidFill>
                <a:latin typeface="Calibri" pitchFamily="34" charset="0"/>
                <a:ea typeface="Calibri" pitchFamily="34" charset="-122"/>
                <a:cs typeface="Calibri" pitchFamily="34" charset="-120"/>
              </a:rPr>
              <a:t>So we make precise claims, not “first ever” claims — a subject-matter judge would puncture those, and several are already taken.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182880"/>
            <a:ext cx="1088136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640080" y="411480"/>
            <a:ext cx="10881360" cy="822960"/>
          </a:xfrm>
          <a:prstGeom prst="rect">
            <a:avLst/>
          </a:prstGeom>
          <a:noFill/>
          <a:ln/>
        </p:spPr>
        <p:txBody>
          <a:bodyPr wrap="square" lIns="0" tIns="0" rIns="0" bIns="0" rtlCol="0" anchor="ctr"/>
          <a:lstStyle/>
          <a:p>
            <a:pPr algn="l" indent="0" marL="0">
              <a:buNone/>
            </a:pPr>
            <a:r>
              <a:rPr lang="en-US" sz="3400" b="1" dirty="0">
                <a:solidFill>
                  <a:srgbClr val="10212F"/>
                </a:solidFill>
                <a:latin typeface="Cambria" pitchFamily="34" charset="0"/>
                <a:ea typeface="Cambria" pitchFamily="34" charset="-122"/>
                <a:cs typeface="Cambria" pitchFamily="34" charset="-120"/>
              </a:rPr>
              <a:t>Deterministic core. AI on top. Never the reverse.</a:t>
            </a:r>
            <a:endParaRPr lang="en-US" sz="3400" dirty="0"/>
          </a:p>
        </p:txBody>
      </p:sp>
      <p:sp>
        <p:nvSpPr>
          <p:cNvPr id="4" name="Shape 2"/>
          <p:cNvSpPr/>
          <p:nvPr/>
        </p:nvSpPr>
        <p:spPr>
          <a:xfrm>
            <a:off x="640080" y="1417320"/>
            <a:ext cx="2834640" cy="713232"/>
          </a:xfrm>
          <a:prstGeom prst="roundRect">
            <a:avLst>
              <a:gd name="adj" fmla="val 10256"/>
            </a:avLst>
          </a:prstGeom>
          <a:solidFill>
            <a:srgbClr val="F4F7F9"/>
          </a:solidFill>
          <a:ln w="12700">
            <a:solidFill>
              <a:srgbClr val="E2E8EE"/>
            </a:solidFill>
            <a:prstDash val="solid"/>
          </a:ln>
        </p:spPr>
      </p:sp>
      <p:sp>
        <p:nvSpPr>
          <p:cNvPr id="5" name="Text 3"/>
          <p:cNvSpPr txBox="1"/>
          <p:nvPr/>
        </p:nvSpPr>
        <p:spPr>
          <a:xfrm>
            <a:off x="731520" y="1481328"/>
            <a:ext cx="2651760" cy="585216"/>
          </a:xfrm>
          <a:prstGeom prst="rect">
            <a:avLst/>
          </a:prstGeom>
          <a:noFill/>
          <a:ln/>
        </p:spPr>
        <p:txBody>
          <a:bodyPr wrap="square" lIns="0" tIns="0" rIns="0" bIns="0" rtlCol="0" anchor="ctr"/>
          <a:lstStyle/>
          <a:p>
            <a:pPr algn="ctr" indent="0" marL="0">
              <a:lnSpc>
                <a:spcPts val="1500"/>
              </a:lnSpc>
              <a:buNone/>
            </a:pPr>
            <a:r>
              <a:rPr lang="en-US" sz="1150" dirty="0">
                <a:solidFill>
                  <a:srgbClr val="10212F"/>
                </a:solidFill>
                <a:latin typeface="Calibri" pitchFamily="34" charset="0"/>
                <a:ea typeface="Calibri" pitchFamily="34" charset="-122"/>
                <a:cs typeface="Calibri" pitchFamily="34" charset="-120"/>
              </a:rPr>
              <a:t>CISA SCuBA baselines</a:t>
            </a:r>
            <a:endParaRPr lang="en-US" sz="1150" dirty="0"/>
          </a:p>
          <a:p>
            <a:pPr algn="ctr" indent="0" marL="0">
              <a:lnSpc>
                <a:spcPts val="1500"/>
              </a:lnSpc>
              <a:buNone/>
            </a:pPr>
            <a:r>
              <a:rPr lang="en-US" sz="1150" dirty="0">
                <a:solidFill>
                  <a:srgbClr val="10212F"/>
                </a:solidFill>
                <a:latin typeface="Calibri" pitchFamily="34" charset="0"/>
                <a:ea typeface="Calibri" pitchFamily="34" charset="-122"/>
                <a:cs typeface="Calibri" pitchFamily="34" charset="-120"/>
              </a:rPr>
              <a:t>127 policies</a:t>
            </a:r>
            <a:endParaRPr lang="en-US" sz="1150" dirty="0"/>
          </a:p>
        </p:txBody>
      </p:sp>
      <p:sp>
        <p:nvSpPr>
          <p:cNvPr id="6" name="Shape 4"/>
          <p:cNvSpPr/>
          <p:nvPr/>
        </p:nvSpPr>
        <p:spPr>
          <a:xfrm>
            <a:off x="640080" y="2258568"/>
            <a:ext cx="2834640" cy="713232"/>
          </a:xfrm>
          <a:prstGeom prst="roundRect">
            <a:avLst>
              <a:gd name="adj" fmla="val 10256"/>
            </a:avLst>
          </a:prstGeom>
          <a:solidFill>
            <a:srgbClr val="F4F7F9"/>
          </a:solidFill>
          <a:ln w="12700">
            <a:solidFill>
              <a:srgbClr val="E2E8EE"/>
            </a:solidFill>
            <a:prstDash val="solid"/>
          </a:ln>
        </p:spPr>
      </p:sp>
      <p:sp>
        <p:nvSpPr>
          <p:cNvPr id="7" name="Text 5"/>
          <p:cNvSpPr txBox="1"/>
          <p:nvPr/>
        </p:nvSpPr>
        <p:spPr>
          <a:xfrm>
            <a:off x="731520" y="2322576"/>
            <a:ext cx="2651760" cy="585216"/>
          </a:xfrm>
          <a:prstGeom prst="rect">
            <a:avLst/>
          </a:prstGeom>
          <a:noFill/>
          <a:ln/>
        </p:spPr>
        <p:txBody>
          <a:bodyPr wrap="square" lIns="0" tIns="0" rIns="0" bIns="0" rtlCol="0" anchor="ctr"/>
          <a:lstStyle/>
          <a:p>
            <a:pPr algn="ctr" indent="0" marL="0">
              <a:lnSpc>
                <a:spcPts val="1500"/>
              </a:lnSpc>
              <a:buNone/>
            </a:pPr>
            <a:r>
              <a:rPr lang="en-US" sz="1150" dirty="0">
                <a:solidFill>
                  <a:srgbClr val="10212F"/>
                </a:solidFill>
                <a:latin typeface="Calibri" pitchFamily="34" charset="0"/>
                <a:ea typeface="Calibri" pitchFamily="34" charset="-122"/>
                <a:cs typeface="Calibri" pitchFamily="34" charset="-120"/>
              </a:rPr>
              <a:t>CISA ScubaGear run</a:t>
            </a:r>
            <a:endParaRPr lang="en-US" sz="1150" dirty="0"/>
          </a:p>
          <a:p>
            <a:pPr algn="ctr" indent="0" marL="0">
              <a:lnSpc>
                <a:spcPts val="1500"/>
              </a:lnSpc>
              <a:buNone/>
            </a:pPr>
            <a:r>
              <a:rPr lang="en-US" sz="1150" dirty="0">
                <a:solidFill>
                  <a:srgbClr val="10212F"/>
                </a:solidFill>
                <a:latin typeface="Calibri" pitchFamily="34" charset="0"/>
                <a:ea typeface="Calibri" pitchFamily="34" charset="-122"/>
                <a:cs typeface="Calibri" pitchFamily="34" charset="-120"/>
              </a:rPr>
              <a:t>92 assessed checks</a:t>
            </a:r>
            <a:endParaRPr lang="en-US" sz="1150" dirty="0"/>
          </a:p>
        </p:txBody>
      </p:sp>
      <p:sp>
        <p:nvSpPr>
          <p:cNvPr id="8" name="Shape 6"/>
          <p:cNvSpPr/>
          <p:nvPr/>
        </p:nvSpPr>
        <p:spPr>
          <a:xfrm>
            <a:off x="640080" y="3099816"/>
            <a:ext cx="2834640" cy="713232"/>
          </a:xfrm>
          <a:prstGeom prst="roundRect">
            <a:avLst>
              <a:gd name="adj" fmla="val 10256"/>
            </a:avLst>
          </a:prstGeom>
          <a:solidFill>
            <a:srgbClr val="F4F7F9"/>
          </a:solidFill>
          <a:ln w="12700">
            <a:solidFill>
              <a:srgbClr val="E2E8EE"/>
            </a:solidFill>
            <a:prstDash val="solid"/>
          </a:ln>
        </p:spPr>
      </p:sp>
      <p:sp>
        <p:nvSpPr>
          <p:cNvPr id="9" name="Text 7"/>
          <p:cNvSpPr txBox="1"/>
          <p:nvPr/>
        </p:nvSpPr>
        <p:spPr>
          <a:xfrm>
            <a:off x="731520" y="3163824"/>
            <a:ext cx="2651760" cy="585216"/>
          </a:xfrm>
          <a:prstGeom prst="rect">
            <a:avLst/>
          </a:prstGeom>
          <a:noFill/>
          <a:ln/>
        </p:spPr>
        <p:txBody>
          <a:bodyPr wrap="square" lIns="0" tIns="0" rIns="0" bIns="0" rtlCol="0" anchor="ctr"/>
          <a:lstStyle/>
          <a:p>
            <a:pPr algn="ctr" indent="0" marL="0">
              <a:lnSpc>
                <a:spcPts val="1500"/>
              </a:lnSpc>
              <a:buNone/>
            </a:pPr>
            <a:r>
              <a:rPr lang="en-US" sz="1150" dirty="0">
                <a:solidFill>
                  <a:srgbClr val="10212F"/>
                </a:solidFill>
                <a:latin typeface="Calibri" pitchFamily="34" charset="0"/>
                <a:ea typeface="Calibri" pitchFamily="34" charset="-122"/>
                <a:cs typeface="Calibri" pitchFamily="34" charset="-120"/>
              </a:rPr>
              <a:t>CISA crosswalk +</a:t>
            </a:r>
            <a:endParaRPr lang="en-US" sz="1150" dirty="0"/>
          </a:p>
          <a:p>
            <a:pPr algn="ctr" indent="0" marL="0">
              <a:lnSpc>
                <a:spcPts val="1500"/>
              </a:lnSpc>
              <a:buNone/>
            </a:pPr>
            <a:r>
              <a:rPr lang="en-US" sz="1150" dirty="0">
                <a:solidFill>
                  <a:srgbClr val="10212F"/>
                </a:solidFill>
                <a:latin typeface="Calibri" pitchFamily="34" charset="0"/>
                <a:ea typeface="Calibri" pitchFamily="34" charset="-122"/>
                <a:cs typeface="Calibri" pitchFamily="34" charset="-120"/>
              </a:rPr>
              <a:t>migration table</a:t>
            </a:r>
            <a:endParaRPr lang="en-US" sz="1150" dirty="0"/>
          </a:p>
        </p:txBody>
      </p:sp>
      <p:sp>
        <p:nvSpPr>
          <p:cNvPr id="10" name="Text 8"/>
          <p:cNvSpPr txBox="1"/>
          <p:nvPr/>
        </p:nvSpPr>
        <p:spPr>
          <a:xfrm>
            <a:off x="640080" y="3977640"/>
            <a:ext cx="2834640" cy="274320"/>
          </a:xfrm>
          <a:prstGeom prst="rect">
            <a:avLst/>
          </a:prstGeom>
          <a:noFill/>
          <a:ln/>
        </p:spPr>
        <p:txBody>
          <a:bodyPr wrap="square" lIns="0" tIns="0" rIns="0" bIns="0" rtlCol="0" anchor="ctr"/>
          <a:lstStyle/>
          <a:p>
            <a:pPr algn="ctr" indent="0" marL="0">
              <a:buNone/>
            </a:pPr>
            <a:r>
              <a:rPr lang="en-US" sz="950" b="1" spc="100" kern="0" dirty="0">
                <a:solidFill>
                  <a:srgbClr val="5A6B7B"/>
                </a:solidFill>
                <a:latin typeface="Calibri" pitchFamily="34" charset="0"/>
                <a:ea typeface="Calibri" pitchFamily="34" charset="-122"/>
                <a:cs typeface="Calibri" pitchFamily="34" charset="-120"/>
              </a:rPr>
              <a:t>PUBLIC CISA DATA  ·  CC0</a:t>
            </a:r>
            <a:endParaRPr lang="en-US" sz="950" dirty="0"/>
          </a:p>
        </p:txBody>
      </p:sp>
      <p:sp>
        <p:nvSpPr>
          <p:cNvPr id="11" name="Shape 9"/>
          <p:cNvSpPr/>
          <p:nvPr/>
        </p:nvSpPr>
        <p:spPr>
          <a:xfrm>
            <a:off x="3931920" y="1417320"/>
            <a:ext cx="3200400" cy="2359152"/>
          </a:xfrm>
          <a:prstGeom prst="roundRect">
            <a:avLst>
              <a:gd name="adj" fmla="val 3876"/>
            </a:avLst>
          </a:prstGeom>
          <a:solidFill>
            <a:srgbClr val="14304F"/>
          </a:solidFill>
          <a:ln w="12700">
            <a:solidFill>
              <a:srgbClr val="14304F"/>
            </a:solidFill>
            <a:prstDash val="solid"/>
          </a:ln>
        </p:spPr>
      </p:sp>
      <p:sp>
        <p:nvSpPr>
          <p:cNvPr id="12" name="Text 10"/>
          <p:cNvSpPr txBox="1"/>
          <p:nvPr/>
        </p:nvSpPr>
        <p:spPr>
          <a:xfrm>
            <a:off x="4069080" y="1600200"/>
            <a:ext cx="2926080" cy="640080"/>
          </a:xfrm>
          <a:prstGeom prst="rect">
            <a:avLst/>
          </a:prstGeom>
          <a:noFill/>
          <a:ln/>
        </p:spPr>
        <p:txBody>
          <a:bodyPr wrap="square" lIns="0" tIns="0" rIns="0" bIns="0" rtlCol="0" anchor="ctr"/>
          <a:lstStyle/>
          <a:p>
            <a:pPr algn="ctr" indent="0" marL="0">
              <a:lnSpc>
                <a:spcPts val="1900"/>
              </a:lnSpc>
              <a:buNone/>
            </a:pPr>
            <a:r>
              <a:rPr lang="en-US" sz="1400" b="1" dirty="0">
                <a:solidFill>
                  <a:srgbClr val="FFFFFF"/>
                </a:solidFill>
                <a:latin typeface="Calibri" pitchFamily="34" charset="0"/>
                <a:ea typeface="Calibri" pitchFamily="34" charset="-122"/>
                <a:cs typeface="Calibri" pitchFamily="34" charset="-120"/>
              </a:rPr>
              <a:t>Typed Python</a:t>
            </a:r>
            <a:endParaRPr lang="en-US" sz="1400" dirty="0"/>
          </a:p>
          <a:p>
            <a:pPr algn="ctr" indent="0" marL="0">
              <a:lnSpc>
                <a:spcPts val="1900"/>
              </a:lnSpc>
              <a:buNone/>
            </a:pPr>
            <a:r>
              <a:rPr lang="en-US" sz="1400" b="1" dirty="0">
                <a:solidFill>
                  <a:srgbClr val="FFFFFF"/>
                </a:solidFill>
                <a:latin typeface="Calibri" pitchFamily="34" charset="0"/>
                <a:ea typeface="Calibri" pitchFamily="34" charset="-122"/>
                <a:cs typeface="Calibri" pitchFamily="34" charset="-120"/>
              </a:rPr>
              <a:t>parsers + transformers</a:t>
            </a:r>
            <a:endParaRPr lang="en-US" sz="1400" dirty="0"/>
          </a:p>
        </p:txBody>
      </p:sp>
      <p:sp>
        <p:nvSpPr>
          <p:cNvPr id="13" name="Text 11"/>
          <p:cNvSpPr txBox="1"/>
          <p:nvPr/>
        </p:nvSpPr>
        <p:spPr>
          <a:xfrm>
            <a:off x="4069080" y="2286000"/>
            <a:ext cx="2926080" cy="822960"/>
          </a:xfrm>
          <a:prstGeom prst="rect">
            <a:avLst/>
          </a:prstGeom>
          <a:noFill/>
          <a:ln/>
        </p:spPr>
        <p:txBody>
          <a:bodyPr wrap="square" lIns="0" tIns="0" rIns="0" bIns="0" rtlCol="0" anchor="ctr"/>
          <a:lstStyle/>
          <a:p>
            <a:pPr algn="ctr" indent="0" marL="0">
              <a:lnSpc>
                <a:spcPts val="1600"/>
              </a:lnSpc>
              <a:buNone/>
            </a:pPr>
            <a:r>
              <a:rPr lang="en-US" sz="1100" dirty="0">
                <a:solidFill>
                  <a:srgbClr val="BBD0E2"/>
                </a:solidFill>
                <a:latin typeface="Calibri" pitchFamily="34" charset="0"/>
                <a:ea typeface="Calibri" pitchFamily="34" charset="-122"/>
                <a:cs typeface="Calibri" pitchFamily="34" charset="-120"/>
              </a:rPr>
              <a:t>No model decides what a control ID is,</a:t>
            </a:r>
            <a:endParaRPr lang="en-US" sz="1100" dirty="0"/>
          </a:p>
          <a:p>
            <a:pPr algn="ctr" indent="0" marL="0">
              <a:lnSpc>
                <a:spcPts val="1600"/>
              </a:lnSpc>
              <a:buNone/>
            </a:pPr>
            <a:r>
              <a:rPr lang="en-US" sz="1100" dirty="0">
                <a:solidFill>
                  <a:srgbClr val="BBD0E2"/>
                </a:solidFill>
                <a:latin typeface="Calibri" pitchFamily="34" charset="0"/>
                <a:ea typeface="Calibri" pitchFamily="34" charset="-122"/>
                <a:cs typeface="Calibri" pitchFamily="34" charset="-120"/>
              </a:rPr>
              <a:t>what a result was, or what belongs in a</a:t>
            </a:r>
            <a:endParaRPr lang="en-US" sz="1100" dirty="0"/>
          </a:p>
          <a:p>
            <a:pPr algn="ctr" indent="0" marL="0">
              <a:lnSpc>
                <a:spcPts val="1600"/>
              </a:lnSpc>
              <a:buNone/>
            </a:pPr>
            <a:r>
              <a:rPr lang="en-US" sz="1100" dirty="0">
                <a:solidFill>
                  <a:srgbClr val="BBD0E2"/>
                </a:solidFill>
                <a:latin typeface="Calibri" pitchFamily="34" charset="0"/>
                <a:ea typeface="Calibri" pitchFamily="34" charset="-122"/>
                <a:cs typeface="Calibri" pitchFamily="34" charset="-120"/>
              </a:rPr>
              <a:t>required schema field.</a:t>
            </a:r>
            <a:endParaRPr lang="en-US" sz="1100" dirty="0"/>
          </a:p>
        </p:txBody>
      </p:sp>
      <p:sp>
        <p:nvSpPr>
          <p:cNvPr id="14" name="Text 12"/>
          <p:cNvSpPr txBox="1"/>
          <p:nvPr/>
        </p:nvSpPr>
        <p:spPr>
          <a:xfrm>
            <a:off x="4069080" y="3200400"/>
            <a:ext cx="2926080" cy="365760"/>
          </a:xfrm>
          <a:prstGeom prst="rect">
            <a:avLst/>
          </a:prstGeom>
          <a:noFill/>
          <a:ln/>
        </p:spPr>
        <p:txBody>
          <a:bodyPr wrap="square" lIns="0" tIns="0" rIns="0" bIns="0" rtlCol="0" anchor="ctr"/>
          <a:lstStyle/>
          <a:p>
            <a:pPr algn="ctr" indent="0" marL="0">
              <a:buNone/>
            </a:pPr>
            <a:r>
              <a:rPr lang="en-US" sz="1500" b="1" dirty="0">
                <a:solidFill>
                  <a:srgbClr val="3FC1C9"/>
                </a:solidFill>
                <a:latin typeface="Calibri" pitchFamily="34" charset="0"/>
                <a:ea typeface="Calibri" pitchFamily="34" charset="-122"/>
                <a:cs typeface="Calibri" pitchFamily="34" charset="-120"/>
              </a:rPr>
              <a:t>175 tests</a:t>
            </a:r>
            <a:endParaRPr lang="en-US" sz="1500" dirty="0"/>
          </a:p>
        </p:txBody>
      </p:sp>
      <p:sp>
        <p:nvSpPr>
          <p:cNvPr id="15" name="Shape 13"/>
          <p:cNvSpPr/>
          <p:nvPr/>
        </p:nvSpPr>
        <p:spPr>
          <a:xfrm>
            <a:off x="7589520" y="1417320"/>
            <a:ext cx="3931920" cy="1097280"/>
          </a:xfrm>
          <a:prstGeom prst="roundRect">
            <a:avLst>
              <a:gd name="adj" fmla="val 8333"/>
            </a:avLst>
          </a:prstGeom>
          <a:solidFill>
            <a:srgbClr val="0E3B2E"/>
          </a:solidFill>
          <a:ln w="12700">
            <a:solidFill>
              <a:srgbClr val="0E3B2E"/>
            </a:solidFill>
            <a:prstDash val="solid"/>
          </a:ln>
        </p:spPr>
      </p:sp>
      <p:sp>
        <p:nvSpPr>
          <p:cNvPr id="16" name="Text 14"/>
          <p:cNvSpPr txBox="1"/>
          <p:nvPr/>
        </p:nvSpPr>
        <p:spPr>
          <a:xfrm>
            <a:off x="7726680" y="1572768"/>
            <a:ext cx="3657600" cy="36576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8 OSCAL 1.2.3 documents</a:t>
            </a:r>
            <a:endParaRPr lang="en-US" sz="1450" dirty="0"/>
          </a:p>
        </p:txBody>
      </p:sp>
      <p:sp>
        <p:nvSpPr>
          <p:cNvPr id="17" name="Text 15"/>
          <p:cNvSpPr txBox="1"/>
          <p:nvPr/>
        </p:nvSpPr>
        <p:spPr>
          <a:xfrm>
            <a:off x="7726680" y="1938528"/>
            <a:ext cx="3657600" cy="502920"/>
          </a:xfrm>
          <a:prstGeom prst="rect">
            <a:avLst/>
          </a:prstGeom>
          <a:noFill/>
          <a:ln/>
        </p:spPr>
        <p:txBody>
          <a:bodyPr wrap="square" lIns="0" tIns="0" rIns="0" bIns="0" rtlCol="0" anchor="ctr"/>
          <a:lstStyle/>
          <a:p>
            <a:pPr algn="ctr" indent="0" marL="0">
              <a:lnSpc>
                <a:spcPts val="1500"/>
              </a:lnSpc>
              <a:buNone/>
            </a:pPr>
            <a:r>
              <a:rPr lang="en-US" sz="1100" dirty="0">
                <a:solidFill>
                  <a:srgbClr val="9FE3C4"/>
                </a:solidFill>
                <a:latin typeface="Calibri" pitchFamily="34" charset="0"/>
                <a:ea typeface="Calibri" pitchFamily="34" charset="-122"/>
                <a:cs typeface="Calibri" pitchFamily="34" charset="-120"/>
              </a:rPr>
              <a:t>validated by NIST oscal-cli</a:t>
            </a:r>
            <a:endParaRPr lang="en-US" sz="1100" dirty="0"/>
          </a:p>
          <a:p>
            <a:pPr algn="ctr" indent="0" marL="0">
              <a:lnSpc>
                <a:spcPts val="1500"/>
              </a:lnSpc>
              <a:buNone/>
            </a:pPr>
            <a:r>
              <a:rPr lang="en-US" sz="1100" dirty="0">
                <a:solidFill>
                  <a:srgbClr val="9FE3C4"/>
                </a:solidFill>
                <a:latin typeface="Calibri" pitchFamily="34" charset="0"/>
                <a:ea typeface="Calibri" pitchFamily="34" charset="-122"/>
                <a:cs typeface="Calibri" pitchFamily="34" charset="-120"/>
              </a:rPr>
              <a:t>with full Metaschema constraints</a:t>
            </a:r>
            <a:endParaRPr lang="en-US" sz="1100" dirty="0"/>
          </a:p>
        </p:txBody>
      </p:sp>
      <p:sp>
        <p:nvSpPr>
          <p:cNvPr id="18" name="Shape 16"/>
          <p:cNvSpPr/>
          <p:nvPr/>
        </p:nvSpPr>
        <p:spPr>
          <a:xfrm>
            <a:off x="7589520" y="2679192"/>
            <a:ext cx="3931920" cy="1097280"/>
          </a:xfrm>
          <a:prstGeom prst="roundRect">
            <a:avLst>
              <a:gd name="adj" fmla="val 8333"/>
            </a:avLst>
          </a:prstGeom>
          <a:solidFill>
            <a:srgbClr val="0B3552"/>
          </a:solidFill>
          <a:ln w="12700">
            <a:solidFill>
              <a:srgbClr val="0B3552"/>
            </a:solidFill>
            <a:prstDash val="solid"/>
          </a:ln>
        </p:spPr>
      </p:sp>
      <p:sp>
        <p:nvSpPr>
          <p:cNvPr id="19" name="Text 17"/>
          <p:cNvSpPr txBox="1"/>
          <p:nvPr/>
        </p:nvSpPr>
        <p:spPr>
          <a:xfrm>
            <a:off x="7726680" y="2834640"/>
            <a:ext cx="3657600" cy="36576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Microsoft Foundry agents</a:t>
            </a:r>
            <a:endParaRPr lang="en-US" sz="1450" dirty="0"/>
          </a:p>
        </p:txBody>
      </p:sp>
      <p:sp>
        <p:nvSpPr>
          <p:cNvPr id="20" name="Text 18"/>
          <p:cNvSpPr txBox="1"/>
          <p:nvPr/>
        </p:nvSpPr>
        <p:spPr>
          <a:xfrm>
            <a:off x="7726680" y="3200400"/>
            <a:ext cx="3657600" cy="274320"/>
          </a:xfrm>
          <a:prstGeom prst="rect">
            <a:avLst/>
          </a:prstGeom>
          <a:noFill/>
          <a:ln/>
        </p:spPr>
        <p:txBody>
          <a:bodyPr wrap="square" lIns="0" tIns="0" rIns="0" bIns="0" rtlCol="0" anchor="ctr"/>
          <a:lstStyle/>
          <a:p>
            <a:pPr algn="ctr" indent="0" marL="0">
              <a:buNone/>
            </a:pPr>
            <a:r>
              <a:rPr lang="en-US" sz="1100" dirty="0">
                <a:solidFill>
                  <a:srgbClr val="3FC1C9"/>
                </a:solidFill>
                <a:latin typeface="Calibri" pitchFamily="34" charset="0"/>
                <a:ea typeface="Calibri" pitchFamily="34" charset="-122"/>
                <a:cs typeface="Calibri" pitchFamily="34" charset="-120"/>
              </a:rPr>
              <a:t>posture · risk · remediation · report</a:t>
            </a:r>
            <a:endParaRPr lang="en-US" sz="1100" dirty="0"/>
          </a:p>
        </p:txBody>
      </p:sp>
      <p:sp>
        <p:nvSpPr>
          <p:cNvPr id="21" name="Text 19"/>
          <p:cNvSpPr txBox="1"/>
          <p:nvPr/>
        </p:nvSpPr>
        <p:spPr>
          <a:xfrm>
            <a:off x="7726680" y="3456432"/>
            <a:ext cx="3657600" cy="274320"/>
          </a:xfrm>
          <a:prstGeom prst="rect">
            <a:avLst/>
          </a:prstGeom>
          <a:noFill/>
          <a:ln/>
        </p:spPr>
        <p:txBody>
          <a:bodyPr wrap="square" lIns="0" tIns="0" rIns="0" bIns="0" rtlCol="0" anchor="ctr"/>
          <a:lstStyle/>
          <a:p>
            <a:pPr algn="ctr" indent="0" marL="0">
              <a:buNone/>
            </a:pPr>
            <a:r>
              <a:rPr lang="en-US" sz="1050" i="1" dirty="0">
                <a:solidFill>
                  <a:srgbClr val="9FB3C8"/>
                </a:solidFill>
                <a:latin typeface="Calibri" pitchFamily="34" charset="0"/>
                <a:ea typeface="Calibri" pitchFamily="34" charset="-122"/>
                <a:cs typeface="Calibri" pitchFamily="34" charset="-120"/>
              </a:rPr>
              <a:t>reach facts ONLY through tool calls</a:t>
            </a:r>
            <a:endParaRPr lang="en-US" sz="1050" dirty="0"/>
          </a:p>
        </p:txBody>
      </p:sp>
      <p:sp>
        <p:nvSpPr>
          <p:cNvPr id="22" name="Shape 20"/>
          <p:cNvSpPr/>
          <p:nvPr/>
        </p:nvSpPr>
        <p:spPr>
          <a:xfrm>
            <a:off x="640080" y="4434840"/>
            <a:ext cx="10881360" cy="1371600"/>
          </a:xfrm>
          <a:prstGeom prst="roundRect">
            <a:avLst>
              <a:gd name="adj" fmla="val 6667"/>
            </a:avLst>
          </a:prstGeom>
          <a:solidFill>
            <a:srgbClr val="F0F6FB"/>
          </a:solidFill>
          <a:ln w="12700">
            <a:solidFill>
              <a:srgbClr val="D4E4F0"/>
            </a:solidFill>
            <a:prstDash val="solid"/>
          </a:ln>
        </p:spPr>
      </p:sp>
      <p:sp>
        <p:nvSpPr>
          <p:cNvPr id="23" name="Text 21"/>
          <p:cNvSpPr txBox="1"/>
          <p:nvPr/>
        </p:nvSpPr>
        <p:spPr>
          <a:xfrm>
            <a:off x="914400" y="4590288"/>
            <a:ext cx="10332720" cy="320040"/>
          </a:xfrm>
          <a:prstGeom prst="rect">
            <a:avLst/>
          </a:prstGeom>
          <a:noFill/>
          <a:ln/>
        </p:spPr>
        <p:txBody>
          <a:bodyPr wrap="square" lIns="0" tIns="0" rIns="0" bIns="0" rtlCol="0" anchor="ctr"/>
          <a:lstStyle/>
          <a:p>
            <a:pPr indent="0" marL="0">
              <a:buNone/>
            </a:pPr>
            <a:r>
              <a:rPr lang="en-US" sz="1400" b="1" dirty="0">
                <a:solidFill>
                  <a:srgbClr val="0A1A2F"/>
                </a:solidFill>
                <a:latin typeface="Calibri" pitchFamily="34" charset="0"/>
                <a:ea typeface="Calibri" pitchFamily="34" charset="-122"/>
                <a:cs typeface="Calibri" pitchFamily="34" charset="-120"/>
              </a:rPr>
              <a:t>Why this ordering is the whole design</a:t>
            </a:r>
            <a:endParaRPr lang="en-US" sz="1400" dirty="0"/>
          </a:p>
        </p:txBody>
      </p:sp>
      <p:sp>
        <p:nvSpPr>
          <p:cNvPr id="24" name="Text 22"/>
          <p:cNvSpPr txBox="1"/>
          <p:nvPr/>
        </p:nvSpPr>
        <p:spPr>
          <a:xfrm>
            <a:off x="914400" y="4956048"/>
            <a:ext cx="10332720" cy="731520"/>
          </a:xfrm>
          <a:prstGeom prst="rect">
            <a:avLst/>
          </a:prstGeom>
          <a:noFill/>
          <a:ln/>
        </p:spPr>
        <p:txBody>
          <a:bodyPr wrap="square" lIns="0" tIns="0" rIns="0" bIns="0" rtlCol="0" anchor="ctr"/>
          <a:lstStyle/>
          <a:p>
            <a:pPr indent="0" marL="0">
              <a:lnSpc>
                <a:spcPts val="2000"/>
              </a:lnSpc>
              <a:buNone/>
            </a:pPr>
            <a:r>
              <a:rPr lang="en-US" sz="1350" dirty="0">
                <a:solidFill>
                  <a:srgbClr val="10212F"/>
                </a:solidFill>
                <a:latin typeface="Calibri" pitchFamily="34" charset="0"/>
                <a:ea typeface="Calibri" pitchFamily="34" charset="-122"/>
                <a:cs typeface="Calibri" pitchFamily="34" charset="-120"/>
              </a:rPr>
              <a:t>“How do you know the model didn't invent that number?”  —  It couldn't have. Every figure comes from a pure function over a document that passed the NIST validator, and that function has tests.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182880"/>
            <a:ext cx="1088136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RESULT #1  ·  PERFORMANCE</a:t>
            </a:r>
            <a:endParaRPr lang="en-US" sz="1200" dirty="0"/>
          </a:p>
        </p:txBody>
      </p:sp>
      <p:sp>
        <p:nvSpPr>
          <p:cNvPr id="3" name="Text 1"/>
          <p:cNvSpPr txBox="1"/>
          <p:nvPr/>
        </p:nvSpPr>
        <p:spPr>
          <a:xfrm>
            <a:off x="640080" y="411480"/>
            <a:ext cx="10881360" cy="822960"/>
          </a:xfrm>
          <a:prstGeom prst="rect">
            <a:avLst/>
          </a:prstGeom>
          <a:noFill/>
          <a:ln/>
        </p:spPr>
        <p:txBody>
          <a:bodyPr wrap="square" lIns="0" tIns="0" rIns="0" bIns="0" rtlCol="0" anchor="ctr"/>
          <a:lstStyle/>
          <a:p>
            <a:pPr algn="l" indent="0" marL="0">
              <a:buNone/>
            </a:pPr>
            <a:r>
              <a:rPr lang="en-US" sz="3400" b="1" dirty="0">
                <a:solidFill>
                  <a:srgbClr val="10212F"/>
                </a:solidFill>
                <a:latin typeface="Cambria" pitchFamily="34" charset="0"/>
                <a:ea typeface="Cambria" pitchFamily="34" charset="-122"/>
                <a:cs typeface="Cambria" pitchFamily="34" charset="-120"/>
              </a:rPr>
              <a:t>The complete OSCAL chain — eight documents, all valid</a:t>
            </a:r>
            <a:endParaRPr lang="en-US" sz="3400" dirty="0"/>
          </a:p>
        </p:txBody>
      </p:sp>
      <p:sp>
        <p:nvSpPr>
          <p:cNvPr id="4" name="Shape 2"/>
          <p:cNvSpPr/>
          <p:nvPr/>
        </p:nvSpPr>
        <p:spPr>
          <a:xfrm>
            <a:off x="640080" y="1371600"/>
            <a:ext cx="10149840" cy="457200"/>
          </a:xfrm>
          <a:prstGeom prst="roundRect">
            <a:avLst>
              <a:gd name="adj" fmla="val 10000"/>
            </a:avLst>
          </a:prstGeom>
          <a:solidFill>
            <a:srgbClr val="F4F7F9"/>
          </a:solidFill>
          <a:ln w="12700">
            <a:solidFill>
              <a:srgbClr val="E2E8EE"/>
            </a:solidFill>
            <a:prstDash val="solid"/>
          </a:ln>
        </p:spPr>
      </p:sp>
      <p:sp>
        <p:nvSpPr>
          <p:cNvPr id="5" name="Text 3"/>
          <p:cNvSpPr txBox="1"/>
          <p:nvPr/>
        </p:nvSpPr>
        <p:spPr>
          <a:xfrm>
            <a:off x="777240" y="1444752"/>
            <a:ext cx="320040" cy="320040"/>
          </a:xfrm>
          <a:prstGeom prst="rect">
            <a:avLst/>
          </a:prstGeom>
          <a:noFill/>
          <a:ln/>
        </p:spPr>
        <p:txBody>
          <a:bodyPr wrap="square" lIns="0" tIns="0" rIns="0" bIns="0" rtlCol="0" anchor="ctr"/>
          <a:lstStyle/>
          <a:p>
            <a:pPr algn="ctr" indent="0" marL="0">
              <a:buNone/>
            </a:pPr>
            <a:r>
              <a:rPr lang="en-US" sz="1400" b="1" dirty="0">
                <a:solidFill>
                  <a:srgbClr val="30A46C"/>
                </a:solidFill>
                <a:latin typeface="Calibri" pitchFamily="34" charset="0"/>
                <a:ea typeface="Calibri" pitchFamily="34" charset="-122"/>
                <a:cs typeface="Calibri" pitchFamily="34" charset="-120"/>
              </a:rPr>
              <a:t>✓</a:t>
            </a:r>
            <a:endParaRPr lang="en-US" sz="1400" dirty="0"/>
          </a:p>
        </p:txBody>
      </p:sp>
      <p:sp>
        <p:nvSpPr>
          <p:cNvPr id="6" name="Text 4"/>
          <p:cNvSpPr txBox="1"/>
          <p:nvPr/>
        </p:nvSpPr>
        <p:spPr>
          <a:xfrm>
            <a:off x="1188720" y="1463040"/>
            <a:ext cx="3108960" cy="292608"/>
          </a:xfrm>
          <a:prstGeom prst="rect">
            <a:avLst/>
          </a:prstGeom>
          <a:noFill/>
          <a:ln/>
        </p:spPr>
        <p:txBody>
          <a:bodyPr wrap="square" lIns="0" tIns="0" rIns="0" bIns="0" rtlCol="0" anchor="ctr"/>
          <a:lstStyle/>
          <a:p>
            <a:pPr indent="0" marL="0">
              <a:buNone/>
            </a:pPr>
            <a:r>
              <a:rPr lang="en-US" sz="1250" b="1" dirty="0">
                <a:solidFill>
                  <a:srgbClr val="10212F"/>
                </a:solidFill>
                <a:latin typeface="Calibri" pitchFamily="34" charset="0"/>
                <a:ea typeface="Calibri" pitchFamily="34" charset="-122"/>
                <a:cs typeface="Calibri" pitchFamily="34" charset="-120"/>
              </a:rPr>
              <a:t>catalog</a:t>
            </a:r>
            <a:endParaRPr lang="en-US" sz="1250" dirty="0"/>
          </a:p>
        </p:txBody>
      </p:sp>
      <p:sp>
        <p:nvSpPr>
          <p:cNvPr id="7" name="Text 5"/>
          <p:cNvSpPr txBox="1"/>
          <p:nvPr/>
        </p:nvSpPr>
        <p:spPr>
          <a:xfrm>
            <a:off x="4389120" y="1463040"/>
            <a:ext cx="5120640" cy="29260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127 SCuBA policies, rationale, guidance, MITRE ATT&amp;CK</a:t>
            </a:r>
            <a:endParaRPr lang="en-US" sz="1200" dirty="0"/>
          </a:p>
        </p:txBody>
      </p:sp>
      <p:sp>
        <p:nvSpPr>
          <p:cNvPr id="8" name="Shape 6"/>
          <p:cNvSpPr/>
          <p:nvPr/>
        </p:nvSpPr>
        <p:spPr>
          <a:xfrm>
            <a:off x="640080" y="1920240"/>
            <a:ext cx="10149840" cy="457200"/>
          </a:xfrm>
          <a:prstGeom prst="roundRect">
            <a:avLst>
              <a:gd name="adj" fmla="val 10000"/>
            </a:avLst>
          </a:prstGeom>
          <a:solidFill>
            <a:srgbClr val="FFFFFF"/>
          </a:solidFill>
          <a:ln w="12700">
            <a:solidFill>
              <a:srgbClr val="EDF1F4"/>
            </a:solidFill>
            <a:prstDash val="solid"/>
          </a:ln>
        </p:spPr>
      </p:sp>
      <p:sp>
        <p:nvSpPr>
          <p:cNvPr id="9" name="Text 7"/>
          <p:cNvSpPr txBox="1"/>
          <p:nvPr/>
        </p:nvSpPr>
        <p:spPr>
          <a:xfrm>
            <a:off x="777240" y="1993392"/>
            <a:ext cx="320040" cy="320040"/>
          </a:xfrm>
          <a:prstGeom prst="rect">
            <a:avLst/>
          </a:prstGeom>
          <a:noFill/>
          <a:ln/>
        </p:spPr>
        <p:txBody>
          <a:bodyPr wrap="square" lIns="0" tIns="0" rIns="0" bIns="0" rtlCol="0" anchor="ctr"/>
          <a:lstStyle/>
          <a:p>
            <a:pPr algn="ctr" indent="0" marL="0">
              <a:buNone/>
            </a:pPr>
            <a:r>
              <a:rPr lang="en-US" sz="1400" b="1" dirty="0">
                <a:solidFill>
                  <a:srgbClr val="30A46C"/>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188720" y="2011680"/>
            <a:ext cx="3108960" cy="292608"/>
          </a:xfrm>
          <a:prstGeom prst="rect">
            <a:avLst/>
          </a:prstGeom>
          <a:noFill/>
          <a:ln/>
        </p:spPr>
        <p:txBody>
          <a:bodyPr wrap="square" lIns="0" tIns="0" rIns="0" bIns="0" rtlCol="0" anchor="ctr"/>
          <a:lstStyle/>
          <a:p>
            <a:pPr indent="0" marL="0">
              <a:buNone/>
            </a:pPr>
            <a:r>
              <a:rPr lang="en-US" sz="1250" b="1" dirty="0">
                <a:solidFill>
                  <a:srgbClr val="10212F"/>
                </a:solidFill>
                <a:latin typeface="Calibri" pitchFamily="34" charset="0"/>
                <a:ea typeface="Calibri" pitchFamily="34" charset="-122"/>
                <a:cs typeface="Calibri" pitchFamily="34" charset="-120"/>
              </a:rPr>
              <a:t>profile</a:t>
            </a:r>
            <a:endParaRPr lang="en-US" sz="1250" dirty="0"/>
          </a:p>
        </p:txBody>
      </p:sp>
      <p:sp>
        <p:nvSpPr>
          <p:cNvPr id="11" name="Text 9"/>
          <p:cNvSpPr txBox="1"/>
          <p:nvPr/>
        </p:nvSpPr>
        <p:spPr>
          <a:xfrm>
            <a:off x="4389120" y="2011680"/>
            <a:ext cx="5120640" cy="29260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the controls this assessment covered</a:t>
            </a:r>
            <a:endParaRPr lang="en-US" sz="1200" dirty="0"/>
          </a:p>
        </p:txBody>
      </p:sp>
      <p:sp>
        <p:nvSpPr>
          <p:cNvPr id="12" name="Shape 10"/>
          <p:cNvSpPr/>
          <p:nvPr/>
        </p:nvSpPr>
        <p:spPr>
          <a:xfrm>
            <a:off x="640080" y="2468880"/>
            <a:ext cx="10149840" cy="457200"/>
          </a:xfrm>
          <a:prstGeom prst="roundRect">
            <a:avLst>
              <a:gd name="adj" fmla="val 10000"/>
            </a:avLst>
          </a:prstGeom>
          <a:solidFill>
            <a:srgbClr val="F4F7F9"/>
          </a:solidFill>
          <a:ln w="12700">
            <a:solidFill>
              <a:srgbClr val="E2E8EE"/>
            </a:solidFill>
            <a:prstDash val="solid"/>
          </a:ln>
        </p:spPr>
      </p:sp>
      <p:sp>
        <p:nvSpPr>
          <p:cNvPr id="13" name="Text 11"/>
          <p:cNvSpPr txBox="1"/>
          <p:nvPr/>
        </p:nvSpPr>
        <p:spPr>
          <a:xfrm>
            <a:off x="777240" y="2542032"/>
            <a:ext cx="320040" cy="320040"/>
          </a:xfrm>
          <a:prstGeom prst="rect">
            <a:avLst/>
          </a:prstGeom>
          <a:noFill/>
          <a:ln/>
        </p:spPr>
        <p:txBody>
          <a:bodyPr wrap="square" lIns="0" tIns="0" rIns="0" bIns="0" rtlCol="0" anchor="ctr"/>
          <a:lstStyle/>
          <a:p>
            <a:pPr algn="ctr" indent="0" marL="0">
              <a:buNone/>
            </a:pPr>
            <a:r>
              <a:rPr lang="en-US" sz="1400" b="1" dirty="0">
                <a:solidFill>
                  <a:srgbClr val="30A46C"/>
                </a:solidFill>
                <a:latin typeface="Calibri" pitchFamily="34" charset="0"/>
                <a:ea typeface="Calibri" pitchFamily="34" charset="-122"/>
                <a:cs typeface="Calibri" pitchFamily="34" charset="-120"/>
              </a:rPr>
              <a:t>✓</a:t>
            </a:r>
            <a:endParaRPr lang="en-US" sz="1400" dirty="0"/>
          </a:p>
        </p:txBody>
      </p:sp>
      <p:sp>
        <p:nvSpPr>
          <p:cNvPr id="14" name="Text 12"/>
          <p:cNvSpPr txBox="1"/>
          <p:nvPr/>
        </p:nvSpPr>
        <p:spPr>
          <a:xfrm>
            <a:off x="1188720" y="2560320"/>
            <a:ext cx="3108960" cy="292608"/>
          </a:xfrm>
          <a:prstGeom prst="rect">
            <a:avLst/>
          </a:prstGeom>
          <a:noFill/>
          <a:ln/>
        </p:spPr>
        <p:txBody>
          <a:bodyPr wrap="square" lIns="0" tIns="0" rIns="0" bIns="0" rtlCol="0" anchor="ctr"/>
          <a:lstStyle/>
          <a:p>
            <a:pPr indent="0" marL="0">
              <a:buNone/>
            </a:pPr>
            <a:r>
              <a:rPr lang="en-US" sz="1250" b="1" dirty="0">
                <a:solidFill>
                  <a:srgbClr val="10212F"/>
                </a:solidFill>
                <a:latin typeface="Calibri" pitchFamily="34" charset="0"/>
                <a:ea typeface="Calibri" pitchFamily="34" charset="-122"/>
                <a:cs typeface="Calibri" pitchFamily="34" charset="-120"/>
              </a:rPr>
              <a:t>component-definition</a:t>
            </a:r>
            <a:endParaRPr lang="en-US" sz="1250" dirty="0"/>
          </a:p>
        </p:txBody>
      </p:sp>
      <p:sp>
        <p:nvSpPr>
          <p:cNvPr id="15" name="Text 13"/>
          <p:cNvSpPr txBox="1"/>
          <p:nvPr/>
        </p:nvSpPr>
        <p:spPr>
          <a:xfrm>
            <a:off x="4389120" y="2560320"/>
            <a:ext cx="5120640" cy="29260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the M365 services under assessment</a:t>
            </a:r>
            <a:endParaRPr lang="en-US" sz="1200" dirty="0"/>
          </a:p>
        </p:txBody>
      </p:sp>
      <p:sp>
        <p:nvSpPr>
          <p:cNvPr id="16" name="Shape 14"/>
          <p:cNvSpPr/>
          <p:nvPr/>
        </p:nvSpPr>
        <p:spPr>
          <a:xfrm>
            <a:off x="9601200" y="2551176"/>
            <a:ext cx="1051560" cy="292608"/>
          </a:xfrm>
          <a:prstGeom prst="roundRect">
            <a:avLst>
              <a:gd name="adj" fmla="val 15625"/>
            </a:avLst>
          </a:prstGeom>
          <a:solidFill>
            <a:srgbClr val="FFF1CC"/>
          </a:solidFill>
          <a:ln w="12700">
            <a:solidFill>
              <a:srgbClr val="FFE2A8"/>
            </a:solidFill>
            <a:prstDash val="solid"/>
          </a:ln>
        </p:spPr>
      </p:sp>
      <p:sp>
        <p:nvSpPr>
          <p:cNvPr id="17" name="Text 15"/>
          <p:cNvSpPr txBox="1"/>
          <p:nvPr/>
        </p:nvSpPr>
        <p:spPr>
          <a:xfrm>
            <a:off x="9601200" y="2587752"/>
            <a:ext cx="1051560" cy="237744"/>
          </a:xfrm>
          <a:prstGeom prst="rect">
            <a:avLst/>
          </a:prstGeom>
          <a:noFill/>
          <a:ln/>
        </p:spPr>
        <p:txBody>
          <a:bodyPr wrap="square" lIns="0" tIns="0" rIns="0" bIns="0" rtlCol="0" anchor="ctr"/>
          <a:lstStyle/>
          <a:p>
            <a:pPr algn="ctr" indent="0" marL="0">
              <a:buNone/>
            </a:pPr>
            <a:r>
              <a:rPr lang="en-US" sz="850" b="1" dirty="0">
                <a:solidFill>
                  <a:srgbClr val="8A5A00"/>
                </a:solidFill>
                <a:latin typeface="Calibri" pitchFamily="34" charset="0"/>
                <a:ea typeface="Calibri" pitchFamily="34" charset="-122"/>
                <a:cs typeface="Calibri" pitchFamily="34" charset="-120"/>
              </a:rPr>
              <a:t>CISA TODO</a:t>
            </a:r>
            <a:endParaRPr lang="en-US" sz="850" dirty="0"/>
          </a:p>
        </p:txBody>
      </p:sp>
      <p:sp>
        <p:nvSpPr>
          <p:cNvPr id="18" name="Shape 16"/>
          <p:cNvSpPr/>
          <p:nvPr/>
        </p:nvSpPr>
        <p:spPr>
          <a:xfrm>
            <a:off x="640080" y="3017520"/>
            <a:ext cx="10149840" cy="457200"/>
          </a:xfrm>
          <a:prstGeom prst="roundRect">
            <a:avLst>
              <a:gd name="adj" fmla="val 10000"/>
            </a:avLst>
          </a:prstGeom>
          <a:solidFill>
            <a:srgbClr val="FFFFFF"/>
          </a:solidFill>
          <a:ln w="12700">
            <a:solidFill>
              <a:srgbClr val="EDF1F4"/>
            </a:solidFill>
            <a:prstDash val="solid"/>
          </a:ln>
        </p:spPr>
      </p:sp>
      <p:sp>
        <p:nvSpPr>
          <p:cNvPr id="19" name="Text 17"/>
          <p:cNvSpPr txBox="1"/>
          <p:nvPr/>
        </p:nvSpPr>
        <p:spPr>
          <a:xfrm>
            <a:off x="777240" y="3090672"/>
            <a:ext cx="320040" cy="320040"/>
          </a:xfrm>
          <a:prstGeom prst="rect">
            <a:avLst/>
          </a:prstGeom>
          <a:noFill/>
          <a:ln/>
        </p:spPr>
        <p:txBody>
          <a:bodyPr wrap="square" lIns="0" tIns="0" rIns="0" bIns="0" rtlCol="0" anchor="ctr"/>
          <a:lstStyle/>
          <a:p>
            <a:pPr algn="ctr" indent="0" marL="0">
              <a:buNone/>
            </a:pPr>
            <a:r>
              <a:rPr lang="en-US" sz="1400" b="1" dirty="0">
                <a:solidFill>
                  <a:srgbClr val="30A46C"/>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1188720" y="3108960"/>
            <a:ext cx="3108960" cy="292608"/>
          </a:xfrm>
          <a:prstGeom prst="rect">
            <a:avLst/>
          </a:prstGeom>
          <a:noFill/>
          <a:ln/>
        </p:spPr>
        <p:txBody>
          <a:bodyPr wrap="square" lIns="0" tIns="0" rIns="0" bIns="0" rtlCol="0" anchor="ctr"/>
          <a:lstStyle/>
          <a:p>
            <a:pPr indent="0" marL="0">
              <a:buNone/>
            </a:pPr>
            <a:r>
              <a:rPr lang="en-US" sz="1250" b="1" dirty="0">
                <a:solidFill>
                  <a:srgbClr val="10212F"/>
                </a:solidFill>
                <a:latin typeface="Calibri" pitchFamily="34" charset="0"/>
                <a:ea typeface="Calibri" pitchFamily="34" charset="-122"/>
                <a:cs typeface="Calibri" pitchFamily="34" charset="-120"/>
              </a:rPr>
              <a:t>system-security-plan</a:t>
            </a:r>
            <a:endParaRPr lang="en-US" sz="1250" dirty="0"/>
          </a:p>
        </p:txBody>
      </p:sp>
      <p:sp>
        <p:nvSpPr>
          <p:cNvPr id="21" name="Text 19"/>
          <p:cNvSpPr txBox="1"/>
          <p:nvPr/>
        </p:nvSpPr>
        <p:spPr>
          <a:xfrm>
            <a:off x="4389120" y="3108960"/>
            <a:ext cx="5120640" cy="29260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the tenant and its in-scope controls</a:t>
            </a:r>
            <a:endParaRPr lang="en-US" sz="1200" dirty="0"/>
          </a:p>
        </p:txBody>
      </p:sp>
      <p:sp>
        <p:nvSpPr>
          <p:cNvPr id="22" name="Shape 20"/>
          <p:cNvSpPr/>
          <p:nvPr/>
        </p:nvSpPr>
        <p:spPr>
          <a:xfrm>
            <a:off x="9601200" y="3099816"/>
            <a:ext cx="1051560" cy="292608"/>
          </a:xfrm>
          <a:prstGeom prst="roundRect">
            <a:avLst>
              <a:gd name="adj" fmla="val 15625"/>
            </a:avLst>
          </a:prstGeom>
          <a:solidFill>
            <a:srgbClr val="FFF1CC"/>
          </a:solidFill>
          <a:ln w="12700">
            <a:solidFill>
              <a:srgbClr val="FFE2A8"/>
            </a:solidFill>
            <a:prstDash val="solid"/>
          </a:ln>
        </p:spPr>
      </p:sp>
      <p:sp>
        <p:nvSpPr>
          <p:cNvPr id="23" name="Text 21"/>
          <p:cNvSpPr txBox="1"/>
          <p:nvPr/>
        </p:nvSpPr>
        <p:spPr>
          <a:xfrm>
            <a:off x="9601200" y="3136392"/>
            <a:ext cx="1051560" cy="237744"/>
          </a:xfrm>
          <a:prstGeom prst="rect">
            <a:avLst/>
          </a:prstGeom>
          <a:noFill/>
          <a:ln/>
        </p:spPr>
        <p:txBody>
          <a:bodyPr wrap="square" lIns="0" tIns="0" rIns="0" bIns="0" rtlCol="0" anchor="ctr"/>
          <a:lstStyle/>
          <a:p>
            <a:pPr algn="ctr" indent="0" marL="0">
              <a:buNone/>
            </a:pPr>
            <a:r>
              <a:rPr lang="en-US" sz="850" b="1" dirty="0">
                <a:solidFill>
                  <a:srgbClr val="8A5A00"/>
                </a:solidFill>
                <a:latin typeface="Calibri" pitchFamily="34" charset="0"/>
                <a:ea typeface="Calibri" pitchFamily="34" charset="-122"/>
                <a:cs typeface="Calibri" pitchFamily="34" charset="-120"/>
              </a:rPr>
              <a:t>CISA TODO</a:t>
            </a:r>
            <a:endParaRPr lang="en-US" sz="850" dirty="0"/>
          </a:p>
        </p:txBody>
      </p:sp>
      <p:sp>
        <p:nvSpPr>
          <p:cNvPr id="24" name="Shape 22"/>
          <p:cNvSpPr/>
          <p:nvPr/>
        </p:nvSpPr>
        <p:spPr>
          <a:xfrm>
            <a:off x="640080" y="3566160"/>
            <a:ext cx="10149840" cy="457200"/>
          </a:xfrm>
          <a:prstGeom prst="roundRect">
            <a:avLst>
              <a:gd name="adj" fmla="val 10000"/>
            </a:avLst>
          </a:prstGeom>
          <a:solidFill>
            <a:srgbClr val="F4F7F9"/>
          </a:solidFill>
          <a:ln w="12700">
            <a:solidFill>
              <a:srgbClr val="E2E8EE"/>
            </a:solidFill>
            <a:prstDash val="solid"/>
          </a:ln>
        </p:spPr>
      </p:sp>
      <p:sp>
        <p:nvSpPr>
          <p:cNvPr id="25" name="Text 23"/>
          <p:cNvSpPr txBox="1"/>
          <p:nvPr/>
        </p:nvSpPr>
        <p:spPr>
          <a:xfrm>
            <a:off x="777240" y="3639312"/>
            <a:ext cx="320040" cy="320040"/>
          </a:xfrm>
          <a:prstGeom prst="rect">
            <a:avLst/>
          </a:prstGeom>
          <a:noFill/>
          <a:ln/>
        </p:spPr>
        <p:txBody>
          <a:bodyPr wrap="square" lIns="0" tIns="0" rIns="0" bIns="0" rtlCol="0" anchor="ctr"/>
          <a:lstStyle/>
          <a:p>
            <a:pPr algn="ctr" indent="0" marL="0">
              <a:buNone/>
            </a:pPr>
            <a:r>
              <a:rPr lang="en-US" sz="1400" b="1" dirty="0">
                <a:solidFill>
                  <a:srgbClr val="30A46C"/>
                </a:solidFill>
                <a:latin typeface="Calibri" pitchFamily="34" charset="0"/>
                <a:ea typeface="Calibri" pitchFamily="34" charset="-122"/>
                <a:cs typeface="Calibri" pitchFamily="34" charset="-120"/>
              </a:rPr>
              <a:t>✓</a:t>
            </a:r>
            <a:endParaRPr lang="en-US" sz="1400" dirty="0"/>
          </a:p>
        </p:txBody>
      </p:sp>
      <p:sp>
        <p:nvSpPr>
          <p:cNvPr id="26" name="Text 24"/>
          <p:cNvSpPr txBox="1"/>
          <p:nvPr/>
        </p:nvSpPr>
        <p:spPr>
          <a:xfrm>
            <a:off x="1188720" y="3657600"/>
            <a:ext cx="3108960" cy="292608"/>
          </a:xfrm>
          <a:prstGeom prst="rect">
            <a:avLst/>
          </a:prstGeom>
          <a:noFill/>
          <a:ln/>
        </p:spPr>
        <p:txBody>
          <a:bodyPr wrap="square" lIns="0" tIns="0" rIns="0" bIns="0" rtlCol="0" anchor="ctr"/>
          <a:lstStyle/>
          <a:p>
            <a:pPr indent="0" marL="0">
              <a:buNone/>
            </a:pPr>
            <a:r>
              <a:rPr lang="en-US" sz="1250" b="1" dirty="0">
                <a:solidFill>
                  <a:srgbClr val="10212F"/>
                </a:solidFill>
                <a:latin typeface="Calibri" pitchFamily="34" charset="0"/>
                <a:ea typeface="Calibri" pitchFamily="34" charset="-122"/>
                <a:cs typeface="Calibri" pitchFamily="34" charset="-120"/>
              </a:rPr>
              <a:t>assessment-plan</a:t>
            </a:r>
            <a:endParaRPr lang="en-US" sz="1250" dirty="0"/>
          </a:p>
        </p:txBody>
      </p:sp>
      <p:sp>
        <p:nvSpPr>
          <p:cNvPr id="27" name="Text 25"/>
          <p:cNvSpPr txBox="1"/>
          <p:nvPr/>
        </p:nvSpPr>
        <p:spPr>
          <a:xfrm>
            <a:off x="4389120" y="3657600"/>
            <a:ext cx="5120640" cy="29260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the procedure ScubaGear performs</a:t>
            </a:r>
            <a:endParaRPr lang="en-US" sz="1200" dirty="0"/>
          </a:p>
        </p:txBody>
      </p:sp>
      <p:sp>
        <p:nvSpPr>
          <p:cNvPr id="28" name="Shape 26"/>
          <p:cNvSpPr/>
          <p:nvPr/>
        </p:nvSpPr>
        <p:spPr>
          <a:xfrm>
            <a:off x="640080" y="4114800"/>
            <a:ext cx="10149840" cy="457200"/>
          </a:xfrm>
          <a:prstGeom prst="roundRect">
            <a:avLst>
              <a:gd name="adj" fmla="val 10000"/>
            </a:avLst>
          </a:prstGeom>
          <a:solidFill>
            <a:srgbClr val="FFFFFF"/>
          </a:solidFill>
          <a:ln w="12700">
            <a:solidFill>
              <a:srgbClr val="EDF1F4"/>
            </a:solidFill>
            <a:prstDash val="solid"/>
          </a:ln>
        </p:spPr>
      </p:sp>
      <p:sp>
        <p:nvSpPr>
          <p:cNvPr id="29" name="Text 27"/>
          <p:cNvSpPr txBox="1"/>
          <p:nvPr/>
        </p:nvSpPr>
        <p:spPr>
          <a:xfrm>
            <a:off x="777240" y="4187952"/>
            <a:ext cx="320040" cy="320040"/>
          </a:xfrm>
          <a:prstGeom prst="rect">
            <a:avLst/>
          </a:prstGeom>
          <a:noFill/>
          <a:ln/>
        </p:spPr>
        <p:txBody>
          <a:bodyPr wrap="square" lIns="0" tIns="0" rIns="0" bIns="0" rtlCol="0" anchor="ctr"/>
          <a:lstStyle/>
          <a:p>
            <a:pPr algn="ctr" indent="0" marL="0">
              <a:buNone/>
            </a:pPr>
            <a:r>
              <a:rPr lang="en-US" sz="1400" b="1" dirty="0">
                <a:solidFill>
                  <a:srgbClr val="30A46C"/>
                </a:solidFill>
                <a:latin typeface="Calibri" pitchFamily="34" charset="0"/>
                <a:ea typeface="Calibri" pitchFamily="34" charset="-122"/>
                <a:cs typeface="Calibri" pitchFamily="34" charset="-120"/>
              </a:rPr>
              <a:t>✓</a:t>
            </a:r>
            <a:endParaRPr lang="en-US" sz="1400" dirty="0"/>
          </a:p>
        </p:txBody>
      </p:sp>
      <p:sp>
        <p:nvSpPr>
          <p:cNvPr id="30" name="Text 28"/>
          <p:cNvSpPr txBox="1"/>
          <p:nvPr/>
        </p:nvSpPr>
        <p:spPr>
          <a:xfrm>
            <a:off x="1188720" y="4206240"/>
            <a:ext cx="3108960" cy="292608"/>
          </a:xfrm>
          <a:prstGeom prst="rect">
            <a:avLst/>
          </a:prstGeom>
          <a:noFill/>
          <a:ln/>
        </p:spPr>
        <p:txBody>
          <a:bodyPr wrap="square" lIns="0" tIns="0" rIns="0" bIns="0" rtlCol="0" anchor="ctr"/>
          <a:lstStyle/>
          <a:p>
            <a:pPr indent="0" marL="0">
              <a:buNone/>
            </a:pPr>
            <a:r>
              <a:rPr lang="en-US" sz="1250" b="1" dirty="0">
                <a:solidFill>
                  <a:srgbClr val="10212F"/>
                </a:solidFill>
                <a:latin typeface="Calibri" pitchFamily="34" charset="0"/>
                <a:ea typeface="Calibri" pitchFamily="34" charset="-122"/>
                <a:cs typeface="Calibri" pitchFamily="34" charset="-120"/>
              </a:rPr>
              <a:t>assessment-results</a:t>
            </a:r>
            <a:endParaRPr lang="en-US" sz="1250" dirty="0"/>
          </a:p>
        </p:txBody>
      </p:sp>
      <p:sp>
        <p:nvSpPr>
          <p:cNvPr id="31" name="Text 29"/>
          <p:cNvSpPr txBox="1"/>
          <p:nvPr/>
        </p:nvSpPr>
        <p:spPr>
          <a:xfrm>
            <a:off x="4389120" y="4206240"/>
            <a:ext cx="5120640" cy="29260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92 observations · 83 findings · 26 risks</a:t>
            </a:r>
            <a:endParaRPr lang="en-US" sz="1200" dirty="0"/>
          </a:p>
        </p:txBody>
      </p:sp>
      <p:sp>
        <p:nvSpPr>
          <p:cNvPr id="32" name="Shape 30"/>
          <p:cNvSpPr/>
          <p:nvPr/>
        </p:nvSpPr>
        <p:spPr>
          <a:xfrm>
            <a:off x="640080" y="4663440"/>
            <a:ext cx="10149840" cy="457200"/>
          </a:xfrm>
          <a:prstGeom prst="roundRect">
            <a:avLst>
              <a:gd name="adj" fmla="val 10000"/>
            </a:avLst>
          </a:prstGeom>
          <a:solidFill>
            <a:srgbClr val="F4F7F9"/>
          </a:solidFill>
          <a:ln w="12700">
            <a:solidFill>
              <a:srgbClr val="E2E8EE"/>
            </a:solidFill>
            <a:prstDash val="solid"/>
          </a:ln>
        </p:spPr>
      </p:sp>
      <p:sp>
        <p:nvSpPr>
          <p:cNvPr id="33" name="Text 31"/>
          <p:cNvSpPr txBox="1"/>
          <p:nvPr/>
        </p:nvSpPr>
        <p:spPr>
          <a:xfrm>
            <a:off x="777240" y="4736592"/>
            <a:ext cx="320040" cy="320040"/>
          </a:xfrm>
          <a:prstGeom prst="rect">
            <a:avLst/>
          </a:prstGeom>
          <a:noFill/>
          <a:ln/>
        </p:spPr>
        <p:txBody>
          <a:bodyPr wrap="square" lIns="0" tIns="0" rIns="0" bIns="0" rtlCol="0" anchor="ctr"/>
          <a:lstStyle/>
          <a:p>
            <a:pPr algn="ctr" indent="0" marL="0">
              <a:buNone/>
            </a:pPr>
            <a:r>
              <a:rPr lang="en-US" sz="1400" b="1" dirty="0">
                <a:solidFill>
                  <a:srgbClr val="30A46C"/>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1188720" y="4754880"/>
            <a:ext cx="3108960" cy="292608"/>
          </a:xfrm>
          <a:prstGeom prst="rect">
            <a:avLst/>
          </a:prstGeom>
          <a:noFill/>
          <a:ln/>
        </p:spPr>
        <p:txBody>
          <a:bodyPr wrap="square" lIns="0" tIns="0" rIns="0" bIns="0" rtlCol="0" anchor="ctr"/>
          <a:lstStyle/>
          <a:p>
            <a:pPr indent="0" marL="0">
              <a:buNone/>
            </a:pPr>
            <a:r>
              <a:rPr lang="en-US" sz="1250" b="1" dirty="0">
                <a:solidFill>
                  <a:srgbClr val="10212F"/>
                </a:solidFill>
                <a:latin typeface="Calibri" pitchFamily="34" charset="0"/>
                <a:ea typeface="Calibri" pitchFamily="34" charset="-122"/>
                <a:cs typeface="Calibri" pitchFamily="34" charset="-120"/>
              </a:rPr>
              <a:t>plan-of-action-and-milestones</a:t>
            </a:r>
            <a:endParaRPr lang="en-US" sz="1250" dirty="0"/>
          </a:p>
        </p:txBody>
      </p:sp>
      <p:sp>
        <p:nvSpPr>
          <p:cNvPr id="35" name="Text 33"/>
          <p:cNvSpPr txBox="1"/>
          <p:nvPr/>
        </p:nvSpPr>
        <p:spPr>
          <a:xfrm>
            <a:off x="4389120" y="4754880"/>
            <a:ext cx="5120640" cy="29260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26 prioritised items with deadlines</a:t>
            </a:r>
            <a:endParaRPr lang="en-US" sz="1200" dirty="0"/>
          </a:p>
        </p:txBody>
      </p:sp>
      <p:sp>
        <p:nvSpPr>
          <p:cNvPr id="36" name="Shape 34"/>
          <p:cNvSpPr/>
          <p:nvPr/>
        </p:nvSpPr>
        <p:spPr>
          <a:xfrm>
            <a:off x="9601200" y="4745736"/>
            <a:ext cx="1051560" cy="292608"/>
          </a:xfrm>
          <a:prstGeom prst="roundRect">
            <a:avLst>
              <a:gd name="adj" fmla="val 15625"/>
            </a:avLst>
          </a:prstGeom>
          <a:solidFill>
            <a:srgbClr val="FFF1CC"/>
          </a:solidFill>
          <a:ln w="12700">
            <a:solidFill>
              <a:srgbClr val="FFE2A8"/>
            </a:solidFill>
            <a:prstDash val="solid"/>
          </a:ln>
        </p:spPr>
      </p:sp>
      <p:sp>
        <p:nvSpPr>
          <p:cNvPr id="37" name="Text 35"/>
          <p:cNvSpPr txBox="1"/>
          <p:nvPr/>
        </p:nvSpPr>
        <p:spPr>
          <a:xfrm>
            <a:off x="9601200" y="4782312"/>
            <a:ext cx="1051560" cy="237744"/>
          </a:xfrm>
          <a:prstGeom prst="rect">
            <a:avLst/>
          </a:prstGeom>
          <a:noFill/>
          <a:ln/>
        </p:spPr>
        <p:txBody>
          <a:bodyPr wrap="square" lIns="0" tIns="0" rIns="0" bIns="0" rtlCol="0" anchor="ctr"/>
          <a:lstStyle/>
          <a:p>
            <a:pPr algn="ctr" indent="0" marL="0">
              <a:buNone/>
            </a:pPr>
            <a:r>
              <a:rPr lang="en-US" sz="850" b="1" dirty="0">
                <a:solidFill>
                  <a:srgbClr val="8A5A00"/>
                </a:solidFill>
                <a:latin typeface="Calibri" pitchFamily="34" charset="0"/>
                <a:ea typeface="Calibri" pitchFamily="34" charset="-122"/>
                <a:cs typeface="Calibri" pitchFamily="34" charset="-120"/>
              </a:rPr>
              <a:t>CISA TODO</a:t>
            </a:r>
            <a:endParaRPr lang="en-US" sz="850" dirty="0"/>
          </a:p>
        </p:txBody>
      </p:sp>
      <p:sp>
        <p:nvSpPr>
          <p:cNvPr id="38" name="Shape 36"/>
          <p:cNvSpPr/>
          <p:nvPr/>
        </p:nvSpPr>
        <p:spPr>
          <a:xfrm>
            <a:off x="640080" y="5212080"/>
            <a:ext cx="10149840" cy="457200"/>
          </a:xfrm>
          <a:prstGeom prst="roundRect">
            <a:avLst>
              <a:gd name="adj" fmla="val 10000"/>
            </a:avLst>
          </a:prstGeom>
          <a:solidFill>
            <a:srgbClr val="FFFFFF"/>
          </a:solidFill>
          <a:ln w="12700">
            <a:solidFill>
              <a:srgbClr val="EDF1F4"/>
            </a:solidFill>
            <a:prstDash val="solid"/>
          </a:ln>
        </p:spPr>
      </p:sp>
      <p:sp>
        <p:nvSpPr>
          <p:cNvPr id="39" name="Text 37"/>
          <p:cNvSpPr txBox="1"/>
          <p:nvPr/>
        </p:nvSpPr>
        <p:spPr>
          <a:xfrm>
            <a:off x="777240" y="5285232"/>
            <a:ext cx="320040" cy="320040"/>
          </a:xfrm>
          <a:prstGeom prst="rect">
            <a:avLst/>
          </a:prstGeom>
          <a:noFill/>
          <a:ln/>
        </p:spPr>
        <p:txBody>
          <a:bodyPr wrap="square" lIns="0" tIns="0" rIns="0" bIns="0" rtlCol="0" anchor="ctr"/>
          <a:lstStyle/>
          <a:p>
            <a:pPr algn="ctr" indent="0" marL="0">
              <a:buNone/>
            </a:pPr>
            <a:r>
              <a:rPr lang="en-US" sz="1400" b="1" dirty="0">
                <a:solidFill>
                  <a:srgbClr val="30A46C"/>
                </a:solidFill>
                <a:latin typeface="Calibri" pitchFamily="34" charset="0"/>
                <a:ea typeface="Calibri" pitchFamily="34" charset="-122"/>
                <a:cs typeface="Calibri" pitchFamily="34" charset="-120"/>
              </a:rPr>
              <a:t>✓</a:t>
            </a:r>
            <a:endParaRPr lang="en-US" sz="1400" dirty="0"/>
          </a:p>
        </p:txBody>
      </p:sp>
      <p:sp>
        <p:nvSpPr>
          <p:cNvPr id="40" name="Text 38"/>
          <p:cNvSpPr txBox="1"/>
          <p:nvPr/>
        </p:nvSpPr>
        <p:spPr>
          <a:xfrm>
            <a:off x="1188720" y="5303520"/>
            <a:ext cx="3108960" cy="292608"/>
          </a:xfrm>
          <a:prstGeom prst="rect">
            <a:avLst/>
          </a:prstGeom>
          <a:noFill/>
          <a:ln/>
        </p:spPr>
        <p:txBody>
          <a:bodyPr wrap="square" lIns="0" tIns="0" rIns="0" bIns="0" rtlCol="0" anchor="ctr"/>
          <a:lstStyle/>
          <a:p>
            <a:pPr indent="0" marL="0">
              <a:buNone/>
            </a:pPr>
            <a:r>
              <a:rPr lang="en-US" sz="1250" b="1" dirty="0">
                <a:solidFill>
                  <a:srgbClr val="10212F"/>
                </a:solidFill>
                <a:latin typeface="Calibri" pitchFamily="34" charset="0"/>
                <a:ea typeface="Calibri" pitchFamily="34" charset="-122"/>
                <a:cs typeface="Calibri" pitchFamily="34" charset="-120"/>
              </a:rPr>
              <a:t>mapping-collection</a:t>
            </a:r>
            <a:endParaRPr lang="en-US" sz="1250" dirty="0"/>
          </a:p>
        </p:txBody>
      </p:sp>
      <p:sp>
        <p:nvSpPr>
          <p:cNvPr id="41" name="Text 39"/>
          <p:cNvSpPr txBox="1"/>
          <p:nvPr/>
        </p:nvSpPr>
        <p:spPr>
          <a:xfrm>
            <a:off x="4389120" y="5303520"/>
            <a:ext cx="5120640" cy="29260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SCuBA → NIST 800-53, with provenance</a:t>
            </a:r>
            <a:endParaRPr lang="en-US" sz="1200" dirty="0"/>
          </a:p>
        </p:txBody>
      </p:sp>
      <p:sp>
        <p:nvSpPr>
          <p:cNvPr id="42" name="Text 40"/>
          <p:cNvSpPr txBox="1"/>
          <p:nvPr/>
        </p:nvSpPr>
        <p:spPr>
          <a:xfrm>
            <a:off x="640080" y="5852160"/>
            <a:ext cx="10881360" cy="457200"/>
          </a:xfrm>
          <a:prstGeom prst="rect">
            <a:avLst/>
          </a:prstGeom>
          <a:noFill/>
          <a:ln/>
        </p:spPr>
        <p:txBody>
          <a:bodyPr wrap="square" lIns="0" tIns="0" rIns="0" bIns="0" rtlCol="0" anchor="ctr"/>
          <a:lstStyle/>
          <a:p>
            <a:pPr indent="0" marL="0">
              <a:lnSpc>
                <a:spcPts val="1900"/>
              </a:lnSpc>
              <a:buNone/>
            </a:pPr>
            <a:r>
              <a:rPr lang="en-US" sz="1300" b="1" dirty="0">
                <a:solidFill>
                  <a:srgbClr val="14304F"/>
                </a:solidFill>
                <a:latin typeface="Calibri" pitchFamily="34" charset="0"/>
                <a:ea typeface="Calibri" pitchFamily="34" charset="-122"/>
                <a:cs typeface="Calibri" pitchFamily="34" charset="-120"/>
              </a:rPr>
              <a:t>8/8 pass NIST JSON Schema. 7/8 also pass NIST's own oscal-cli 3.2.0 with full Metaschema constraints — mapping-collection has no CLI command yet, and we report cli:n/a rather than implying more. Enforced in CI.</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182880"/>
            <a:ext cx="1088136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RESULT #2  ·  INNOVATION</a:t>
            </a:r>
            <a:endParaRPr lang="en-US" sz="1200" dirty="0"/>
          </a:p>
        </p:txBody>
      </p:sp>
      <p:sp>
        <p:nvSpPr>
          <p:cNvPr id="3" name="Text 1"/>
          <p:cNvSpPr txBox="1"/>
          <p:nvPr/>
        </p:nvSpPr>
        <p:spPr>
          <a:xfrm>
            <a:off x="640080" y="411480"/>
            <a:ext cx="10881360" cy="822960"/>
          </a:xfrm>
          <a:prstGeom prst="rect">
            <a:avLst/>
          </a:prstGeom>
          <a:noFill/>
          <a:ln/>
        </p:spPr>
        <p:txBody>
          <a:bodyPr wrap="square" lIns="0" tIns="0" rIns="0" bIns="0" rtlCol="0" anchor="ctr"/>
          <a:lstStyle/>
          <a:p>
            <a:pPr algn="l" indent="0" marL="0">
              <a:buNone/>
            </a:pPr>
            <a:r>
              <a:rPr lang="en-US" sz="3400" b="1" dirty="0">
                <a:solidFill>
                  <a:srgbClr val="10212F"/>
                </a:solidFill>
                <a:latin typeface="Cambria" pitchFamily="34" charset="0"/>
                <a:ea typeface="Cambria" pitchFamily="34" charset="-122"/>
                <a:cs typeface="Cambria" pitchFamily="34" charset="-120"/>
              </a:rPr>
              <a:t>Mappings provably faithful to CISA</a:t>
            </a:r>
            <a:endParaRPr lang="en-US" sz="3400" dirty="0"/>
          </a:p>
        </p:txBody>
      </p:sp>
      <p:sp>
        <p:nvSpPr>
          <p:cNvPr id="4" name="Text 2"/>
          <p:cNvSpPr txBox="1"/>
          <p:nvPr/>
        </p:nvSpPr>
        <p:spPr>
          <a:xfrm>
            <a:off x="640080" y="1325880"/>
            <a:ext cx="10881360" cy="594360"/>
          </a:xfrm>
          <a:prstGeom prst="rect">
            <a:avLst/>
          </a:prstGeom>
          <a:noFill/>
          <a:ln/>
        </p:spPr>
        <p:txBody>
          <a:bodyPr wrap="square" lIns="0" tIns="0" rIns="0" bIns="0" rtlCol="0" anchor="ctr"/>
          <a:lstStyle/>
          <a:p>
            <a:pPr indent="0" marL="0">
              <a:lnSpc>
                <a:spcPts val="2100"/>
              </a:lnSpc>
              <a:buNone/>
            </a:pPr>
            <a:r>
              <a:rPr lang="en-US" sz="1450" dirty="0">
                <a:solidFill>
                  <a:srgbClr val="10212F"/>
                </a:solidFill>
                <a:latin typeface="Calibri" pitchFamily="34" charset="0"/>
                <a:ea typeface="Calibri" pitchFamily="34" charset="-122"/>
                <a:cs typeface="Calibri" pitchFamily="34" charset="-120"/>
              </a:rPr>
              <a:t>CISA already publishes the authoritative SCuBA → NIST 800-53 crosswalk. Asking a model to guess what CISA has already stated is not innovation — it is a correctness regression.</a:t>
            </a:r>
            <a:endParaRPr lang="en-US" sz="1450" dirty="0"/>
          </a:p>
        </p:txBody>
      </p:sp>
      <p:sp>
        <p:nvSpPr>
          <p:cNvPr id="5" name="Shape 3"/>
          <p:cNvSpPr/>
          <p:nvPr/>
        </p:nvSpPr>
        <p:spPr>
          <a:xfrm>
            <a:off x="640080" y="2103120"/>
            <a:ext cx="2514600" cy="1508760"/>
          </a:xfrm>
          <a:prstGeom prst="roundRect">
            <a:avLst>
              <a:gd name="adj" fmla="val 6061"/>
            </a:avLst>
          </a:prstGeom>
          <a:solidFill>
            <a:srgbClr val="F4F7F9"/>
          </a:solidFill>
          <a:ln w="12700">
            <a:solidFill>
              <a:srgbClr val="F4F7F9"/>
            </a:solidFill>
            <a:prstDash val="solid"/>
          </a:ln>
        </p:spPr>
      </p:sp>
      <p:sp>
        <p:nvSpPr>
          <p:cNvPr id="6" name="Text 4"/>
          <p:cNvSpPr txBox="1"/>
          <p:nvPr/>
        </p:nvSpPr>
        <p:spPr>
          <a:xfrm>
            <a:off x="640080" y="2267712"/>
            <a:ext cx="2514600" cy="749808"/>
          </a:xfrm>
          <a:prstGeom prst="rect">
            <a:avLst/>
          </a:prstGeom>
          <a:noFill/>
          <a:ln/>
        </p:spPr>
        <p:txBody>
          <a:bodyPr wrap="square" lIns="0" tIns="0" rIns="0" bIns="0" rtlCol="0" anchor="ctr"/>
          <a:lstStyle/>
          <a:p>
            <a:pPr algn="ctr" indent="0" marL="0">
              <a:buNone/>
            </a:pPr>
            <a:r>
              <a:rPr lang="en-US" sz="4000" b="1" dirty="0">
                <a:solidFill>
                  <a:srgbClr val="10212F"/>
                </a:solidFill>
                <a:latin typeface="Calibri" pitchFamily="34" charset="0"/>
                <a:ea typeface="Calibri" pitchFamily="34" charset="-122"/>
                <a:cs typeface="Calibri" pitchFamily="34" charset="-120"/>
              </a:rPr>
              <a:t>71</a:t>
            </a:r>
            <a:endParaRPr lang="en-US" sz="4000" dirty="0"/>
          </a:p>
        </p:txBody>
      </p:sp>
      <p:sp>
        <p:nvSpPr>
          <p:cNvPr id="7" name="Text 5"/>
          <p:cNvSpPr txBox="1"/>
          <p:nvPr/>
        </p:nvSpPr>
        <p:spPr>
          <a:xfrm>
            <a:off x="749808" y="3017520"/>
            <a:ext cx="2295144" cy="502920"/>
          </a:xfrm>
          <a:prstGeom prst="rect">
            <a:avLst/>
          </a:prstGeom>
          <a:noFill/>
          <a:ln/>
        </p:spPr>
        <p:txBody>
          <a:bodyPr wrap="square" lIns="0" tIns="0" rIns="0" bIns="0" rtlCol="0" anchor="ctr"/>
          <a:lstStyle/>
          <a:p>
            <a:pPr algn="ctr" indent="0" marL="0">
              <a:buNone/>
            </a:pPr>
            <a:r>
              <a:rPr lang="en-US" sz="1150" dirty="0">
                <a:solidFill>
                  <a:srgbClr val="5A6B7B"/>
                </a:solidFill>
                <a:latin typeface="Calibri" pitchFamily="34" charset="0"/>
                <a:ea typeface="Calibri" pitchFamily="34" charset="-122"/>
                <a:cs typeface="Calibri" pitchFamily="34" charset="-120"/>
              </a:rPr>
              <a:t>direct crosswalk entries</a:t>
            </a:r>
            <a:endParaRPr lang="en-US" sz="1150" dirty="0"/>
          </a:p>
        </p:txBody>
      </p:sp>
      <p:sp>
        <p:nvSpPr>
          <p:cNvPr id="8" name="Shape 6"/>
          <p:cNvSpPr/>
          <p:nvPr/>
        </p:nvSpPr>
        <p:spPr>
          <a:xfrm>
            <a:off x="3337560" y="2103120"/>
            <a:ext cx="2514600" cy="1508760"/>
          </a:xfrm>
          <a:prstGeom prst="roundRect">
            <a:avLst>
              <a:gd name="adj" fmla="val 6061"/>
            </a:avLst>
          </a:prstGeom>
          <a:solidFill>
            <a:srgbClr val="F4F7F9"/>
          </a:solidFill>
          <a:ln w="12700">
            <a:solidFill>
              <a:srgbClr val="F4F7F9"/>
            </a:solidFill>
            <a:prstDash val="solid"/>
          </a:ln>
        </p:spPr>
      </p:sp>
      <p:sp>
        <p:nvSpPr>
          <p:cNvPr id="9" name="Text 7"/>
          <p:cNvSpPr txBox="1"/>
          <p:nvPr/>
        </p:nvSpPr>
        <p:spPr>
          <a:xfrm>
            <a:off x="3337560" y="2267712"/>
            <a:ext cx="2514600" cy="749808"/>
          </a:xfrm>
          <a:prstGeom prst="rect">
            <a:avLst/>
          </a:prstGeom>
          <a:noFill/>
          <a:ln/>
        </p:spPr>
        <p:txBody>
          <a:bodyPr wrap="square" lIns="0" tIns="0" rIns="0" bIns="0" rtlCol="0" anchor="ctr"/>
          <a:lstStyle/>
          <a:p>
            <a:pPr algn="ctr" indent="0" marL="0">
              <a:buNone/>
            </a:pPr>
            <a:r>
              <a:rPr lang="en-US" sz="4000" b="1" dirty="0">
                <a:solidFill>
                  <a:srgbClr val="10212F"/>
                </a:solidFill>
                <a:latin typeface="Calibri" pitchFamily="34" charset="0"/>
                <a:ea typeface="Calibri" pitchFamily="34" charset="-122"/>
                <a:cs typeface="Calibri" pitchFamily="34" charset="-120"/>
              </a:rPr>
              <a:t>+18</a:t>
            </a:r>
            <a:endParaRPr lang="en-US" sz="4000" dirty="0"/>
          </a:p>
        </p:txBody>
      </p:sp>
      <p:sp>
        <p:nvSpPr>
          <p:cNvPr id="10" name="Text 8"/>
          <p:cNvSpPr txBox="1"/>
          <p:nvPr/>
        </p:nvSpPr>
        <p:spPr>
          <a:xfrm>
            <a:off x="3447288" y="3017520"/>
            <a:ext cx="2295144" cy="502920"/>
          </a:xfrm>
          <a:prstGeom prst="rect">
            <a:avLst/>
          </a:prstGeom>
          <a:noFill/>
          <a:ln/>
        </p:spPr>
        <p:txBody>
          <a:bodyPr wrap="square" lIns="0" tIns="0" rIns="0" bIns="0" rtlCol="0" anchor="ctr"/>
          <a:lstStyle/>
          <a:p>
            <a:pPr algn="ctr" indent="0" marL="0">
              <a:buNone/>
            </a:pPr>
            <a:r>
              <a:rPr lang="en-US" sz="1150" dirty="0">
                <a:solidFill>
                  <a:srgbClr val="5A6B7B"/>
                </a:solidFill>
                <a:latin typeface="Calibri" pitchFamily="34" charset="0"/>
                <a:ea typeface="Calibri" pitchFamily="34" charset="-122"/>
                <a:cs typeface="Calibri" pitchFamily="34" charset="-120"/>
              </a:rPr>
              <a:t>resolved via CISA's</a:t>
            </a:r>
            <a:endParaRPr lang="en-US" sz="1150" dirty="0"/>
          </a:p>
          <a:p>
            <a:pPr algn="ctr" indent="0" marL="0">
              <a:buNone/>
            </a:pPr>
            <a:r>
              <a:rPr lang="en-US" sz="1150" dirty="0">
                <a:solidFill>
                  <a:srgbClr val="5A6B7B"/>
                </a:solidFill>
                <a:latin typeface="Calibri" pitchFamily="34" charset="0"/>
                <a:ea typeface="Calibri" pitchFamily="34" charset="-122"/>
                <a:cs typeface="Calibri" pitchFamily="34" charset="-120"/>
              </a:rPr>
              <a:t>migration table</a:t>
            </a:r>
            <a:endParaRPr lang="en-US" sz="1150" dirty="0"/>
          </a:p>
        </p:txBody>
      </p:sp>
      <p:sp>
        <p:nvSpPr>
          <p:cNvPr id="11" name="Shape 9"/>
          <p:cNvSpPr/>
          <p:nvPr/>
        </p:nvSpPr>
        <p:spPr>
          <a:xfrm>
            <a:off x="6035040" y="2103120"/>
            <a:ext cx="2514600" cy="1508760"/>
          </a:xfrm>
          <a:prstGeom prst="roundRect">
            <a:avLst>
              <a:gd name="adj" fmla="val 6061"/>
            </a:avLst>
          </a:prstGeom>
          <a:solidFill>
            <a:srgbClr val="E8F6EF"/>
          </a:solidFill>
          <a:ln w="12700">
            <a:solidFill>
              <a:srgbClr val="E8F6EF"/>
            </a:solidFill>
            <a:prstDash val="solid"/>
          </a:ln>
        </p:spPr>
      </p:sp>
      <p:sp>
        <p:nvSpPr>
          <p:cNvPr id="12" name="Text 10"/>
          <p:cNvSpPr txBox="1"/>
          <p:nvPr/>
        </p:nvSpPr>
        <p:spPr>
          <a:xfrm>
            <a:off x="6035040" y="2267712"/>
            <a:ext cx="2514600" cy="749808"/>
          </a:xfrm>
          <a:prstGeom prst="rect">
            <a:avLst/>
          </a:prstGeom>
          <a:noFill/>
          <a:ln/>
        </p:spPr>
        <p:txBody>
          <a:bodyPr wrap="square" lIns="0" tIns="0" rIns="0" bIns="0" rtlCol="0" anchor="ctr"/>
          <a:lstStyle/>
          <a:p>
            <a:pPr algn="ctr" indent="0" marL="0">
              <a:buNone/>
            </a:pPr>
            <a:r>
              <a:rPr lang="en-US" sz="4000" b="1" dirty="0">
                <a:solidFill>
                  <a:srgbClr val="30A46C"/>
                </a:solidFill>
                <a:latin typeface="Calibri" pitchFamily="34" charset="0"/>
                <a:ea typeface="Calibri" pitchFamily="34" charset="-122"/>
                <a:cs typeface="Calibri" pitchFamily="34" charset="-120"/>
              </a:rPr>
              <a:t>89/92</a:t>
            </a:r>
            <a:endParaRPr lang="en-US" sz="4000" dirty="0"/>
          </a:p>
        </p:txBody>
      </p:sp>
      <p:sp>
        <p:nvSpPr>
          <p:cNvPr id="13" name="Text 11"/>
          <p:cNvSpPr txBox="1"/>
          <p:nvPr/>
        </p:nvSpPr>
        <p:spPr>
          <a:xfrm>
            <a:off x="6144768" y="3017520"/>
            <a:ext cx="2295144" cy="502920"/>
          </a:xfrm>
          <a:prstGeom prst="rect">
            <a:avLst/>
          </a:prstGeom>
          <a:noFill/>
          <a:ln/>
        </p:spPr>
        <p:txBody>
          <a:bodyPr wrap="square" lIns="0" tIns="0" rIns="0" bIns="0" rtlCol="0" anchor="ctr"/>
          <a:lstStyle/>
          <a:p>
            <a:pPr algn="ctr" indent="0" marL="0">
              <a:buNone/>
            </a:pPr>
            <a:r>
              <a:rPr lang="en-US" sz="1150" dirty="0">
                <a:solidFill>
                  <a:srgbClr val="5A6B7B"/>
                </a:solidFill>
                <a:latin typeface="Calibri" pitchFamily="34" charset="0"/>
                <a:ea typeface="Calibri" pitchFamily="34" charset="-122"/>
                <a:cs typeface="Calibri" pitchFamily="34" charset="-120"/>
              </a:rPr>
              <a:t>deterministic — 97%</a:t>
            </a:r>
            <a:endParaRPr lang="en-US" sz="1150" dirty="0"/>
          </a:p>
          <a:p>
            <a:pPr algn="ctr" indent="0" marL="0">
              <a:buNone/>
            </a:pPr>
            <a:r>
              <a:rPr lang="en-US" sz="1150" dirty="0">
                <a:solidFill>
                  <a:srgbClr val="5A6B7B"/>
                </a:solidFill>
                <a:latin typeface="Calibri" pitchFamily="34" charset="0"/>
                <a:ea typeface="Calibri" pitchFamily="34" charset="-122"/>
                <a:cs typeface="Calibri" pitchFamily="34" charset="-120"/>
              </a:rPr>
              <a:t>zero AI guessing</a:t>
            </a:r>
            <a:endParaRPr lang="en-US" sz="1150" dirty="0"/>
          </a:p>
        </p:txBody>
      </p:sp>
      <p:sp>
        <p:nvSpPr>
          <p:cNvPr id="14" name="Shape 12"/>
          <p:cNvSpPr/>
          <p:nvPr/>
        </p:nvSpPr>
        <p:spPr>
          <a:xfrm>
            <a:off x="8732520" y="2103120"/>
            <a:ext cx="2788920" cy="1508760"/>
          </a:xfrm>
          <a:prstGeom prst="roundRect">
            <a:avLst>
              <a:gd name="adj" fmla="val 6061"/>
            </a:avLst>
          </a:prstGeom>
          <a:solidFill>
            <a:srgbClr val="FFF6E0"/>
          </a:solidFill>
          <a:ln w="12700">
            <a:solidFill>
              <a:srgbClr val="FFF6E0"/>
            </a:solidFill>
            <a:prstDash val="solid"/>
          </a:ln>
        </p:spPr>
      </p:sp>
      <p:sp>
        <p:nvSpPr>
          <p:cNvPr id="15" name="Text 13"/>
          <p:cNvSpPr txBox="1"/>
          <p:nvPr/>
        </p:nvSpPr>
        <p:spPr>
          <a:xfrm>
            <a:off x="8732520" y="2267712"/>
            <a:ext cx="2788920" cy="749808"/>
          </a:xfrm>
          <a:prstGeom prst="rect">
            <a:avLst/>
          </a:prstGeom>
          <a:noFill/>
          <a:ln/>
        </p:spPr>
        <p:txBody>
          <a:bodyPr wrap="square" lIns="0" tIns="0" rIns="0" bIns="0" rtlCol="0" anchor="ctr"/>
          <a:lstStyle/>
          <a:p>
            <a:pPr algn="ctr" indent="0" marL="0">
              <a:buNone/>
            </a:pPr>
            <a:r>
              <a:rPr lang="en-US" sz="4000" b="1" dirty="0">
                <a:solidFill>
                  <a:srgbClr val="8A5A00"/>
                </a:solidFill>
                <a:latin typeface="Calibri" pitchFamily="34" charset="0"/>
                <a:ea typeface="Calibri" pitchFamily="34" charset="-122"/>
                <a:cs typeface="Calibri" pitchFamily="34" charset="-120"/>
              </a:rPr>
              <a:t>3</a:t>
            </a:r>
            <a:endParaRPr lang="en-US" sz="4000" dirty="0"/>
          </a:p>
        </p:txBody>
      </p:sp>
      <p:sp>
        <p:nvSpPr>
          <p:cNvPr id="16" name="Text 14"/>
          <p:cNvSpPr txBox="1"/>
          <p:nvPr/>
        </p:nvSpPr>
        <p:spPr>
          <a:xfrm>
            <a:off x="8842248" y="3017520"/>
            <a:ext cx="2569464" cy="502920"/>
          </a:xfrm>
          <a:prstGeom prst="rect">
            <a:avLst/>
          </a:prstGeom>
          <a:noFill/>
          <a:ln/>
        </p:spPr>
        <p:txBody>
          <a:bodyPr wrap="square" lIns="0" tIns="0" rIns="0" bIns="0" rtlCol="0" anchor="ctr"/>
          <a:lstStyle/>
          <a:p>
            <a:pPr algn="ctr" indent="0" marL="0">
              <a:buNone/>
            </a:pPr>
            <a:r>
              <a:rPr lang="en-US" sz="1150" dirty="0">
                <a:solidFill>
                  <a:srgbClr val="5A6B7B"/>
                </a:solidFill>
                <a:latin typeface="Calibri" pitchFamily="34" charset="0"/>
                <a:ea typeface="Calibri" pitchFamily="34" charset="-122"/>
                <a:cs typeface="Calibri" pitchFamily="34" charset="-120"/>
              </a:rPr>
              <a:t>reported as unmapped:</a:t>
            </a:r>
            <a:endParaRPr lang="en-US" sz="1150" dirty="0"/>
          </a:p>
          <a:p>
            <a:pPr algn="ctr" indent="0" marL="0">
              <a:buNone/>
            </a:pPr>
            <a:r>
              <a:rPr lang="en-US" sz="1150" dirty="0">
                <a:solidFill>
                  <a:srgbClr val="5A6B7B"/>
                </a:solidFill>
                <a:latin typeface="Calibri" pitchFamily="34" charset="0"/>
                <a:ea typeface="Calibri" pitchFamily="34" charset="-122"/>
                <a:cs typeface="Calibri" pitchFamily="34" charset="-120"/>
              </a:rPr>
              <a:t>never inferred</a:t>
            </a:r>
            <a:endParaRPr lang="en-US" sz="1150" dirty="0"/>
          </a:p>
        </p:txBody>
      </p:sp>
      <p:sp>
        <p:nvSpPr>
          <p:cNvPr id="17" name="Shape 15"/>
          <p:cNvSpPr/>
          <p:nvPr/>
        </p:nvSpPr>
        <p:spPr>
          <a:xfrm>
            <a:off x="640080" y="3931920"/>
            <a:ext cx="10881360" cy="1371600"/>
          </a:xfrm>
          <a:prstGeom prst="roundRect">
            <a:avLst>
              <a:gd name="adj" fmla="val 6667"/>
            </a:avLst>
          </a:prstGeom>
          <a:solidFill>
            <a:srgbClr val="0A1A2F"/>
          </a:solidFill>
          <a:ln w="12700">
            <a:solidFill>
              <a:srgbClr val="0A1A2F"/>
            </a:solidFill>
            <a:prstDash val="solid"/>
          </a:ln>
        </p:spPr>
      </p:sp>
      <p:sp>
        <p:nvSpPr>
          <p:cNvPr id="18" name="Text 16"/>
          <p:cNvSpPr txBox="1"/>
          <p:nvPr/>
        </p:nvSpPr>
        <p:spPr>
          <a:xfrm>
            <a:off x="914400" y="4096512"/>
            <a:ext cx="10332720" cy="320040"/>
          </a:xfrm>
          <a:prstGeom prst="rect">
            <a:avLst/>
          </a:prstGeom>
          <a:noFill/>
          <a:ln/>
        </p:spPr>
        <p:txBody>
          <a:bodyPr wrap="square" lIns="0" tIns="0" rIns="0" bIns="0" rtlCol="0" anchor="ctr"/>
          <a:lstStyle/>
          <a:p>
            <a:pPr indent="0" marL="0">
              <a:buNone/>
            </a:pPr>
            <a:r>
              <a:rPr lang="en-US" sz="1400" b="1" dirty="0">
                <a:solidFill>
                  <a:srgbClr val="FFB700"/>
                </a:solidFill>
                <a:latin typeface="Calibri" pitchFamily="34" charset="0"/>
                <a:ea typeface="Calibri" pitchFamily="34" charset="-122"/>
                <a:cs typeface="Calibri" pitchFamily="34" charset="-120"/>
              </a:rPr>
              <a:t>The CI test that proves it</a:t>
            </a:r>
            <a:endParaRPr lang="en-US" sz="1400" dirty="0"/>
          </a:p>
        </p:txBody>
      </p:sp>
      <p:sp>
        <p:nvSpPr>
          <p:cNvPr id="19" name="Text 17"/>
          <p:cNvSpPr txBox="1"/>
          <p:nvPr/>
        </p:nvSpPr>
        <p:spPr>
          <a:xfrm>
            <a:off x="914400" y="4434840"/>
            <a:ext cx="10332720" cy="502920"/>
          </a:xfrm>
          <a:prstGeom prst="rect">
            <a:avLst/>
          </a:prstGeom>
          <a:noFill/>
          <a:ln/>
        </p:spPr>
        <p:txBody>
          <a:bodyPr wrap="square" lIns="0" tIns="0" rIns="0" bIns="0" rtlCol="0" anchor="ctr"/>
          <a:lstStyle/>
          <a:p>
            <a:pPr indent="0" marL="0">
              <a:lnSpc>
                <a:spcPts val="1800"/>
              </a:lnSpc>
              <a:buNone/>
            </a:pPr>
            <a:r>
              <a:rPr lang="en-US" sz="1250" dirty="0">
                <a:solidFill>
                  <a:srgbClr val="D2DEE8"/>
                </a:solidFill>
                <a:latin typeface="Calibri" pitchFamily="34" charset="0"/>
                <a:ea typeface="Calibri" pitchFamily="34" charset="-122"/>
                <a:cs typeface="Calibri" pitchFamily="34" charset="-120"/>
              </a:rPr>
              <a:t>Our build fails if any emitted mapping diverges from CISA's CSV — read independently of our own parser, so a parser bug cannot make the test agree with itself. It also pins a case published third-party tooling gets wrong:</a:t>
            </a:r>
            <a:endParaRPr lang="en-US" sz="1250" dirty="0"/>
          </a:p>
        </p:txBody>
      </p:sp>
      <p:sp>
        <p:nvSpPr>
          <p:cNvPr id="20" name="Text 18"/>
          <p:cNvSpPr txBox="1"/>
          <p:nvPr/>
        </p:nvSpPr>
        <p:spPr>
          <a:xfrm>
            <a:off x="914400" y="4919472"/>
            <a:ext cx="10332720" cy="292608"/>
          </a:xfrm>
          <a:prstGeom prst="rect">
            <a:avLst/>
          </a:prstGeom>
          <a:noFill/>
          <a:ln/>
        </p:spPr>
        <p:txBody>
          <a:bodyPr wrap="square" lIns="0" tIns="0" rIns="0" bIns="0" rtlCol="0" anchor="ctr"/>
          <a:lstStyle/>
          <a:p>
            <a:pPr indent="0" marL="0">
              <a:buNone/>
            </a:pPr>
            <a:r>
              <a:rPr lang="en-US" sz="1250" b="1" dirty="0">
                <a:solidFill>
                  <a:srgbClr val="3FC1C9"/>
                </a:solidFill>
                <a:latin typeface="Courier New" pitchFamily="34" charset="0"/>
                <a:ea typeface="Courier New" pitchFamily="34" charset="-122"/>
                <a:cs typeface="Courier New" pitchFamily="34" charset="-120"/>
              </a:rPr>
              <a:t>MS.AAD.1.1v1  →  CM-7  (least functionality)          not  IA-2(1)  (an MFA control)</a:t>
            </a:r>
            <a:endParaRPr lang="en-US" sz="1250" dirty="0"/>
          </a:p>
        </p:txBody>
      </p:sp>
      <p:sp>
        <p:nvSpPr>
          <p:cNvPr id="21" name="Text 19"/>
          <p:cNvSpPr txBox="1"/>
          <p:nvPr/>
        </p:nvSpPr>
        <p:spPr>
          <a:xfrm>
            <a:off x="640080" y="5486400"/>
            <a:ext cx="10881360" cy="548640"/>
          </a:xfrm>
          <a:prstGeom prst="rect">
            <a:avLst/>
          </a:prstGeom>
          <a:noFill/>
          <a:ln/>
        </p:spPr>
        <p:txBody>
          <a:bodyPr wrap="square" lIns="0" tIns="0" rIns="0" bIns="0" rtlCol="0" anchor="ctr"/>
          <a:lstStyle/>
          <a:p>
            <a:pPr indent="0" marL="0">
              <a:lnSpc>
                <a:spcPts val="1800"/>
              </a:lnSpc>
              <a:buNone/>
            </a:pPr>
            <a:r>
              <a:rPr lang="en-US" sz="1250" i="1" dirty="0">
                <a:solidFill>
                  <a:srgbClr val="5A6B7B"/>
                </a:solidFill>
                <a:latin typeface="Calibri" pitchFamily="34" charset="0"/>
                <a:ea typeface="Calibri" pitchFamily="34" charset="-122"/>
                <a:cs typeface="Calibri" pitchFamily="34" charset="-120"/>
              </a:rPr>
              <a:t>Emitted as an OSCAL 1.2 mapping-collection — where provenance, confidence-score and matching-rationale are native fields, so the distinction lives in the standard rather than a convention we invented.</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182880"/>
            <a:ext cx="1088136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RESULT #3  ·  INNOVATION</a:t>
            </a:r>
            <a:endParaRPr lang="en-US" sz="1200" dirty="0"/>
          </a:p>
        </p:txBody>
      </p:sp>
      <p:sp>
        <p:nvSpPr>
          <p:cNvPr id="3" name="Text 1"/>
          <p:cNvSpPr txBox="1"/>
          <p:nvPr/>
        </p:nvSpPr>
        <p:spPr>
          <a:xfrm>
            <a:off x="640080" y="411480"/>
            <a:ext cx="10881360" cy="822960"/>
          </a:xfrm>
          <a:prstGeom prst="rect">
            <a:avLst/>
          </a:prstGeom>
          <a:noFill/>
          <a:ln/>
        </p:spPr>
        <p:txBody>
          <a:bodyPr wrap="square" lIns="0" tIns="0" rIns="0" bIns="0" rtlCol="0" anchor="ctr"/>
          <a:lstStyle/>
          <a:p>
            <a:pPr algn="l" indent="0" marL="0">
              <a:buNone/>
            </a:pPr>
            <a:r>
              <a:rPr lang="en-US" sz="3400" b="1" dirty="0">
                <a:solidFill>
                  <a:srgbClr val="10212F"/>
                </a:solidFill>
                <a:latin typeface="Cambria" pitchFamily="34" charset="0"/>
                <a:ea typeface="Cambria" pitchFamily="34" charset="-122"/>
                <a:cs typeface="Cambria" pitchFamily="34" charset="-120"/>
              </a:rPr>
              <a:t>Drift that survives a baseline version change</a:t>
            </a:r>
            <a:endParaRPr lang="en-US" sz="3400" dirty="0"/>
          </a:p>
        </p:txBody>
      </p:sp>
      <p:sp>
        <p:nvSpPr>
          <p:cNvPr id="4" name="Text 2"/>
          <p:cNvSpPr txBox="1"/>
          <p:nvPr/>
        </p:nvSpPr>
        <p:spPr>
          <a:xfrm>
            <a:off x="640080" y="1298448"/>
            <a:ext cx="10881360" cy="594360"/>
          </a:xfrm>
          <a:prstGeom prst="rect">
            <a:avLst/>
          </a:prstGeom>
          <a:noFill/>
          <a:ln/>
        </p:spPr>
        <p:txBody>
          <a:bodyPr wrap="square" lIns="0" tIns="0" rIns="0" bIns="0" rtlCol="0" anchor="ctr"/>
          <a:lstStyle/>
          <a:p>
            <a:pPr indent="0" marL="0">
              <a:lnSpc>
                <a:spcPts val="2000"/>
              </a:lnSpc>
              <a:buNone/>
            </a:pPr>
            <a:r>
              <a:rPr lang="en-US" sz="1400" dirty="0">
                <a:solidFill>
                  <a:srgbClr val="10212F"/>
                </a:solidFill>
                <a:latin typeface="Calibri" pitchFamily="34" charset="0"/>
                <a:ea typeface="Calibri" pitchFamily="34" charset="-122"/>
                <a:cs typeface="Calibri" pitchFamily="34" charset="-120"/>
              </a:rPr>
              <a:t>SCuBA policy IDs are versioned, and CISA revises them. Between two runs, MS.DEFENDER.* became MS.SECURITYSUITE.*. A tool matching on identifier reports each renumbered policy twice — once vanished, once new.</a:t>
            </a:r>
            <a:endParaRPr lang="en-US" sz="1400" dirty="0"/>
          </a:p>
        </p:txBody>
      </p:sp>
      <p:graphicFrame>
        <p:nvGraphicFramePr>
          <p:cNvPr id="5" name="Chart 0" descr=""/>
          <p:cNvGraphicFramePr/>
          <p:nvPr/>
        </p:nvGraphicFramePr>
        <p:xfrm>
          <a:off x="640080" y="2011680"/>
          <a:ext cx="6675120" cy="31089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589520" y="2011680"/>
            <a:ext cx="3931920" cy="1600200"/>
          </a:xfrm>
          <a:prstGeom prst="roundRect">
            <a:avLst>
              <a:gd name="adj" fmla="val 5714"/>
            </a:avLst>
          </a:prstGeom>
          <a:solidFill>
            <a:srgbClr val="FDECEC"/>
          </a:solidFill>
          <a:ln w="12700">
            <a:solidFill>
              <a:srgbClr val="F7C9C9"/>
            </a:solidFill>
            <a:prstDash val="solid"/>
          </a:ln>
        </p:spPr>
      </p:sp>
      <p:sp>
        <p:nvSpPr>
          <p:cNvPr id="7" name="Text 4"/>
          <p:cNvSpPr txBox="1"/>
          <p:nvPr/>
        </p:nvSpPr>
        <p:spPr>
          <a:xfrm>
            <a:off x="7589520" y="2148840"/>
            <a:ext cx="3931920" cy="685800"/>
          </a:xfrm>
          <a:prstGeom prst="rect">
            <a:avLst/>
          </a:prstGeom>
          <a:noFill/>
          <a:ln/>
        </p:spPr>
        <p:txBody>
          <a:bodyPr wrap="square" lIns="0" tIns="0" rIns="0" bIns="0" rtlCol="0" anchor="ctr"/>
          <a:lstStyle/>
          <a:p>
            <a:pPr algn="ctr" indent="0" marL="0">
              <a:buNone/>
            </a:pPr>
            <a:r>
              <a:rPr lang="en-US" sz="5200" b="1" dirty="0">
                <a:solidFill>
                  <a:srgbClr val="E5484D"/>
                </a:solidFill>
                <a:latin typeface="Calibri" pitchFamily="34" charset="0"/>
                <a:ea typeface="Calibri" pitchFamily="34" charset="-122"/>
                <a:cs typeface="Calibri" pitchFamily="34" charset="-120"/>
              </a:rPr>
              <a:t>26</a:t>
            </a:r>
            <a:endParaRPr lang="en-US" sz="5200" dirty="0"/>
          </a:p>
        </p:txBody>
      </p:sp>
      <p:sp>
        <p:nvSpPr>
          <p:cNvPr id="8" name="Text 5"/>
          <p:cNvSpPr txBox="1"/>
          <p:nvPr/>
        </p:nvSpPr>
        <p:spPr>
          <a:xfrm>
            <a:off x="7772400" y="2834640"/>
            <a:ext cx="3566160" cy="594360"/>
          </a:xfrm>
          <a:prstGeom prst="rect">
            <a:avLst/>
          </a:prstGeom>
          <a:noFill/>
          <a:ln/>
        </p:spPr>
        <p:txBody>
          <a:bodyPr wrap="square" lIns="0" tIns="0" rIns="0" bIns="0" rtlCol="0" anchor="ctr"/>
          <a:lstStyle/>
          <a:p>
            <a:pPr algn="ctr" indent="0" marL="0">
              <a:lnSpc>
                <a:spcPts val="1700"/>
              </a:lnSpc>
              <a:buNone/>
            </a:pPr>
            <a:r>
              <a:rPr lang="en-US" sz="1250" dirty="0">
                <a:solidFill>
                  <a:srgbClr val="8A2A2A"/>
                </a:solidFill>
                <a:latin typeface="Calibri" pitchFamily="34" charset="0"/>
                <a:ea typeface="Calibri" pitchFamily="34" charset="-122"/>
                <a:cs typeface="Calibri" pitchFamily="34" charset="-120"/>
              </a:rPr>
              <a:t>fabricated events from a single</a:t>
            </a:r>
            <a:endParaRPr lang="en-US" sz="1250" dirty="0"/>
          </a:p>
          <a:p>
            <a:pPr algn="ctr" indent="0" marL="0">
              <a:lnSpc>
                <a:spcPts val="1700"/>
              </a:lnSpc>
              <a:buNone/>
            </a:pPr>
            <a:r>
              <a:rPr lang="en-US" sz="1250" dirty="0">
                <a:solidFill>
                  <a:srgbClr val="8A2A2A"/>
                </a:solidFill>
                <a:latin typeface="Calibri" pitchFamily="34" charset="0"/>
                <a:ea typeface="Calibri" pitchFamily="34" charset="-122"/>
                <a:cs typeface="Calibri" pitchFamily="34" charset="-120"/>
              </a:rPr>
              <a:t>baseline renumbering</a:t>
            </a:r>
            <a:endParaRPr lang="en-US" sz="1250" dirty="0"/>
          </a:p>
        </p:txBody>
      </p:sp>
      <p:sp>
        <p:nvSpPr>
          <p:cNvPr id="9" name="Text 6"/>
          <p:cNvSpPr txBox="1"/>
          <p:nvPr/>
        </p:nvSpPr>
        <p:spPr>
          <a:xfrm>
            <a:off x="7589520" y="3767328"/>
            <a:ext cx="3931920" cy="292608"/>
          </a:xfrm>
          <a:prstGeom prst="rect">
            <a:avLst/>
          </a:prstGeom>
          <a:noFill/>
          <a:ln/>
        </p:spPr>
        <p:txBody>
          <a:bodyPr wrap="square" lIns="0" tIns="0" rIns="0" bIns="0" rtlCol="0" anchor="ctr"/>
          <a:lstStyle/>
          <a:p>
            <a:pPr indent="0" marL="0">
              <a:buNone/>
            </a:pPr>
            <a:r>
              <a:rPr lang="en-US" sz="1300" b="1" dirty="0">
                <a:solidFill>
                  <a:srgbClr val="10212F"/>
                </a:solidFill>
                <a:latin typeface="Calibri" pitchFamily="34" charset="0"/>
                <a:ea typeface="Calibri" pitchFamily="34" charset="-122"/>
                <a:cs typeface="Calibri" pitchFamily="34" charset="-120"/>
              </a:rPr>
              <a:t>What actually changed</a:t>
            </a:r>
            <a:endParaRPr lang="en-US" sz="1300" dirty="0"/>
          </a:p>
        </p:txBody>
      </p:sp>
      <p:sp>
        <p:nvSpPr>
          <p:cNvPr id="10" name="Text 7"/>
          <p:cNvSpPr txBox="1"/>
          <p:nvPr/>
        </p:nvSpPr>
        <p:spPr>
          <a:xfrm>
            <a:off x="7726680" y="4114800"/>
            <a:ext cx="3749040" cy="1005840"/>
          </a:xfrm>
          <a:prstGeom prst="rect">
            <a:avLst/>
          </a:prstGeom>
          <a:noFill/>
          <a:ln/>
        </p:spPr>
        <p:txBody>
          <a:bodyPr wrap="square" lIns="0" tIns="0" rIns="0" bIns="0" rtlCol="0" anchor="ctr"/>
          <a:lstStyle/>
          <a:p>
            <a:pPr marL="342900" indent="-342900">
              <a:spcAft>
                <a:spcPts val="500"/>
              </a:spcAft>
              <a:buSzPct val="100000"/>
              <a:buChar char="•"/>
            </a:pPr>
            <a:r>
              <a:rPr lang="en-US" sz="1250" dirty="0">
                <a:solidFill>
                  <a:srgbClr val="30A46C"/>
                </a:solidFill>
                <a:latin typeface="Calibri" pitchFamily="34" charset="0"/>
                <a:ea typeface="Calibri" pitchFamily="34" charset="-122"/>
                <a:cs typeface="Calibri" pitchFamily="34" charset="-120"/>
              </a:rPr>
              <a:t>3 genuine improvements</a:t>
            </a:r>
            <a:endParaRPr lang="en-US" sz="1250" dirty="0"/>
          </a:p>
          <a:p>
            <a:pPr marL="342900" indent="-342900">
              <a:spcAft>
                <a:spcPts val="500"/>
              </a:spcAft>
              <a:buSzPct val="100000"/>
              <a:buChar char="•"/>
            </a:pPr>
            <a:r>
              <a:rPr lang="en-US" sz="1250" dirty="0">
                <a:solidFill>
                  <a:srgbClr val="E5484D"/>
                </a:solidFill>
                <a:latin typeface="Calibri" pitchFamily="34" charset="0"/>
                <a:ea typeface="Calibri" pitchFamily="34" charset="-122"/>
                <a:cs typeface="Calibri" pitchFamily="34" charset="-120"/>
              </a:rPr>
              <a:t>1 genuine regression</a:t>
            </a:r>
            <a:endParaRPr lang="en-US" sz="1250" dirty="0"/>
          </a:p>
          <a:p>
            <a:pPr marL="342900" indent="-342900">
              <a:spcAft>
                <a:spcPts val="500"/>
              </a:spcAft>
              <a:buSzPct val="100000"/>
              <a:buChar char="•"/>
            </a:pPr>
            <a:r>
              <a:rPr lang="en-US" sz="1250" dirty="0">
                <a:solidFill>
                  <a:srgbClr val="5A6B7B"/>
                </a:solidFill>
                <a:latin typeface="Calibri" pitchFamily="34" charset="0"/>
                <a:ea typeface="Calibri" pitchFamily="34" charset="-122"/>
                <a:cs typeface="Calibri" pitchFamily="34" charset="-120"/>
              </a:rPr>
              <a:t>13 renumberings, correctly absorbed</a:t>
            </a:r>
            <a:endParaRPr lang="en-US" sz="1250" dirty="0"/>
          </a:p>
        </p:txBody>
      </p:sp>
      <p:sp>
        <p:nvSpPr>
          <p:cNvPr id="11" name="Text 8"/>
          <p:cNvSpPr txBox="1"/>
          <p:nvPr/>
        </p:nvSpPr>
        <p:spPr>
          <a:xfrm>
            <a:off x="640080" y="5394960"/>
            <a:ext cx="10881360" cy="548640"/>
          </a:xfrm>
          <a:prstGeom prst="rect">
            <a:avLst/>
          </a:prstGeom>
          <a:noFill/>
          <a:ln/>
        </p:spPr>
        <p:txBody>
          <a:bodyPr wrap="square" lIns="0" tIns="0" rIns="0" bIns="0" rtlCol="0" anchor="ctr"/>
          <a:lstStyle/>
          <a:p>
            <a:pPr indent="0" marL="0">
              <a:lnSpc>
                <a:spcPts val="1900"/>
              </a:lnSpc>
              <a:buNone/>
            </a:pPr>
            <a:r>
              <a:rPr lang="en-US" sz="1300" b="1" dirty="0">
                <a:solidFill>
                  <a:srgbClr val="14304F"/>
                </a:solidFill>
                <a:latin typeface="Calibri" pitchFamily="34" charset="0"/>
                <a:ea typeface="Calibri" pitchFamily="34" charset="-122"/>
                <a:cs typeface="Calibri" pitchFamily="34" charset="-120"/>
              </a:rPr>
              <a:t>This corrupts exactly the numbers a compliance report is built on: how many findings opened, how many closed, whether posture improved. CISA publishes the fix themselves — we consume it.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182880"/>
            <a:ext cx="1088136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RESULT #4  ·  INNOVATION</a:t>
            </a:r>
            <a:endParaRPr lang="en-US" sz="1200" dirty="0"/>
          </a:p>
        </p:txBody>
      </p:sp>
      <p:sp>
        <p:nvSpPr>
          <p:cNvPr id="3" name="Text 1"/>
          <p:cNvSpPr txBox="1"/>
          <p:nvPr/>
        </p:nvSpPr>
        <p:spPr>
          <a:xfrm>
            <a:off x="640080" y="411480"/>
            <a:ext cx="10881360" cy="822960"/>
          </a:xfrm>
          <a:prstGeom prst="rect">
            <a:avLst/>
          </a:prstGeom>
          <a:noFill/>
          <a:ln/>
        </p:spPr>
        <p:txBody>
          <a:bodyPr wrap="square" lIns="0" tIns="0" rIns="0" bIns="0" rtlCol="0" anchor="ctr"/>
          <a:lstStyle/>
          <a:p>
            <a:pPr algn="l" indent="0" marL="0">
              <a:buNone/>
            </a:pPr>
            <a:r>
              <a:rPr lang="en-US" sz="3400" b="1" dirty="0">
                <a:solidFill>
                  <a:srgbClr val="10212F"/>
                </a:solidFill>
                <a:latin typeface="Cambria" pitchFamily="34" charset="0"/>
                <a:ea typeface="Cambria" pitchFamily="34" charset="-122"/>
                <a:cs typeface="Cambria" pitchFamily="34" charset="-120"/>
              </a:rPr>
              <a:t>Two questions the compliance number hides</a:t>
            </a:r>
            <a:endParaRPr lang="en-US" sz="3400" dirty="0"/>
          </a:p>
        </p:txBody>
      </p:sp>
      <p:sp>
        <p:nvSpPr>
          <p:cNvPr id="4" name="Shape 2"/>
          <p:cNvSpPr/>
          <p:nvPr/>
        </p:nvSpPr>
        <p:spPr>
          <a:xfrm>
            <a:off x="640080" y="1325880"/>
            <a:ext cx="5303520" cy="4206240"/>
          </a:xfrm>
          <a:prstGeom prst="roundRect">
            <a:avLst>
              <a:gd name="adj" fmla="val 2174"/>
            </a:avLst>
          </a:prstGeom>
          <a:solidFill>
            <a:srgbClr val="FFFFFF"/>
          </a:solidFill>
          <a:ln w="12700">
            <a:solidFill>
              <a:srgbClr val="E2E8EE"/>
            </a:solidFill>
            <a:prstDash val="solid"/>
          </a:ln>
        </p:spPr>
      </p:sp>
      <p:sp>
        <p:nvSpPr>
          <p:cNvPr id="5" name="Text 3"/>
          <p:cNvSpPr txBox="1"/>
          <p:nvPr/>
        </p:nvSpPr>
        <p:spPr>
          <a:xfrm>
            <a:off x="868680" y="1481328"/>
            <a:ext cx="4846320" cy="347472"/>
          </a:xfrm>
          <a:prstGeom prst="rect">
            <a:avLst/>
          </a:prstGeom>
          <a:noFill/>
          <a:ln/>
        </p:spPr>
        <p:txBody>
          <a:bodyPr wrap="square" lIns="0" tIns="0" rIns="0" bIns="0" rtlCol="0" anchor="ctr"/>
          <a:lstStyle/>
          <a:p>
            <a:pPr indent="0" marL="0">
              <a:buNone/>
            </a:pPr>
            <a:r>
              <a:rPr lang="en-US" sz="1700" b="1" dirty="0">
                <a:solidFill>
                  <a:srgbClr val="10212F"/>
                </a:solidFill>
                <a:latin typeface="Cambria" pitchFamily="34" charset="0"/>
                <a:ea typeface="Cambria" pitchFamily="34" charset="-122"/>
                <a:cs typeface="Cambria" pitchFamily="34" charset="-120"/>
              </a:rPr>
              <a:t>“Is the number even real?”</a:t>
            </a:r>
            <a:endParaRPr lang="en-US" sz="1700" dirty="0"/>
          </a:p>
        </p:txBody>
      </p:sp>
      <p:sp>
        <p:nvSpPr>
          <p:cNvPr id="6" name="Text 4"/>
          <p:cNvSpPr txBox="1"/>
          <p:nvPr/>
        </p:nvSpPr>
        <p:spPr>
          <a:xfrm>
            <a:off x="868680" y="1874520"/>
            <a:ext cx="4846320" cy="914400"/>
          </a:xfrm>
          <a:prstGeom prst="rect">
            <a:avLst/>
          </a:prstGeom>
          <a:noFill/>
          <a:ln/>
        </p:spPr>
        <p:txBody>
          <a:bodyPr wrap="square" lIns="0" tIns="0" rIns="0" bIns="0" rtlCol="0" anchor="ctr"/>
          <a:lstStyle/>
          <a:p>
            <a:pPr indent="0" marL="0">
              <a:lnSpc>
                <a:spcPts val="1700"/>
              </a:lnSpc>
              <a:buNone/>
            </a:pPr>
            <a:r>
              <a:rPr lang="en-US" sz="1150" dirty="0">
                <a:solidFill>
                  <a:srgbClr val="5A6B7B"/>
                </a:solidFill>
                <a:latin typeface="Calibri" pitchFamily="34" charset="0"/>
                <a:ea typeface="Calibri" pitchFamily="34" charset="-122"/>
                <a:cs typeface="Calibri" pitchFamily="34" charset="-120"/>
              </a:rPr>
              <a:t>ScubaGear lets an organisation omit policies from its own report. Omitted policies leave the denominator — so the compliance rate can be raised by editing YAML. Nothing reviews it, approves it, or enforces the optional expiry date.</a:t>
            </a:r>
            <a:endParaRPr lang="en-US" sz="1150" dirty="0"/>
          </a:p>
        </p:txBody>
      </p:sp>
      <p:sp>
        <p:nvSpPr>
          <p:cNvPr id="7" name="Text 5"/>
          <p:cNvSpPr txBox="1"/>
          <p:nvPr/>
        </p:nvSpPr>
        <p:spPr>
          <a:xfrm>
            <a:off x="868680" y="2880360"/>
            <a:ext cx="4846320" cy="1051560"/>
          </a:xfrm>
          <a:prstGeom prst="rect">
            <a:avLst/>
          </a:prstGeom>
          <a:noFill/>
          <a:ln/>
        </p:spPr>
        <p:txBody>
          <a:bodyPr wrap="square" lIns="0" tIns="0" rIns="0" bIns="0" rtlCol="0" anchor="ctr"/>
          <a:lstStyle/>
          <a:p>
            <a:pPr indent="0" marL="0">
              <a:lnSpc>
                <a:spcPts val="2000"/>
              </a:lnSpc>
              <a:buNone/>
            </a:pPr>
            <a:r>
              <a:rPr lang="en-US" sz="1200" b="1" dirty="0">
                <a:solidFill>
                  <a:srgbClr val="E5484D"/>
                </a:solidFill>
                <a:latin typeface="Calibri" pitchFamily="34" charset="0"/>
                <a:ea typeface="Calibri" pitchFamily="34" charset="-122"/>
                <a:cs typeface="Calibri" pitchFamily="34" charset="-120"/>
              </a:rPr>
              <a:t>4</a:t>
            </a:r>
            <a:pPr indent="0" marL="0">
              <a:lnSpc>
                <a:spcPts val="2000"/>
              </a:lnSpc>
              <a:buNone/>
            </a:pPr>
            <a:r>
              <a:rPr lang="en-US" sz="1200" dirty="0">
                <a:solidFill>
                  <a:srgbClr val="10212F"/>
                </a:solidFill>
                <a:latin typeface="Calibri" pitchFamily="34" charset="0"/>
                <a:ea typeface="Calibri" pitchFamily="34" charset="-122"/>
                <a:cs typeface="Calibri" pitchFamily="34" charset="-120"/>
              </a:rPr>
              <a:t> policies suppressed — </a:t>
            </a:r>
            <a:pPr indent="0" marL="0">
              <a:lnSpc>
                <a:spcPts val="2000"/>
              </a:lnSpc>
              <a:buNone/>
            </a:pPr>
            <a:r>
              <a:rPr lang="en-US" sz="1200" b="1" dirty="0">
                <a:solidFill>
                  <a:srgbClr val="E5484D"/>
                </a:solidFill>
                <a:latin typeface="Calibri" pitchFamily="34" charset="0"/>
                <a:ea typeface="Calibri" pitchFamily="34" charset="-122"/>
                <a:cs typeface="Calibri" pitchFamily="34" charset="-120"/>
              </a:rPr>
              <a:t>all 4 are SHALL</a:t>
            </a:r>
            <a:endParaRPr lang="en-US" sz="1200" dirty="0"/>
          </a:p>
          <a:p>
            <a:pPr indent="0" marL="0">
              <a:lnSpc>
                <a:spcPts val="2000"/>
              </a:lnSpc>
              <a:buNone/>
            </a:pPr>
            <a:r>
              <a:rPr lang="en-US" sz="1200" b="1" dirty="0">
                <a:solidFill>
                  <a:srgbClr val="FFB700"/>
                </a:solidFill>
                <a:latin typeface="Calibri" pitchFamily="34" charset="0"/>
                <a:ea typeface="Calibri" pitchFamily="34" charset="-122"/>
                <a:cs typeface="Calibri" pitchFamily="34" charset="-120"/>
              </a:rPr>
              <a:t>2</a:t>
            </a:r>
            <a:pPr indent="0" marL="0">
              <a:lnSpc>
                <a:spcPts val="2000"/>
              </a:lnSpc>
              <a:buNone/>
            </a:pPr>
            <a:r>
              <a:rPr lang="en-US" sz="1200" dirty="0">
                <a:solidFill>
                  <a:srgbClr val="10212F"/>
                </a:solidFill>
                <a:latin typeface="Calibri" pitchFamily="34" charset="0"/>
                <a:ea typeface="Calibri" pitchFamily="34" charset="-122"/>
                <a:cs typeface="Calibri" pitchFamily="34" charset="-120"/>
              </a:rPr>
              <a:t> exemptions already expired, still suppressing</a:t>
            </a:r>
            <a:endParaRPr lang="en-US" sz="1200" dirty="0"/>
          </a:p>
          <a:p>
            <a:pPr indent="0" marL="0">
              <a:lnSpc>
                <a:spcPts val="2000"/>
              </a:lnSpc>
              <a:buNone/>
            </a:pPr>
            <a:r>
              <a:rPr lang="en-US" sz="1200" b="1" dirty="0">
                <a:solidFill>
                  <a:srgbClr val="FFB700"/>
                </a:solidFill>
                <a:latin typeface="Calibri" pitchFamily="34" charset="0"/>
                <a:ea typeface="Calibri" pitchFamily="34" charset="-122"/>
                <a:cs typeface="Calibri" pitchFamily="34" charset="-120"/>
              </a:rPr>
              <a:t>1</a:t>
            </a:r>
            <a:pPr indent="0" marL="0">
              <a:lnSpc>
                <a:spcPts val="2000"/>
              </a:lnSpc>
              <a:buNone/>
            </a:pPr>
            <a:r>
              <a:rPr lang="en-US" sz="1200" dirty="0">
                <a:solidFill>
                  <a:srgbClr val="10212F"/>
                </a:solidFill>
                <a:latin typeface="Calibri" pitchFamily="34" charset="0"/>
                <a:ea typeface="Calibri" pitchFamily="34" charset="-122"/>
                <a:cs typeface="Calibri" pitchFamily="34" charset="-120"/>
              </a:rPr>
              <a:t> with no rationale · </a:t>
            </a:r>
            <a:pPr indent="0" marL="0">
              <a:lnSpc>
                <a:spcPts val="2000"/>
              </a:lnSpc>
              <a:buNone/>
            </a:pPr>
            <a:r>
              <a:rPr lang="en-US" sz="1200" b="1" dirty="0">
                <a:solidFill>
                  <a:srgbClr val="FFB700"/>
                </a:solidFill>
                <a:latin typeface="Calibri" pitchFamily="34" charset="0"/>
                <a:ea typeface="Calibri" pitchFamily="34" charset="-122"/>
                <a:cs typeface="Calibri" pitchFamily="34" charset="-120"/>
              </a:rPr>
              <a:t>2</a:t>
            </a:r>
            <a:pPr indent="0" marL="0">
              <a:lnSpc>
                <a:spcPts val="2000"/>
              </a:lnSpc>
              <a:buNone/>
            </a:pPr>
            <a:r>
              <a:rPr lang="en-US" sz="1200" dirty="0">
                <a:solidFill>
                  <a:srgbClr val="10212F"/>
                </a:solidFill>
                <a:latin typeface="Calibri" pitchFamily="34" charset="0"/>
                <a:ea typeface="Calibri" pitchFamily="34" charset="-122"/>
                <a:cs typeface="Calibri" pitchFamily="34" charset="-120"/>
              </a:rPr>
              <a:t> left over from an old baseline</a:t>
            </a:r>
            <a:endParaRPr lang="en-US" sz="1200" dirty="0"/>
          </a:p>
        </p:txBody>
      </p:sp>
      <p:sp>
        <p:nvSpPr>
          <p:cNvPr id="8" name="Shape 6"/>
          <p:cNvSpPr/>
          <p:nvPr/>
        </p:nvSpPr>
        <p:spPr>
          <a:xfrm>
            <a:off x="868680" y="3977640"/>
            <a:ext cx="4846320" cy="658368"/>
          </a:xfrm>
          <a:prstGeom prst="roundRect">
            <a:avLst>
              <a:gd name="adj" fmla="val 11111"/>
            </a:avLst>
          </a:prstGeom>
          <a:solidFill>
            <a:srgbClr val="F4F7F9"/>
          </a:solidFill>
          <a:ln w="12700">
            <a:solidFill>
              <a:srgbClr val="E2E8EE"/>
            </a:solidFill>
            <a:prstDash val="solid"/>
          </a:ln>
        </p:spPr>
      </p:sp>
      <p:sp>
        <p:nvSpPr>
          <p:cNvPr id="9" name="Text 7"/>
          <p:cNvSpPr txBox="1"/>
          <p:nvPr/>
        </p:nvSpPr>
        <p:spPr>
          <a:xfrm>
            <a:off x="960120" y="4069080"/>
            <a:ext cx="4663440" cy="274320"/>
          </a:xfrm>
          <a:prstGeom prst="rect">
            <a:avLst/>
          </a:prstGeom>
          <a:noFill/>
          <a:ln/>
        </p:spPr>
        <p:txBody>
          <a:bodyPr wrap="square" lIns="0" tIns="0" rIns="0" bIns="0" rtlCol="0" anchor="ctr"/>
          <a:lstStyle/>
          <a:p>
            <a:pPr algn="ctr" indent="0" marL="0">
              <a:buNone/>
            </a:pPr>
            <a:r>
              <a:rPr lang="en-US" sz="1250" b="1" dirty="0">
                <a:solidFill>
                  <a:srgbClr val="10212F"/>
                </a:solidFill>
                <a:latin typeface="Calibri" pitchFamily="34" charset="0"/>
                <a:ea typeface="Calibri" pitchFamily="34" charset="-122"/>
                <a:cs typeface="Calibri" pitchFamily="34" charset="-120"/>
              </a:rPr>
              <a:t>69.6%  reported        68.7%  over all assessed</a:t>
            </a:r>
            <a:endParaRPr lang="en-US" sz="1250" dirty="0"/>
          </a:p>
        </p:txBody>
      </p:sp>
      <p:sp>
        <p:nvSpPr>
          <p:cNvPr id="10" name="Text 8"/>
          <p:cNvSpPr txBox="1"/>
          <p:nvPr/>
        </p:nvSpPr>
        <p:spPr>
          <a:xfrm>
            <a:off x="960120" y="4334256"/>
            <a:ext cx="4663440" cy="256032"/>
          </a:xfrm>
          <a:prstGeom prst="rect">
            <a:avLst/>
          </a:prstGeom>
          <a:noFill/>
          <a:ln/>
        </p:spPr>
        <p:txBody>
          <a:bodyPr wrap="square" lIns="0" tIns="0" rIns="0" bIns="0" rtlCol="0" anchor="ctr"/>
          <a:lstStyle/>
          <a:p>
            <a:pPr algn="ctr" indent="0" marL="0">
              <a:buNone/>
            </a:pPr>
            <a:r>
              <a:rPr lang="en-US" sz="1000" i="1" dirty="0">
                <a:solidFill>
                  <a:srgbClr val="5A6B7B"/>
                </a:solidFill>
                <a:latin typeface="Calibri" pitchFamily="34" charset="0"/>
                <a:ea typeface="Calibri" pitchFamily="34" charset="-122"/>
                <a:cs typeface="Calibri" pitchFamily="34" charset="-120"/>
              </a:rPr>
              <a:t>2 of the 4 suppressed policies were passing — so we report +0.9 pts, not a headline.</a:t>
            </a:r>
            <a:endParaRPr lang="en-US" sz="1000" dirty="0"/>
          </a:p>
        </p:txBody>
      </p:sp>
      <p:sp>
        <p:nvSpPr>
          <p:cNvPr id="11" name="Text 9"/>
          <p:cNvSpPr txBox="1"/>
          <p:nvPr/>
        </p:nvSpPr>
        <p:spPr>
          <a:xfrm>
            <a:off x="868680" y="4709160"/>
            <a:ext cx="4846320" cy="731520"/>
          </a:xfrm>
          <a:prstGeom prst="rect">
            <a:avLst/>
          </a:prstGeom>
          <a:noFill/>
          <a:ln/>
        </p:spPr>
        <p:txBody>
          <a:bodyPr wrap="square" lIns="0" tIns="0" rIns="0" bIns="0" rtlCol="0" anchor="ctr"/>
          <a:lstStyle/>
          <a:p>
            <a:pPr indent="0" marL="0">
              <a:lnSpc>
                <a:spcPts val="1600"/>
              </a:lnSpc>
              <a:buNone/>
            </a:pPr>
            <a:r>
              <a:rPr lang="en-US" sz="1100" dirty="0">
                <a:solidFill>
                  <a:srgbClr val="14304F"/>
                </a:solidFill>
                <a:latin typeface="Calibri" pitchFamily="34" charset="0"/>
                <a:ea typeface="Calibri" pitchFamily="34" charset="-122"/>
                <a:cs typeface="Calibri" pitchFamily="34" charset="-120"/>
              </a:rPr>
              <a:t>Every exemption is written into the POA&amp;M as an OSCAL risk carrying deviation-approved, deviation-requested, or open once expired — queryable by an auditor instead of living in a YAML file.</a:t>
            </a:r>
            <a:endParaRPr lang="en-US" sz="1100" dirty="0"/>
          </a:p>
        </p:txBody>
      </p:sp>
      <p:sp>
        <p:nvSpPr>
          <p:cNvPr id="12" name="Shape 10"/>
          <p:cNvSpPr/>
          <p:nvPr/>
        </p:nvSpPr>
        <p:spPr>
          <a:xfrm>
            <a:off x="6217920" y="1325880"/>
            <a:ext cx="5303520" cy="4206240"/>
          </a:xfrm>
          <a:prstGeom prst="roundRect">
            <a:avLst>
              <a:gd name="adj" fmla="val 2174"/>
            </a:avLst>
          </a:prstGeom>
          <a:solidFill>
            <a:srgbClr val="FFFFFF"/>
          </a:solidFill>
          <a:ln w="12700">
            <a:solidFill>
              <a:srgbClr val="E2E8EE"/>
            </a:solidFill>
            <a:prstDash val="solid"/>
          </a:ln>
        </p:spPr>
      </p:sp>
      <p:sp>
        <p:nvSpPr>
          <p:cNvPr id="13" name="Text 11"/>
          <p:cNvSpPr txBox="1"/>
          <p:nvPr/>
        </p:nvSpPr>
        <p:spPr>
          <a:xfrm>
            <a:off x="6446520" y="1481328"/>
            <a:ext cx="4846320" cy="347472"/>
          </a:xfrm>
          <a:prstGeom prst="rect">
            <a:avLst/>
          </a:prstGeom>
          <a:noFill/>
          <a:ln/>
        </p:spPr>
        <p:txBody>
          <a:bodyPr wrap="square" lIns="0" tIns="0" rIns="0" bIns="0" rtlCol="0" anchor="ctr"/>
          <a:lstStyle/>
          <a:p>
            <a:pPr indent="0" marL="0">
              <a:buNone/>
            </a:pPr>
            <a:r>
              <a:rPr lang="en-US" sz="1700" b="1" dirty="0">
                <a:solidFill>
                  <a:srgbClr val="10212F"/>
                </a:solidFill>
                <a:latin typeface="Cambria" pitchFamily="34" charset="0"/>
                <a:ea typeface="Cambria" pitchFamily="34" charset="-122"/>
                <a:cs typeface="Cambria" pitchFamily="34" charset="-120"/>
              </a:rPr>
              <a:t>“What can still happen to us?”</a:t>
            </a:r>
            <a:endParaRPr lang="en-US" sz="1700" dirty="0"/>
          </a:p>
        </p:txBody>
      </p:sp>
      <p:sp>
        <p:nvSpPr>
          <p:cNvPr id="14" name="Text 12"/>
          <p:cNvSpPr txBox="1"/>
          <p:nvPr/>
        </p:nvSpPr>
        <p:spPr>
          <a:xfrm>
            <a:off x="6446520" y="1874520"/>
            <a:ext cx="4846320" cy="914400"/>
          </a:xfrm>
          <a:prstGeom prst="rect">
            <a:avLst/>
          </a:prstGeom>
          <a:noFill/>
          <a:ln/>
        </p:spPr>
        <p:txBody>
          <a:bodyPr wrap="square" lIns="0" tIns="0" rIns="0" bIns="0" rtlCol="0" anchor="ctr"/>
          <a:lstStyle/>
          <a:p>
            <a:pPr indent="0" marL="0">
              <a:lnSpc>
                <a:spcPts val="1700"/>
              </a:lnSpc>
              <a:buNone/>
            </a:pPr>
            <a:r>
              <a:rPr lang="en-US" sz="1150" dirty="0">
                <a:solidFill>
                  <a:srgbClr val="5A6B7B"/>
                </a:solidFill>
                <a:latin typeface="Calibri" pitchFamily="34" charset="0"/>
                <a:ea typeface="Calibri" pitchFamily="34" charset="-122"/>
                <a:cs typeface="Calibri" pitchFamily="34" charset="-120"/>
              </a:rPr>
              <a:t>CISA maps each SCuBA policy to the MITRE ATT&amp;CK techniques it mitigates. A technique is uncovered when every policy mapped to it is failing — coverage arithmetic over CISA's published mappings, not a claim of exploitability.</a:t>
            </a:r>
            <a:endParaRPr lang="en-US" sz="1150" dirty="0"/>
          </a:p>
        </p:txBody>
      </p:sp>
      <p:sp>
        <p:nvSpPr>
          <p:cNvPr id="15" name="Shape 13"/>
          <p:cNvSpPr/>
          <p:nvPr/>
        </p:nvSpPr>
        <p:spPr>
          <a:xfrm>
            <a:off x="6446520" y="2852928"/>
            <a:ext cx="1463040" cy="914400"/>
          </a:xfrm>
          <a:prstGeom prst="roundRect">
            <a:avLst>
              <a:gd name="adj" fmla="val 8000"/>
            </a:avLst>
          </a:prstGeom>
          <a:solidFill>
            <a:srgbClr val="FDECEC"/>
          </a:solidFill>
          <a:ln w="12700">
            <a:solidFill>
              <a:srgbClr val="FDECEC"/>
            </a:solidFill>
            <a:prstDash val="solid"/>
          </a:ln>
        </p:spPr>
      </p:sp>
      <p:sp>
        <p:nvSpPr>
          <p:cNvPr id="16" name="Text 14"/>
          <p:cNvSpPr txBox="1"/>
          <p:nvPr/>
        </p:nvSpPr>
        <p:spPr>
          <a:xfrm>
            <a:off x="6446520" y="2944368"/>
            <a:ext cx="1463040" cy="457200"/>
          </a:xfrm>
          <a:prstGeom prst="rect">
            <a:avLst/>
          </a:prstGeom>
          <a:noFill/>
          <a:ln/>
        </p:spPr>
        <p:txBody>
          <a:bodyPr wrap="square" lIns="0" tIns="0" rIns="0" bIns="0" rtlCol="0" anchor="ctr"/>
          <a:lstStyle/>
          <a:p>
            <a:pPr algn="ctr" indent="0" marL="0">
              <a:buNone/>
            </a:pPr>
            <a:r>
              <a:rPr lang="en-US" sz="2600" b="1" dirty="0">
                <a:solidFill>
                  <a:srgbClr val="E5484D"/>
                </a:solidFill>
                <a:latin typeface="Calibri" pitchFamily="34" charset="0"/>
                <a:ea typeface="Calibri" pitchFamily="34" charset="-122"/>
                <a:cs typeface="Calibri" pitchFamily="34" charset="-120"/>
              </a:rPr>
              <a:t>6</a:t>
            </a:r>
            <a:endParaRPr lang="en-US" sz="2600" dirty="0"/>
          </a:p>
        </p:txBody>
      </p:sp>
      <p:sp>
        <p:nvSpPr>
          <p:cNvPr id="17" name="Text 15"/>
          <p:cNvSpPr txBox="1"/>
          <p:nvPr/>
        </p:nvSpPr>
        <p:spPr>
          <a:xfrm>
            <a:off x="6446520" y="3401568"/>
            <a:ext cx="1463040" cy="274320"/>
          </a:xfrm>
          <a:prstGeom prst="rect">
            <a:avLst/>
          </a:prstGeom>
          <a:noFill/>
          <a:ln/>
        </p:spPr>
        <p:txBody>
          <a:bodyPr wrap="square" lIns="0" tIns="0" rIns="0" bIns="0" rtlCol="0" anchor="ctr"/>
          <a:lstStyle/>
          <a:p>
            <a:pPr algn="ctr" indent="0" marL="0">
              <a:buNone/>
            </a:pPr>
            <a:r>
              <a:rPr lang="en-US" sz="1050" dirty="0">
                <a:solidFill>
                  <a:srgbClr val="5A6B7B"/>
                </a:solidFill>
                <a:latin typeface="Calibri" pitchFamily="34" charset="0"/>
                <a:ea typeface="Calibri" pitchFamily="34" charset="-122"/>
                <a:cs typeface="Calibri" pitchFamily="34" charset="-120"/>
              </a:rPr>
              <a:t>uncovered</a:t>
            </a:r>
            <a:endParaRPr lang="en-US" sz="1050" dirty="0"/>
          </a:p>
        </p:txBody>
      </p:sp>
      <p:sp>
        <p:nvSpPr>
          <p:cNvPr id="18" name="Shape 16"/>
          <p:cNvSpPr/>
          <p:nvPr/>
        </p:nvSpPr>
        <p:spPr>
          <a:xfrm>
            <a:off x="8074152" y="2852928"/>
            <a:ext cx="1463040" cy="914400"/>
          </a:xfrm>
          <a:prstGeom prst="roundRect">
            <a:avLst>
              <a:gd name="adj" fmla="val 8000"/>
            </a:avLst>
          </a:prstGeom>
          <a:solidFill>
            <a:srgbClr val="FFF6E0"/>
          </a:solidFill>
          <a:ln w="12700">
            <a:solidFill>
              <a:srgbClr val="FFF6E0"/>
            </a:solidFill>
            <a:prstDash val="solid"/>
          </a:ln>
        </p:spPr>
      </p:sp>
      <p:sp>
        <p:nvSpPr>
          <p:cNvPr id="19" name="Text 17"/>
          <p:cNvSpPr txBox="1"/>
          <p:nvPr/>
        </p:nvSpPr>
        <p:spPr>
          <a:xfrm>
            <a:off x="8074152" y="2944368"/>
            <a:ext cx="1463040" cy="457200"/>
          </a:xfrm>
          <a:prstGeom prst="rect">
            <a:avLst/>
          </a:prstGeom>
          <a:noFill/>
          <a:ln/>
        </p:spPr>
        <p:txBody>
          <a:bodyPr wrap="square" lIns="0" tIns="0" rIns="0" bIns="0" rtlCol="0" anchor="ctr"/>
          <a:lstStyle/>
          <a:p>
            <a:pPr algn="ctr" indent="0" marL="0">
              <a:buNone/>
            </a:pPr>
            <a:r>
              <a:rPr lang="en-US" sz="2600" b="1" dirty="0">
                <a:solidFill>
                  <a:srgbClr val="FFB700"/>
                </a:solidFill>
                <a:latin typeface="Calibri" pitchFamily="34" charset="0"/>
                <a:ea typeface="Calibri" pitchFamily="34" charset="-122"/>
                <a:cs typeface="Calibri" pitchFamily="34" charset="-120"/>
              </a:rPr>
              <a:t>15</a:t>
            </a:r>
            <a:endParaRPr lang="en-US" sz="2600" dirty="0"/>
          </a:p>
        </p:txBody>
      </p:sp>
      <p:sp>
        <p:nvSpPr>
          <p:cNvPr id="20" name="Text 18"/>
          <p:cNvSpPr txBox="1"/>
          <p:nvPr/>
        </p:nvSpPr>
        <p:spPr>
          <a:xfrm>
            <a:off x="8074152" y="3401568"/>
            <a:ext cx="1463040" cy="274320"/>
          </a:xfrm>
          <a:prstGeom prst="rect">
            <a:avLst/>
          </a:prstGeom>
          <a:noFill/>
          <a:ln/>
        </p:spPr>
        <p:txBody>
          <a:bodyPr wrap="square" lIns="0" tIns="0" rIns="0" bIns="0" rtlCol="0" anchor="ctr"/>
          <a:lstStyle/>
          <a:p>
            <a:pPr algn="ctr" indent="0" marL="0">
              <a:buNone/>
            </a:pPr>
            <a:r>
              <a:rPr lang="en-US" sz="1050" dirty="0">
                <a:solidFill>
                  <a:srgbClr val="5A6B7B"/>
                </a:solidFill>
                <a:latin typeface="Calibri" pitchFamily="34" charset="0"/>
                <a:ea typeface="Calibri" pitchFamily="34" charset="-122"/>
                <a:cs typeface="Calibri" pitchFamily="34" charset="-120"/>
              </a:rPr>
              <a:t>degraded</a:t>
            </a:r>
            <a:endParaRPr lang="en-US" sz="1050" dirty="0"/>
          </a:p>
        </p:txBody>
      </p:sp>
      <p:sp>
        <p:nvSpPr>
          <p:cNvPr id="21" name="Shape 19"/>
          <p:cNvSpPr/>
          <p:nvPr/>
        </p:nvSpPr>
        <p:spPr>
          <a:xfrm>
            <a:off x="9701784" y="2852928"/>
            <a:ext cx="1463040" cy="914400"/>
          </a:xfrm>
          <a:prstGeom prst="roundRect">
            <a:avLst>
              <a:gd name="adj" fmla="val 8000"/>
            </a:avLst>
          </a:prstGeom>
          <a:solidFill>
            <a:srgbClr val="E8F6EF"/>
          </a:solidFill>
          <a:ln w="12700">
            <a:solidFill>
              <a:srgbClr val="E8F6EF"/>
            </a:solidFill>
            <a:prstDash val="solid"/>
          </a:ln>
        </p:spPr>
      </p:sp>
      <p:sp>
        <p:nvSpPr>
          <p:cNvPr id="22" name="Text 20"/>
          <p:cNvSpPr txBox="1"/>
          <p:nvPr/>
        </p:nvSpPr>
        <p:spPr>
          <a:xfrm>
            <a:off x="9701784" y="2944368"/>
            <a:ext cx="1463040" cy="457200"/>
          </a:xfrm>
          <a:prstGeom prst="rect">
            <a:avLst/>
          </a:prstGeom>
          <a:noFill/>
          <a:ln/>
        </p:spPr>
        <p:txBody>
          <a:bodyPr wrap="square" lIns="0" tIns="0" rIns="0" bIns="0" rtlCol="0" anchor="ctr"/>
          <a:lstStyle/>
          <a:p>
            <a:pPr algn="ctr" indent="0" marL="0">
              <a:buNone/>
            </a:pPr>
            <a:r>
              <a:rPr lang="en-US" sz="2600" b="1" dirty="0">
                <a:solidFill>
                  <a:srgbClr val="30A46C"/>
                </a:solidFill>
                <a:latin typeface="Calibri" pitchFamily="34" charset="0"/>
                <a:ea typeface="Calibri" pitchFamily="34" charset="-122"/>
                <a:cs typeface="Calibri" pitchFamily="34" charset="-120"/>
              </a:rPr>
              <a:t>32</a:t>
            </a:r>
            <a:endParaRPr lang="en-US" sz="2600" dirty="0"/>
          </a:p>
        </p:txBody>
      </p:sp>
      <p:sp>
        <p:nvSpPr>
          <p:cNvPr id="23" name="Text 21"/>
          <p:cNvSpPr txBox="1"/>
          <p:nvPr/>
        </p:nvSpPr>
        <p:spPr>
          <a:xfrm>
            <a:off x="9701784" y="3401568"/>
            <a:ext cx="1463040" cy="274320"/>
          </a:xfrm>
          <a:prstGeom prst="rect">
            <a:avLst/>
          </a:prstGeom>
          <a:noFill/>
          <a:ln/>
        </p:spPr>
        <p:txBody>
          <a:bodyPr wrap="square" lIns="0" tIns="0" rIns="0" bIns="0" rtlCol="0" anchor="ctr"/>
          <a:lstStyle/>
          <a:p>
            <a:pPr algn="ctr" indent="0" marL="0">
              <a:buNone/>
            </a:pPr>
            <a:r>
              <a:rPr lang="en-US" sz="1050" dirty="0">
                <a:solidFill>
                  <a:srgbClr val="5A6B7B"/>
                </a:solidFill>
                <a:latin typeface="Calibri" pitchFamily="34" charset="0"/>
                <a:ea typeface="Calibri" pitchFamily="34" charset="-122"/>
                <a:cs typeface="Calibri" pitchFamily="34" charset="-120"/>
              </a:rPr>
              <a:t>covered</a:t>
            </a:r>
            <a:endParaRPr lang="en-US" sz="1050" dirty="0"/>
          </a:p>
        </p:txBody>
      </p:sp>
      <p:sp>
        <p:nvSpPr>
          <p:cNvPr id="24" name="Shape 22"/>
          <p:cNvSpPr/>
          <p:nvPr/>
        </p:nvSpPr>
        <p:spPr>
          <a:xfrm>
            <a:off x="6446520" y="3977640"/>
            <a:ext cx="4846320" cy="1463040"/>
          </a:xfrm>
          <a:prstGeom prst="roundRect">
            <a:avLst>
              <a:gd name="adj" fmla="val 5000"/>
            </a:avLst>
          </a:prstGeom>
          <a:solidFill>
            <a:srgbClr val="FFF6E0"/>
          </a:solidFill>
          <a:ln w="12700">
            <a:solidFill>
              <a:srgbClr val="FFE2A8"/>
            </a:solidFill>
            <a:prstDash val="solid"/>
          </a:ln>
        </p:spPr>
      </p:sp>
      <p:sp>
        <p:nvSpPr>
          <p:cNvPr id="25" name="Text 23"/>
          <p:cNvSpPr txBox="1"/>
          <p:nvPr/>
        </p:nvSpPr>
        <p:spPr>
          <a:xfrm>
            <a:off x="6629400" y="4096512"/>
            <a:ext cx="4480560" cy="274320"/>
          </a:xfrm>
          <a:prstGeom prst="rect">
            <a:avLst/>
          </a:prstGeom>
          <a:noFill/>
          <a:ln/>
        </p:spPr>
        <p:txBody>
          <a:bodyPr wrap="square" lIns="0" tIns="0" rIns="0" bIns="0" rtlCol="0" anchor="ctr"/>
          <a:lstStyle/>
          <a:p>
            <a:pPr indent="0" marL="0">
              <a:buNone/>
            </a:pPr>
            <a:r>
              <a:rPr lang="en-US" sz="1200" b="1" dirty="0">
                <a:solidFill>
                  <a:srgbClr val="8A5A00"/>
                </a:solidFill>
                <a:latin typeface="Calibri" pitchFamily="34" charset="0"/>
                <a:ea typeface="Calibri" pitchFamily="34" charset="-122"/>
                <a:cs typeface="Calibri" pitchFamily="34" charset="-120"/>
              </a:rPr>
              <a:t>The two rankings disagree — and that is the point.</a:t>
            </a:r>
            <a:endParaRPr lang="en-US" sz="1200" dirty="0"/>
          </a:p>
        </p:txBody>
      </p:sp>
      <p:sp>
        <p:nvSpPr>
          <p:cNvPr id="26" name="Text 24"/>
          <p:cNvSpPr txBox="1"/>
          <p:nvPr/>
        </p:nvSpPr>
        <p:spPr>
          <a:xfrm>
            <a:off x="6629400" y="4407408"/>
            <a:ext cx="4480560" cy="914400"/>
          </a:xfrm>
          <a:prstGeom prst="rect">
            <a:avLst/>
          </a:prstGeom>
          <a:noFill/>
          <a:ln/>
        </p:spPr>
        <p:txBody>
          <a:bodyPr wrap="square" lIns="0" tIns="0" rIns="0" bIns="0" rtlCol="0" anchor="ctr"/>
          <a:lstStyle/>
          <a:p>
            <a:pPr indent="0" marL="0">
              <a:lnSpc>
                <a:spcPts val="1600"/>
              </a:lnSpc>
              <a:buNone/>
            </a:pPr>
            <a:r>
              <a:rPr lang="en-US" sz="1100" dirty="0">
                <a:solidFill>
                  <a:srgbClr val="10212F"/>
                </a:solidFill>
                <a:latin typeface="Calibri" pitchFamily="34" charset="0"/>
                <a:ea typeface="Calibri" pitchFamily="34" charset="-122"/>
                <a:cs typeface="Calibri" pitchFamily="34" charset="-120"/>
              </a:rPr>
              <a:t>MS.AAD.7.9v1, MS.TEAMS.5.2v2 and MS.TEAMS.5.3v2 are SHOULD, so compliance severity ranks them last. Each is the only remaining mitigation for two ATT&amp;CK techniques.</a:t>
            </a:r>
            <a:endParaRPr lang="en-US" sz="1100" dirty="0"/>
          </a:p>
        </p:txBody>
      </p:sp>
      <p:sp>
        <p:nvSpPr>
          <p:cNvPr id="27" name="Text 25"/>
          <p:cNvSpPr txBox="1"/>
          <p:nvPr/>
        </p:nvSpPr>
        <p:spPr>
          <a:xfrm>
            <a:off x="640080" y="5669280"/>
            <a:ext cx="10881360" cy="365760"/>
          </a:xfrm>
          <a:prstGeom prst="rect">
            <a:avLst/>
          </a:prstGeom>
          <a:noFill/>
          <a:ln/>
        </p:spPr>
        <p:txBody>
          <a:bodyPr wrap="square" lIns="0" tIns="0" rIns="0" bIns="0" rtlCol="0" anchor="ctr"/>
          <a:lstStyle/>
          <a:p>
            <a:pPr indent="0" marL="0">
              <a:buNone/>
            </a:pPr>
            <a:r>
              <a:rPr lang="en-US" sz="1300" b="1" dirty="0">
                <a:solidFill>
                  <a:srgbClr val="14304F"/>
                </a:solidFill>
                <a:latin typeface="Calibri" pitchFamily="34" charset="0"/>
                <a:ea typeface="Calibri" pitchFamily="34" charset="-122"/>
                <a:cs typeface="Calibri" pitchFamily="34" charset="-120"/>
              </a:rPr>
              <a:t>A POA&amp;M says what is non-compliant. Neither of these questions can be answered from the scanner's own report.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182880"/>
            <a:ext cx="1088136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BUILT FOR THE COMMONWEALTH</a:t>
            </a:r>
            <a:endParaRPr lang="en-US" sz="1200" dirty="0"/>
          </a:p>
        </p:txBody>
      </p:sp>
      <p:sp>
        <p:nvSpPr>
          <p:cNvPr id="3" name="Text 1"/>
          <p:cNvSpPr txBox="1"/>
          <p:nvPr/>
        </p:nvSpPr>
        <p:spPr>
          <a:xfrm>
            <a:off x="640080" y="411480"/>
            <a:ext cx="10881360" cy="822960"/>
          </a:xfrm>
          <a:prstGeom prst="rect">
            <a:avLst/>
          </a:prstGeom>
          <a:noFill/>
          <a:ln/>
        </p:spPr>
        <p:txBody>
          <a:bodyPr wrap="square" lIns="0" tIns="0" rIns="0" bIns="0" rtlCol="0" anchor="ctr"/>
          <a:lstStyle/>
          <a:p>
            <a:pPr algn="l" indent="0" marL="0">
              <a:buNone/>
            </a:pPr>
            <a:r>
              <a:rPr lang="en-US" sz="3400" b="1" dirty="0">
                <a:solidFill>
                  <a:srgbClr val="10212F"/>
                </a:solidFill>
                <a:latin typeface="Cambria" pitchFamily="34" charset="0"/>
                <a:ea typeface="Cambria" pitchFamily="34" charset="-122"/>
                <a:cs typeface="Cambria" pitchFamily="34" charset="-120"/>
              </a:rPr>
              <a:t>What a SCuBA failure means in Virginia</a:t>
            </a:r>
            <a:endParaRPr lang="en-US" sz="3400" dirty="0"/>
          </a:p>
        </p:txBody>
      </p:sp>
      <p:sp>
        <p:nvSpPr>
          <p:cNvPr id="4" name="Text 2"/>
          <p:cNvSpPr txBox="1"/>
          <p:nvPr/>
        </p:nvSpPr>
        <p:spPr>
          <a:xfrm>
            <a:off x="640080" y="1298448"/>
            <a:ext cx="10881360" cy="594360"/>
          </a:xfrm>
          <a:prstGeom prst="rect">
            <a:avLst/>
          </a:prstGeom>
          <a:noFill/>
          <a:ln/>
        </p:spPr>
        <p:txBody>
          <a:bodyPr wrap="square" lIns="0" tIns="0" rIns="0" bIns="0" rtlCol="0" anchor="ctr"/>
          <a:lstStyle/>
          <a:p>
            <a:pPr indent="0" marL="0">
              <a:lnSpc>
                <a:spcPts val="2000"/>
              </a:lnSpc>
              <a:buNone/>
            </a:pPr>
            <a:r>
              <a:rPr lang="en-US" sz="1400" dirty="0">
                <a:solidFill>
                  <a:srgbClr val="10212F"/>
                </a:solidFill>
                <a:latin typeface="Calibri" pitchFamily="34" charset="0"/>
                <a:ea typeface="Calibri" pitchFamily="34" charset="-122"/>
                <a:cs typeface="Calibri" pitchFamily="34" charset="-120"/>
              </a:rPr>
              <a:t>SCuBA is federal guidance. Virginia public bodies — every public college, university and school division — are governed by SEC530, VITA's Information Security Standard, which adopts NIST 800-53 and uses its control identifiers directly.</a:t>
            </a:r>
            <a:endParaRPr lang="en-US" sz="1400" dirty="0"/>
          </a:p>
        </p:txBody>
      </p:sp>
      <p:sp>
        <p:nvSpPr>
          <p:cNvPr id="5" name="Shape 3"/>
          <p:cNvSpPr/>
          <p:nvPr/>
        </p:nvSpPr>
        <p:spPr>
          <a:xfrm>
            <a:off x="640080" y="2011680"/>
            <a:ext cx="2377440" cy="548640"/>
          </a:xfrm>
          <a:prstGeom prst="roundRect">
            <a:avLst>
              <a:gd name="adj" fmla="val 13333"/>
            </a:avLst>
          </a:prstGeom>
          <a:solidFill>
            <a:srgbClr val="F4F7F9"/>
          </a:solidFill>
          <a:ln w="12700">
            <a:solidFill>
              <a:srgbClr val="E2E8EE"/>
            </a:solidFill>
            <a:prstDash val="solid"/>
          </a:ln>
        </p:spPr>
      </p:sp>
      <p:sp>
        <p:nvSpPr>
          <p:cNvPr id="6" name="Text 4"/>
          <p:cNvSpPr txBox="1"/>
          <p:nvPr/>
        </p:nvSpPr>
        <p:spPr>
          <a:xfrm>
            <a:off x="640080" y="2148840"/>
            <a:ext cx="2377440" cy="292608"/>
          </a:xfrm>
          <a:prstGeom prst="rect">
            <a:avLst/>
          </a:prstGeom>
          <a:noFill/>
          <a:ln/>
        </p:spPr>
        <p:txBody>
          <a:bodyPr wrap="square" lIns="0" tIns="0" rIns="0" bIns="0" rtlCol="0" anchor="ctr"/>
          <a:lstStyle/>
          <a:p>
            <a:pPr algn="ctr" indent="0" marL="0">
              <a:buNone/>
            </a:pPr>
            <a:r>
              <a:rPr lang="en-US" sz="1250" b="1" dirty="0">
                <a:solidFill>
                  <a:srgbClr val="10212F"/>
                </a:solidFill>
                <a:latin typeface="Calibri" pitchFamily="34" charset="0"/>
                <a:ea typeface="Calibri" pitchFamily="34" charset="-122"/>
                <a:cs typeface="Calibri" pitchFamily="34" charset="-120"/>
              </a:rPr>
              <a:t>SCuBA policy</a:t>
            </a:r>
            <a:endParaRPr lang="en-US" sz="1250" dirty="0"/>
          </a:p>
        </p:txBody>
      </p:sp>
      <p:sp>
        <p:nvSpPr>
          <p:cNvPr id="7" name="Text 5"/>
          <p:cNvSpPr txBox="1"/>
          <p:nvPr/>
        </p:nvSpPr>
        <p:spPr>
          <a:xfrm>
            <a:off x="3017520" y="2130552"/>
            <a:ext cx="411480" cy="310896"/>
          </a:xfrm>
          <a:prstGeom prst="rect">
            <a:avLst/>
          </a:prstGeom>
          <a:noFill/>
          <a:ln/>
        </p:spPr>
        <p:txBody>
          <a:bodyPr wrap="square" lIns="0" tIns="0" rIns="0" bIns="0" rtlCol="0" anchor="ctr"/>
          <a:lstStyle/>
          <a:p>
            <a:pPr algn="ctr" indent="0" marL="0">
              <a:buNone/>
            </a:pPr>
            <a:r>
              <a:rPr lang="en-US" sz="1500" b="1" dirty="0">
                <a:solidFill>
                  <a:srgbClr val="00A896"/>
                </a:solidFill>
                <a:latin typeface="Calibri" pitchFamily="34" charset="0"/>
                <a:ea typeface="Calibri" pitchFamily="34" charset="-122"/>
                <a:cs typeface="Calibri" pitchFamily="34" charset="-120"/>
              </a:rPr>
              <a:t>→</a:t>
            </a:r>
            <a:endParaRPr lang="en-US" sz="1500" dirty="0"/>
          </a:p>
        </p:txBody>
      </p:sp>
      <p:sp>
        <p:nvSpPr>
          <p:cNvPr id="8" name="Shape 6"/>
          <p:cNvSpPr/>
          <p:nvPr/>
        </p:nvSpPr>
        <p:spPr>
          <a:xfrm>
            <a:off x="3429000" y="2011680"/>
            <a:ext cx="2377440" cy="548640"/>
          </a:xfrm>
          <a:prstGeom prst="roundRect">
            <a:avLst>
              <a:gd name="adj" fmla="val 13333"/>
            </a:avLst>
          </a:prstGeom>
          <a:solidFill>
            <a:srgbClr val="F4F7F9"/>
          </a:solidFill>
          <a:ln w="12700">
            <a:solidFill>
              <a:srgbClr val="E2E8EE"/>
            </a:solidFill>
            <a:prstDash val="solid"/>
          </a:ln>
        </p:spPr>
      </p:sp>
      <p:sp>
        <p:nvSpPr>
          <p:cNvPr id="9" name="Text 7"/>
          <p:cNvSpPr txBox="1"/>
          <p:nvPr/>
        </p:nvSpPr>
        <p:spPr>
          <a:xfrm>
            <a:off x="3429000" y="2148840"/>
            <a:ext cx="2377440" cy="292608"/>
          </a:xfrm>
          <a:prstGeom prst="rect">
            <a:avLst/>
          </a:prstGeom>
          <a:noFill/>
          <a:ln/>
        </p:spPr>
        <p:txBody>
          <a:bodyPr wrap="square" lIns="0" tIns="0" rIns="0" bIns="0" rtlCol="0" anchor="ctr"/>
          <a:lstStyle/>
          <a:p>
            <a:pPr algn="ctr" indent="0" marL="0">
              <a:buNone/>
            </a:pPr>
            <a:r>
              <a:rPr lang="en-US" sz="1250" b="1" dirty="0">
                <a:solidFill>
                  <a:srgbClr val="10212F"/>
                </a:solidFill>
                <a:latin typeface="Calibri" pitchFamily="34" charset="0"/>
                <a:ea typeface="Calibri" pitchFamily="34" charset="-122"/>
                <a:cs typeface="Calibri" pitchFamily="34" charset="-120"/>
              </a:rPr>
              <a:t>CISA crosswalk</a:t>
            </a:r>
            <a:endParaRPr lang="en-US" sz="1250" dirty="0"/>
          </a:p>
        </p:txBody>
      </p:sp>
      <p:sp>
        <p:nvSpPr>
          <p:cNvPr id="10" name="Text 8"/>
          <p:cNvSpPr txBox="1"/>
          <p:nvPr/>
        </p:nvSpPr>
        <p:spPr>
          <a:xfrm>
            <a:off x="5806440" y="2130552"/>
            <a:ext cx="411480" cy="310896"/>
          </a:xfrm>
          <a:prstGeom prst="rect">
            <a:avLst/>
          </a:prstGeom>
          <a:noFill/>
          <a:ln/>
        </p:spPr>
        <p:txBody>
          <a:bodyPr wrap="square" lIns="0" tIns="0" rIns="0" bIns="0" rtlCol="0" anchor="ctr"/>
          <a:lstStyle/>
          <a:p>
            <a:pPr algn="ctr" indent="0" marL="0">
              <a:buNone/>
            </a:pPr>
            <a:r>
              <a:rPr lang="en-US" sz="1500" b="1" dirty="0">
                <a:solidFill>
                  <a:srgbClr val="00A896"/>
                </a:solidFill>
                <a:latin typeface="Calibri" pitchFamily="34" charset="0"/>
                <a:ea typeface="Calibri" pitchFamily="34" charset="-122"/>
                <a:cs typeface="Calibri" pitchFamily="34" charset="-120"/>
              </a:rPr>
              <a:t>→</a:t>
            </a:r>
            <a:endParaRPr lang="en-US" sz="1500" dirty="0"/>
          </a:p>
        </p:txBody>
      </p:sp>
      <p:sp>
        <p:nvSpPr>
          <p:cNvPr id="11" name="Shape 9"/>
          <p:cNvSpPr/>
          <p:nvPr/>
        </p:nvSpPr>
        <p:spPr>
          <a:xfrm>
            <a:off x="6217920" y="2011680"/>
            <a:ext cx="2377440" cy="548640"/>
          </a:xfrm>
          <a:prstGeom prst="roundRect">
            <a:avLst>
              <a:gd name="adj" fmla="val 13333"/>
            </a:avLst>
          </a:prstGeom>
          <a:solidFill>
            <a:srgbClr val="F4F7F9"/>
          </a:solidFill>
          <a:ln w="12700">
            <a:solidFill>
              <a:srgbClr val="E2E8EE"/>
            </a:solidFill>
            <a:prstDash val="solid"/>
          </a:ln>
        </p:spPr>
      </p:sp>
      <p:sp>
        <p:nvSpPr>
          <p:cNvPr id="12" name="Text 10"/>
          <p:cNvSpPr txBox="1"/>
          <p:nvPr/>
        </p:nvSpPr>
        <p:spPr>
          <a:xfrm>
            <a:off x="6217920" y="2148840"/>
            <a:ext cx="2377440" cy="292608"/>
          </a:xfrm>
          <a:prstGeom prst="rect">
            <a:avLst/>
          </a:prstGeom>
          <a:noFill/>
          <a:ln/>
        </p:spPr>
        <p:txBody>
          <a:bodyPr wrap="square" lIns="0" tIns="0" rIns="0" bIns="0" rtlCol="0" anchor="ctr"/>
          <a:lstStyle/>
          <a:p>
            <a:pPr algn="ctr" indent="0" marL="0">
              <a:buNone/>
            </a:pPr>
            <a:r>
              <a:rPr lang="en-US" sz="1250" b="1" dirty="0">
                <a:solidFill>
                  <a:srgbClr val="10212F"/>
                </a:solidFill>
                <a:latin typeface="Calibri" pitchFamily="34" charset="0"/>
                <a:ea typeface="Calibri" pitchFamily="34" charset="-122"/>
                <a:cs typeface="Calibri" pitchFamily="34" charset="-120"/>
              </a:rPr>
              <a:t>NIST 800-53</a:t>
            </a:r>
            <a:endParaRPr lang="en-US" sz="1250" dirty="0"/>
          </a:p>
        </p:txBody>
      </p:sp>
      <p:sp>
        <p:nvSpPr>
          <p:cNvPr id="13" name="Text 11"/>
          <p:cNvSpPr txBox="1"/>
          <p:nvPr/>
        </p:nvSpPr>
        <p:spPr>
          <a:xfrm>
            <a:off x="8595360" y="2130552"/>
            <a:ext cx="411480" cy="310896"/>
          </a:xfrm>
          <a:prstGeom prst="rect">
            <a:avLst/>
          </a:prstGeom>
          <a:noFill/>
          <a:ln/>
        </p:spPr>
        <p:txBody>
          <a:bodyPr wrap="square" lIns="0" tIns="0" rIns="0" bIns="0" rtlCol="0" anchor="ctr"/>
          <a:lstStyle/>
          <a:p>
            <a:pPr algn="ctr" indent="0" marL="0">
              <a:buNone/>
            </a:pPr>
            <a:r>
              <a:rPr lang="en-US" sz="1500" b="1" dirty="0">
                <a:solidFill>
                  <a:srgbClr val="00A896"/>
                </a:solidFill>
                <a:latin typeface="Calibri" pitchFamily="34" charset="0"/>
                <a:ea typeface="Calibri" pitchFamily="34" charset="-122"/>
                <a:cs typeface="Calibri" pitchFamily="34" charset="-120"/>
              </a:rPr>
              <a:t>→</a:t>
            </a:r>
            <a:endParaRPr lang="en-US" sz="1500" dirty="0"/>
          </a:p>
        </p:txBody>
      </p:sp>
      <p:sp>
        <p:nvSpPr>
          <p:cNvPr id="14" name="Shape 12"/>
          <p:cNvSpPr/>
          <p:nvPr/>
        </p:nvSpPr>
        <p:spPr>
          <a:xfrm>
            <a:off x="9006840" y="2011680"/>
            <a:ext cx="2377440" cy="548640"/>
          </a:xfrm>
          <a:prstGeom prst="roundRect">
            <a:avLst>
              <a:gd name="adj" fmla="val 13333"/>
            </a:avLst>
          </a:prstGeom>
          <a:solidFill>
            <a:srgbClr val="14304F"/>
          </a:solidFill>
          <a:ln w="12700">
            <a:solidFill>
              <a:srgbClr val="14304F"/>
            </a:solidFill>
            <a:prstDash val="solid"/>
          </a:ln>
        </p:spPr>
      </p:sp>
      <p:sp>
        <p:nvSpPr>
          <p:cNvPr id="15" name="Text 13"/>
          <p:cNvSpPr txBox="1"/>
          <p:nvPr/>
        </p:nvSpPr>
        <p:spPr>
          <a:xfrm>
            <a:off x="9006840" y="2148840"/>
            <a:ext cx="2377440" cy="29260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VITA SEC530</a:t>
            </a:r>
            <a:endParaRPr lang="en-US" sz="1250" dirty="0"/>
          </a:p>
        </p:txBody>
      </p:sp>
      <p:sp>
        <p:nvSpPr>
          <p:cNvPr id="16" name="Text 14"/>
          <p:cNvSpPr txBox="1"/>
          <p:nvPr/>
        </p:nvSpPr>
        <p:spPr>
          <a:xfrm>
            <a:off x="640080" y="2633472"/>
            <a:ext cx="10881360" cy="274320"/>
          </a:xfrm>
          <a:prstGeom prst="rect">
            <a:avLst/>
          </a:prstGeom>
          <a:noFill/>
          <a:ln/>
        </p:spPr>
        <p:txBody>
          <a:bodyPr wrap="square" lIns="0" tIns="0" rIns="0" bIns="0" rtlCol="0" anchor="ctr"/>
          <a:lstStyle/>
          <a:p>
            <a:pPr indent="0" marL="0">
              <a:buNone/>
            </a:pPr>
            <a:r>
              <a:rPr lang="en-US" sz="1150" i="1" dirty="0">
                <a:solidFill>
                  <a:srgbClr val="5A6B7B"/>
                </a:solidFill>
                <a:latin typeface="Calibri" pitchFamily="34" charset="0"/>
                <a:ea typeface="Calibri" pitchFamily="34" charset="-122"/>
                <a:cs typeface="Calibri" pitchFamily="34" charset="-120"/>
              </a:rPr>
              <a:t>An exact join on identifiers published by CISA and VITA. No model is involved anywhere in this chain.</a:t>
            </a:r>
            <a:endParaRPr lang="en-US" sz="1150" dirty="0"/>
          </a:p>
        </p:txBody>
      </p:sp>
      <p:sp>
        <p:nvSpPr>
          <p:cNvPr id="17" name="Shape 15"/>
          <p:cNvSpPr/>
          <p:nvPr/>
        </p:nvSpPr>
        <p:spPr>
          <a:xfrm>
            <a:off x="640080" y="3063240"/>
            <a:ext cx="3474720" cy="1508760"/>
          </a:xfrm>
          <a:prstGeom prst="roundRect">
            <a:avLst>
              <a:gd name="adj" fmla="val 6061"/>
            </a:avLst>
          </a:prstGeom>
          <a:solidFill>
            <a:srgbClr val="E8F6EF"/>
          </a:solidFill>
          <a:ln w="12700">
            <a:solidFill>
              <a:srgbClr val="E8F6EF"/>
            </a:solidFill>
            <a:prstDash val="solid"/>
          </a:ln>
        </p:spPr>
      </p:sp>
      <p:sp>
        <p:nvSpPr>
          <p:cNvPr id="18" name="Text 16"/>
          <p:cNvSpPr txBox="1"/>
          <p:nvPr/>
        </p:nvSpPr>
        <p:spPr>
          <a:xfrm>
            <a:off x="640080" y="3227832"/>
            <a:ext cx="3474720" cy="749808"/>
          </a:xfrm>
          <a:prstGeom prst="rect">
            <a:avLst/>
          </a:prstGeom>
          <a:noFill/>
          <a:ln/>
        </p:spPr>
        <p:txBody>
          <a:bodyPr wrap="square" lIns="0" tIns="0" rIns="0" bIns="0" rtlCol="0" anchor="ctr"/>
          <a:lstStyle/>
          <a:p>
            <a:pPr algn="ctr" indent="0" marL="0">
              <a:buNone/>
            </a:pPr>
            <a:r>
              <a:rPr lang="en-US" sz="4000" b="1" dirty="0">
                <a:solidFill>
                  <a:srgbClr val="10212F"/>
                </a:solidFill>
                <a:latin typeface="Calibri" pitchFamily="34" charset="0"/>
                <a:ea typeface="Calibri" pitchFamily="34" charset="-122"/>
                <a:cs typeface="Calibri" pitchFamily="34" charset="-120"/>
              </a:rPr>
              <a:t>23 of 26</a:t>
            </a:r>
            <a:endParaRPr lang="en-US" sz="4000" dirty="0"/>
          </a:p>
        </p:txBody>
      </p:sp>
      <p:sp>
        <p:nvSpPr>
          <p:cNvPr id="19" name="Text 17"/>
          <p:cNvSpPr txBox="1"/>
          <p:nvPr/>
        </p:nvSpPr>
        <p:spPr>
          <a:xfrm>
            <a:off x="749808" y="3977640"/>
            <a:ext cx="3255264" cy="502920"/>
          </a:xfrm>
          <a:prstGeom prst="rect">
            <a:avLst/>
          </a:prstGeom>
          <a:noFill/>
          <a:ln/>
        </p:spPr>
        <p:txBody>
          <a:bodyPr wrap="square" lIns="0" tIns="0" rIns="0" bIns="0" rtlCol="0" anchor="ctr"/>
          <a:lstStyle/>
          <a:p>
            <a:pPr algn="ctr" indent="0" marL="0">
              <a:buNone/>
            </a:pPr>
            <a:r>
              <a:rPr lang="en-US" sz="1150" dirty="0">
                <a:solidFill>
                  <a:srgbClr val="5A6B7B"/>
                </a:solidFill>
                <a:latin typeface="Calibri" pitchFamily="34" charset="0"/>
                <a:ea typeface="Calibri" pitchFamily="34" charset="-122"/>
                <a:cs typeface="Calibri" pitchFamily="34" charset="-120"/>
              </a:rPr>
              <a:t>failures are also</a:t>
            </a:r>
            <a:endParaRPr lang="en-US" sz="1150" dirty="0"/>
          </a:p>
          <a:p>
            <a:pPr algn="ctr" indent="0" marL="0">
              <a:buNone/>
            </a:pPr>
            <a:r>
              <a:rPr lang="en-US" sz="1150" dirty="0">
                <a:solidFill>
                  <a:srgbClr val="5A6B7B"/>
                </a:solidFill>
                <a:latin typeface="Calibri" pitchFamily="34" charset="0"/>
                <a:ea typeface="Calibri" pitchFamily="34" charset="-122"/>
                <a:cs typeface="Calibri" pitchFamily="34" charset="-120"/>
              </a:rPr>
              <a:t>Commonwealth obligations</a:t>
            </a:r>
            <a:endParaRPr lang="en-US" sz="1150" dirty="0"/>
          </a:p>
        </p:txBody>
      </p:sp>
      <p:sp>
        <p:nvSpPr>
          <p:cNvPr id="20" name="Shape 18"/>
          <p:cNvSpPr/>
          <p:nvPr/>
        </p:nvSpPr>
        <p:spPr>
          <a:xfrm>
            <a:off x="4343400" y="3063240"/>
            <a:ext cx="3474720" cy="1508760"/>
          </a:xfrm>
          <a:prstGeom prst="roundRect">
            <a:avLst>
              <a:gd name="adj" fmla="val 6061"/>
            </a:avLst>
          </a:prstGeom>
          <a:solidFill>
            <a:srgbClr val="F4F7F9"/>
          </a:solidFill>
          <a:ln w="12700">
            <a:solidFill>
              <a:srgbClr val="F4F7F9"/>
            </a:solidFill>
            <a:prstDash val="solid"/>
          </a:ln>
        </p:spPr>
      </p:sp>
      <p:sp>
        <p:nvSpPr>
          <p:cNvPr id="21" name="Text 19"/>
          <p:cNvSpPr txBox="1"/>
          <p:nvPr/>
        </p:nvSpPr>
        <p:spPr>
          <a:xfrm>
            <a:off x="4343400" y="3227832"/>
            <a:ext cx="3474720" cy="749808"/>
          </a:xfrm>
          <a:prstGeom prst="rect">
            <a:avLst/>
          </a:prstGeom>
          <a:noFill/>
          <a:ln/>
        </p:spPr>
        <p:txBody>
          <a:bodyPr wrap="square" lIns="0" tIns="0" rIns="0" bIns="0" rtlCol="0" anchor="ctr"/>
          <a:lstStyle/>
          <a:p>
            <a:pPr algn="ctr" indent="0" marL="0">
              <a:buNone/>
            </a:pPr>
            <a:r>
              <a:rPr lang="en-US" sz="4000" b="1" dirty="0">
                <a:solidFill>
                  <a:srgbClr val="10212F"/>
                </a:solidFill>
                <a:latin typeface="Calibri" pitchFamily="34" charset="0"/>
                <a:ea typeface="Calibri" pitchFamily="34" charset="-122"/>
                <a:cs typeface="Calibri" pitchFamily="34" charset="-120"/>
              </a:rPr>
              <a:t>1,189</a:t>
            </a:r>
            <a:endParaRPr lang="en-US" sz="4000" dirty="0"/>
          </a:p>
        </p:txBody>
      </p:sp>
      <p:sp>
        <p:nvSpPr>
          <p:cNvPr id="22" name="Text 20"/>
          <p:cNvSpPr txBox="1"/>
          <p:nvPr/>
        </p:nvSpPr>
        <p:spPr>
          <a:xfrm>
            <a:off x="4453128" y="3977640"/>
            <a:ext cx="3255264" cy="502920"/>
          </a:xfrm>
          <a:prstGeom prst="rect">
            <a:avLst/>
          </a:prstGeom>
          <a:noFill/>
          <a:ln/>
        </p:spPr>
        <p:txBody>
          <a:bodyPr wrap="square" lIns="0" tIns="0" rIns="0" bIns="0" rtlCol="0" anchor="ctr"/>
          <a:lstStyle/>
          <a:p>
            <a:pPr algn="ctr" indent="0" marL="0">
              <a:buNone/>
            </a:pPr>
            <a:r>
              <a:rPr lang="en-US" sz="1150" dirty="0">
                <a:solidFill>
                  <a:srgbClr val="5A6B7B"/>
                </a:solidFill>
                <a:latin typeface="Calibri" pitchFamily="34" charset="0"/>
                <a:ea typeface="Calibri" pitchFamily="34" charset="-122"/>
                <a:cs typeface="Calibri" pitchFamily="34" charset="-120"/>
              </a:rPr>
              <a:t>SEC530 controls parsed</a:t>
            </a:r>
            <a:endParaRPr lang="en-US" sz="1150" dirty="0"/>
          </a:p>
          <a:p>
            <a:pPr algn="ctr" indent="0" marL="0">
              <a:buNone/>
            </a:pPr>
            <a:r>
              <a:rPr lang="en-US" sz="1150" dirty="0">
                <a:solidFill>
                  <a:srgbClr val="5A6B7B"/>
                </a:solidFill>
                <a:latin typeface="Calibri" pitchFamily="34" charset="0"/>
                <a:ea typeface="Calibri" pitchFamily="34" charset="-122"/>
                <a:cs typeface="Calibri" pitchFamily="34" charset="-120"/>
              </a:rPr>
              <a:t>from VITA's own spreadsheet</a:t>
            </a:r>
            <a:endParaRPr lang="en-US" sz="1150" dirty="0"/>
          </a:p>
        </p:txBody>
      </p:sp>
      <p:sp>
        <p:nvSpPr>
          <p:cNvPr id="23" name="Shape 21"/>
          <p:cNvSpPr/>
          <p:nvPr/>
        </p:nvSpPr>
        <p:spPr>
          <a:xfrm>
            <a:off x="8046720" y="3063240"/>
            <a:ext cx="3474720" cy="1508760"/>
          </a:xfrm>
          <a:prstGeom prst="roundRect">
            <a:avLst>
              <a:gd name="adj" fmla="val 6061"/>
            </a:avLst>
          </a:prstGeom>
          <a:solidFill>
            <a:srgbClr val="FFF6E0"/>
          </a:solidFill>
          <a:ln w="12700">
            <a:solidFill>
              <a:srgbClr val="FFF6E0"/>
            </a:solidFill>
            <a:prstDash val="solid"/>
          </a:ln>
        </p:spPr>
      </p:sp>
      <p:sp>
        <p:nvSpPr>
          <p:cNvPr id="24" name="Text 22"/>
          <p:cNvSpPr txBox="1"/>
          <p:nvPr/>
        </p:nvSpPr>
        <p:spPr>
          <a:xfrm>
            <a:off x="8046720" y="3227832"/>
            <a:ext cx="3474720" cy="749808"/>
          </a:xfrm>
          <a:prstGeom prst="rect">
            <a:avLst/>
          </a:prstGeom>
          <a:noFill/>
          <a:ln/>
        </p:spPr>
        <p:txBody>
          <a:bodyPr wrap="square" lIns="0" tIns="0" rIns="0" bIns="0" rtlCol="0" anchor="ctr"/>
          <a:lstStyle/>
          <a:p>
            <a:pPr algn="ctr" indent="0" marL="0">
              <a:buNone/>
            </a:pPr>
            <a:r>
              <a:rPr lang="en-US" sz="4000" b="1" dirty="0">
                <a:solidFill>
                  <a:srgbClr val="8A5A00"/>
                </a:solidFill>
                <a:latin typeface="Calibri" pitchFamily="34" charset="0"/>
                <a:ea typeface="Calibri" pitchFamily="34" charset="-122"/>
                <a:cs typeface="Calibri" pitchFamily="34" charset="-120"/>
              </a:rPr>
              <a:t>3</a:t>
            </a:r>
            <a:endParaRPr lang="en-US" sz="4000" dirty="0"/>
          </a:p>
        </p:txBody>
      </p:sp>
      <p:sp>
        <p:nvSpPr>
          <p:cNvPr id="25" name="Text 23"/>
          <p:cNvSpPr txBox="1"/>
          <p:nvPr/>
        </p:nvSpPr>
        <p:spPr>
          <a:xfrm>
            <a:off x="8156448" y="3977640"/>
            <a:ext cx="3255264" cy="502920"/>
          </a:xfrm>
          <a:prstGeom prst="rect">
            <a:avLst/>
          </a:prstGeom>
          <a:noFill/>
          <a:ln/>
        </p:spPr>
        <p:txBody>
          <a:bodyPr wrap="square" lIns="0" tIns="0" rIns="0" bIns="0" rtlCol="0" anchor="ctr"/>
          <a:lstStyle/>
          <a:p>
            <a:pPr algn="ctr" indent="0" marL="0">
              <a:buNone/>
            </a:pPr>
            <a:r>
              <a:rPr lang="en-US" sz="1150" dirty="0">
                <a:solidFill>
                  <a:srgbClr val="5A6B7B"/>
                </a:solidFill>
                <a:latin typeface="Calibri" pitchFamily="34" charset="0"/>
                <a:ea typeface="Calibri" pitchFamily="34" charset="-122"/>
                <a:cs typeface="Calibri" pitchFamily="34" charset="-120"/>
              </a:rPr>
              <a:t>federal only — Virginia</a:t>
            </a:r>
            <a:endParaRPr lang="en-US" sz="1150" dirty="0"/>
          </a:p>
          <a:p>
            <a:pPr algn="ctr" indent="0" marL="0">
              <a:buNone/>
            </a:pPr>
            <a:r>
              <a:rPr lang="en-US" sz="1150" dirty="0">
                <a:solidFill>
                  <a:srgbClr val="5A6B7B"/>
                </a:solidFill>
                <a:latin typeface="Calibri" pitchFamily="34" charset="0"/>
                <a:ea typeface="Calibri" pitchFamily="34" charset="-122"/>
                <a:cs typeface="Calibri" pitchFamily="34" charset="-120"/>
              </a:rPr>
              <a:t>withdrew the control</a:t>
            </a:r>
            <a:endParaRPr lang="en-US" sz="1150" dirty="0"/>
          </a:p>
        </p:txBody>
      </p:sp>
      <p:sp>
        <p:nvSpPr>
          <p:cNvPr id="26" name="Shape 24"/>
          <p:cNvSpPr/>
          <p:nvPr/>
        </p:nvSpPr>
        <p:spPr>
          <a:xfrm>
            <a:off x="640080" y="4800600"/>
            <a:ext cx="10881360" cy="1234440"/>
          </a:xfrm>
          <a:prstGeom prst="roundRect">
            <a:avLst>
              <a:gd name="adj" fmla="val 7407"/>
            </a:avLst>
          </a:prstGeom>
          <a:solidFill>
            <a:srgbClr val="0A1A2F"/>
          </a:solidFill>
          <a:ln w="12700">
            <a:solidFill>
              <a:srgbClr val="0A1A2F"/>
            </a:solidFill>
            <a:prstDash val="solid"/>
          </a:ln>
        </p:spPr>
      </p:sp>
      <p:sp>
        <p:nvSpPr>
          <p:cNvPr id="27" name="Text 25"/>
          <p:cNvSpPr txBox="1"/>
          <p:nvPr/>
        </p:nvSpPr>
        <p:spPr>
          <a:xfrm>
            <a:off x="914400" y="4956048"/>
            <a:ext cx="10332720" cy="292608"/>
          </a:xfrm>
          <a:prstGeom prst="rect">
            <a:avLst/>
          </a:prstGeom>
          <a:noFill/>
          <a:ln/>
        </p:spPr>
        <p:txBody>
          <a:bodyPr wrap="square" lIns="0" tIns="0" rIns="0" bIns="0" rtlCol="0" anchor="ctr"/>
          <a:lstStyle/>
          <a:p>
            <a:pPr indent="0" marL="0">
              <a:buNone/>
            </a:pPr>
            <a:r>
              <a:rPr lang="en-US" sz="1350" b="1" dirty="0">
                <a:solidFill>
                  <a:srgbClr val="FFB700"/>
                </a:solidFill>
                <a:latin typeface="Calibri" pitchFamily="34" charset="0"/>
                <a:ea typeface="Calibri" pitchFamily="34" charset="-122"/>
                <a:cs typeface="Calibri" pitchFamily="34" charset="-120"/>
              </a:rPr>
              <a:t>Where the two governments differ</a:t>
            </a:r>
            <a:endParaRPr lang="en-US" sz="1350" dirty="0"/>
          </a:p>
        </p:txBody>
      </p:sp>
      <p:sp>
        <p:nvSpPr>
          <p:cNvPr id="28" name="Text 26"/>
          <p:cNvSpPr txBox="1"/>
          <p:nvPr/>
        </p:nvSpPr>
        <p:spPr>
          <a:xfrm>
            <a:off x="914400" y="5285232"/>
            <a:ext cx="10332720" cy="640080"/>
          </a:xfrm>
          <a:prstGeom prst="rect">
            <a:avLst/>
          </a:prstGeom>
          <a:noFill/>
          <a:ln/>
        </p:spPr>
        <p:txBody>
          <a:bodyPr wrap="square" lIns="0" tIns="0" rIns="0" bIns="0" rtlCol="0" anchor="ctr"/>
          <a:lstStyle/>
          <a:p>
            <a:pPr indent="0" marL="0">
              <a:lnSpc>
                <a:spcPts val="1700"/>
              </a:lnSpc>
              <a:buNone/>
            </a:pPr>
            <a:r>
              <a:rPr lang="en-US" sz="1200" dirty="0">
                <a:solidFill>
                  <a:srgbClr val="D2DEE8"/>
                </a:solidFill>
                <a:latin typeface="Calibri" pitchFamily="34" charset="0"/>
                <a:ea typeface="Calibri" pitchFamily="34" charset="-122"/>
                <a:cs typeface="Calibri" pitchFamily="34" charset="-120"/>
              </a:rPr>
              <a:t>Three failures map only to SC-7(10), which the Commonwealth has withdrawn — “not applicable to COV”. They remain federal obligations and carry no SEC530 duty. We also surface who Virginia says owns each control, from SEC530's own IMPLEMENTED BY column.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A2F"/>
        </a:solidFill>
      </p:bgPr>
    </p:bg>
    <p:spTree>
      <p:nvGrpSpPr>
        <p:cNvPr id="1" name=""/>
        <p:cNvGrpSpPr/>
        <p:nvPr/>
      </p:nvGrpSpPr>
      <p:grpSpPr>
        <a:xfrm>
          <a:off x="0" y="0"/>
          <a:ext cx="0" cy="0"/>
          <a:chOff x="0" y="0"/>
          <a:chExt cx="0" cy="0"/>
        </a:xfrm>
      </p:grpSpPr>
      <p:sp>
        <p:nvSpPr>
          <p:cNvPr id="2" name="Text 0"/>
          <p:cNvSpPr txBox="1"/>
          <p:nvPr/>
        </p:nvSpPr>
        <p:spPr>
          <a:xfrm>
            <a:off x="640080" y="182880"/>
            <a:ext cx="10881360" cy="292608"/>
          </a:xfrm>
          <a:prstGeom prst="rect">
            <a:avLst/>
          </a:prstGeom>
          <a:noFill/>
          <a:ln/>
        </p:spPr>
        <p:txBody>
          <a:bodyPr wrap="square" lIns="0" tIns="0" rIns="0" bIns="0" rtlCol="0" anchor="ctr"/>
          <a:lstStyle/>
          <a:p>
            <a:pPr indent="0" marL="0">
              <a:buNone/>
            </a:pPr>
            <a:r>
              <a:rPr lang="en-US" sz="1200" b="1" spc="200" kern="0" dirty="0">
                <a:solidFill>
                  <a:srgbClr val="3FC1C9"/>
                </a:solidFill>
                <a:latin typeface="Calibri" pitchFamily="34" charset="0"/>
                <a:ea typeface="Calibri" pitchFamily="34" charset="-122"/>
                <a:cs typeface="Calibri" pitchFamily="34" charset="-120"/>
              </a:rPr>
              <a:t>MICROSOFT FOUNDRY</a:t>
            </a:r>
            <a:endParaRPr lang="en-US" sz="1200" dirty="0"/>
          </a:p>
        </p:txBody>
      </p:sp>
      <p:sp>
        <p:nvSpPr>
          <p:cNvPr id="3" name="Text 1"/>
          <p:cNvSpPr txBox="1"/>
          <p:nvPr/>
        </p:nvSpPr>
        <p:spPr>
          <a:xfrm>
            <a:off x="640080" y="411480"/>
            <a:ext cx="10881360" cy="82296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An AI layer that cannot fabricate</a:t>
            </a:r>
            <a:endParaRPr lang="en-US" sz="3400" dirty="0"/>
          </a:p>
        </p:txBody>
      </p:sp>
      <p:sp>
        <p:nvSpPr>
          <p:cNvPr id="4" name="Text 2"/>
          <p:cNvSpPr txBox="1"/>
          <p:nvPr/>
        </p:nvSpPr>
        <p:spPr>
          <a:xfrm>
            <a:off x="640080" y="1371600"/>
            <a:ext cx="10881360" cy="411480"/>
          </a:xfrm>
          <a:prstGeom prst="rect">
            <a:avLst/>
          </a:prstGeom>
          <a:noFill/>
          <a:ln/>
        </p:spPr>
        <p:txBody>
          <a:bodyPr wrap="square" lIns="0" tIns="0" rIns="0" bIns="0" rtlCol="0" anchor="ctr"/>
          <a:lstStyle/>
          <a:p>
            <a:pPr indent="0" marL="0">
              <a:buNone/>
            </a:pPr>
            <a:r>
              <a:rPr lang="en-US" sz="1500" b="1" dirty="0">
                <a:solidFill>
                  <a:srgbClr val="3FC1C9"/>
                </a:solidFill>
                <a:latin typeface="Courier New" pitchFamily="34" charset="0"/>
                <a:ea typeface="Courier New" pitchFamily="34" charset="-122"/>
                <a:cs typeface="Courier New" pitchFamily="34" charset="-120"/>
              </a:rPr>
              <a:t>question  →  agent  →  tool call  →  NIST-validated OSCAL  →  answer  →  audited</a:t>
            </a:r>
            <a:endParaRPr lang="en-US" sz="1500" dirty="0"/>
          </a:p>
        </p:txBody>
      </p:sp>
      <p:sp>
        <p:nvSpPr>
          <p:cNvPr id="5" name="Text 3"/>
          <p:cNvSpPr txBox="1"/>
          <p:nvPr/>
        </p:nvSpPr>
        <p:spPr>
          <a:xfrm>
            <a:off x="640080" y="1783080"/>
            <a:ext cx="10881360" cy="320040"/>
          </a:xfrm>
          <a:prstGeom prst="rect">
            <a:avLst/>
          </a:prstGeom>
          <a:noFill/>
          <a:ln/>
        </p:spPr>
        <p:txBody>
          <a:bodyPr wrap="square" lIns="0" tIns="0" rIns="0" bIns="0" rtlCol="0" anchor="ctr"/>
          <a:lstStyle/>
          <a:p>
            <a:pPr indent="0" marL="0">
              <a:buNone/>
            </a:pPr>
            <a:r>
              <a:rPr lang="en-US" sz="1300" i="1" dirty="0">
                <a:solidFill>
                  <a:srgbClr val="9FB3C8"/>
                </a:solidFill>
                <a:latin typeface="Calibri" pitchFamily="34" charset="0"/>
                <a:ea typeface="Calibri" pitchFamily="34" charset="-122"/>
                <a:cs typeface="Calibri" pitchFamily="34" charset="-120"/>
              </a:rPr>
              <a:t>There is no other path to a fact — and the answer is checked again on the way out.</a:t>
            </a:r>
            <a:endParaRPr lang="en-US" sz="1300" dirty="0"/>
          </a:p>
        </p:txBody>
      </p:sp>
      <p:sp>
        <p:nvSpPr>
          <p:cNvPr id="6" name="Shape 4"/>
          <p:cNvSpPr/>
          <p:nvPr/>
        </p:nvSpPr>
        <p:spPr>
          <a:xfrm>
            <a:off x="640080" y="2286000"/>
            <a:ext cx="2560320" cy="1371600"/>
          </a:xfrm>
          <a:prstGeom prst="roundRect">
            <a:avLst>
              <a:gd name="adj" fmla="val 6667"/>
            </a:avLst>
          </a:prstGeom>
          <a:solidFill>
            <a:srgbClr val="14304F"/>
          </a:solidFill>
          <a:ln w="12700">
            <a:solidFill>
              <a:srgbClr val="1E4468"/>
            </a:solidFill>
            <a:prstDash val="solid"/>
          </a:ln>
        </p:spPr>
      </p:sp>
      <p:sp>
        <p:nvSpPr>
          <p:cNvPr id="7" name="Text 5"/>
          <p:cNvSpPr txBox="1"/>
          <p:nvPr/>
        </p:nvSpPr>
        <p:spPr>
          <a:xfrm>
            <a:off x="777240" y="2423160"/>
            <a:ext cx="2286000" cy="320040"/>
          </a:xfrm>
          <a:prstGeom prst="rect">
            <a:avLst/>
          </a:prstGeom>
          <a:noFill/>
          <a:ln/>
        </p:spPr>
        <p:txBody>
          <a:bodyPr wrap="square" lIns="0" tIns="0" rIns="0" bIns="0" rtlCol="0" anchor="ctr"/>
          <a:lstStyle/>
          <a:p>
            <a:pPr indent="0" marL="0">
              <a:buNone/>
            </a:pPr>
            <a:r>
              <a:rPr lang="en-US" sz="1500" b="1" dirty="0">
                <a:solidFill>
                  <a:srgbClr val="3FC1C9"/>
                </a:solidFill>
                <a:latin typeface="Calibri" pitchFamily="34" charset="0"/>
                <a:ea typeface="Calibri" pitchFamily="34" charset="-122"/>
                <a:cs typeface="Calibri" pitchFamily="34" charset="-120"/>
              </a:rPr>
              <a:t>Posture</a:t>
            </a:r>
            <a:endParaRPr lang="en-US" sz="1500" dirty="0"/>
          </a:p>
        </p:txBody>
      </p:sp>
      <p:sp>
        <p:nvSpPr>
          <p:cNvPr id="8" name="Text 6"/>
          <p:cNvSpPr txBox="1"/>
          <p:nvPr/>
        </p:nvSpPr>
        <p:spPr>
          <a:xfrm>
            <a:off x="777240" y="2761488"/>
            <a:ext cx="2286000" cy="777240"/>
          </a:xfrm>
          <a:prstGeom prst="rect">
            <a:avLst/>
          </a:prstGeom>
          <a:noFill/>
          <a:ln/>
        </p:spPr>
        <p:txBody>
          <a:bodyPr wrap="square" lIns="0" tIns="0" rIns="0" bIns="0" rtlCol="0" anchor="ctr"/>
          <a:lstStyle/>
          <a:p>
            <a:pPr indent="0" marL="0">
              <a:lnSpc>
                <a:spcPts val="1600"/>
              </a:lnSpc>
              <a:buNone/>
            </a:pPr>
            <a:r>
              <a:rPr lang="en-US" sz="1150" dirty="0">
                <a:solidFill>
                  <a:srgbClr val="C6D4E0"/>
                </a:solidFill>
                <a:latin typeface="Calibri" pitchFamily="34" charset="0"/>
                <a:ea typeface="Calibri" pitchFamily="34" charset="-122"/>
                <a:cs typeface="Calibri" pitchFamily="34" charset="-120"/>
              </a:rPr>
              <a:t>current state, and what a policy requires</a:t>
            </a:r>
            <a:endParaRPr lang="en-US" sz="1150" dirty="0"/>
          </a:p>
        </p:txBody>
      </p:sp>
      <p:sp>
        <p:nvSpPr>
          <p:cNvPr id="9" name="Shape 7"/>
          <p:cNvSpPr/>
          <p:nvPr/>
        </p:nvSpPr>
        <p:spPr>
          <a:xfrm>
            <a:off x="3383280" y="2286000"/>
            <a:ext cx="2560320" cy="1371600"/>
          </a:xfrm>
          <a:prstGeom prst="roundRect">
            <a:avLst>
              <a:gd name="adj" fmla="val 6667"/>
            </a:avLst>
          </a:prstGeom>
          <a:solidFill>
            <a:srgbClr val="14304F"/>
          </a:solidFill>
          <a:ln w="12700">
            <a:solidFill>
              <a:srgbClr val="1E4468"/>
            </a:solidFill>
            <a:prstDash val="solid"/>
          </a:ln>
        </p:spPr>
      </p:sp>
      <p:sp>
        <p:nvSpPr>
          <p:cNvPr id="10" name="Text 8"/>
          <p:cNvSpPr txBox="1"/>
          <p:nvPr/>
        </p:nvSpPr>
        <p:spPr>
          <a:xfrm>
            <a:off x="3520440" y="2423160"/>
            <a:ext cx="2286000" cy="320040"/>
          </a:xfrm>
          <a:prstGeom prst="rect">
            <a:avLst/>
          </a:prstGeom>
          <a:noFill/>
          <a:ln/>
        </p:spPr>
        <p:txBody>
          <a:bodyPr wrap="square" lIns="0" tIns="0" rIns="0" bIns="0" rtlCol="0" anchor="ctr"/>
          <a:lstStyle/>
          <a:p>
            <a:pPr indent="0" marL="0">
              <a:buNone/>
            </a:pPr>
            <a:r>
              <a:rPr lang="en-US" sz="1500" b="1" dirty="0">
                <a:solidFill>
                  <a:srgbClr val="3FC1C9"/>
                </a:solidFill>
                <a:latin typeface="Calibri" pitchFamily="34" charset="0"/>
                <a:ea typeface="Calibri" pitchFamily="34" charset="-122"/>
                <a:cs typeface="Calibri" pitchFamily="34" charset="-120"/>
              </a:rPr>
              <a:t>Risk</a:t>
            </a:r>
            <a:endParaRPr lang="en-US" sz="1500" dirty="0"/>
          </a:p>
        </p:txBody>
      </p:sp>
      <p:sp>
        <p:nvSpPr>
          <p:cNvPr id="11" name="Text 9"/>
          <p:cNvSpPr txBox="1"/>
          <p:nvPr/>
        </p:nvSpPr>
        <p:spPr>
          <a:xfrm>
            <a:off x="3520440" y="2761488"/>
            <a:ext cx="2286000" cy="777240"/>
          </a:xfrm>
          <a:prstGeom prst="rect">
            <a:avLst/>
          </a:prstGeom>
          <a:noFill/>
          <a:ln/>
        </p:spPr>
        <p:txBody>
          <a:bodyPr wrap="square" lIns="0" tIns="0" rIns="0" bIns="0" rtlCol="0" anchor="ctr"/>
          <a:lstStyle/>
          <a:p>
            <a:pPr indent="0" marL="0">
              <a:lnSpc>
                <a:spcPts val="1600"/>
              </a:lnSpc>
              <a:buNone/>
            </a:pPr>
            <a:r>
              <a:rPr lang="en-US" sz="1150" dirty="0">
                <a:solidFill>
                  <a:srgbClr val="C6D4E0"/>
                </a:solidFill>
                <a:latin typeface="Calibri" pitchFamily="34" charset="0"/>
                <a:ea typeface="Calibri" pitchFamily="34" charset="-122"/>
                <a:cs typeface="Calibri" pitchFamily="34" charset="-120"/>
              </a:rPr>
              <a:t>ranks by SHALL/SHOULD, ATT&amp;CK breadth, blast radius</a:t>
            </a:r>
            <a:endParaRPr lang="en-US" sz="1150" dirty="0"/>
          </a:p>
        </p:txBody>
      </p:sp>
      <p:sp>
        <p:nvSpPr>
          <p:cNvPr id="12" name="Shape 10"/>
          <p:cNvSpPr/>
          <p:nvPr/>
        </p:nvSpPr>
        <p:spPr>
          <a:xfrm>
            <a:off x="6126480" y="2286000"/>
            <a:ext cx="2560320" cy="1371600"/>
          </a:xfrm>
          <a:prstGeom prst="roundRect">
            <a:avLst>
              <a:gd name="adj" fmla="val 6667"/>
            </a:avLst>
          </a:prstGeom>
          <a:solidFill>
            <a:srgbClr val="14304F"/>
          </a:solidFill>
          <a:ln w="12700">
            <a:solidFill>
              <a:srgbClr val="1E4468"/>
            </a:solidFill>
            <a:prstDash val="solid"/>
          </a:ln>
        </p:spPr>
      </p:sp>
      <p:sp>
        <p:nvSpPr>
          <p:cNvPr id="13" name="Text 11"/>
          <p:cNvSpPr txBox="1"/>
          <p:nvPr/>
        </p:nvSpPr>
        <p:spPr>
          <a:xfrm>
            <a:off x="6263640" y="2423160"/>
            <a:ext cx="2286000" cy="320040"/>
          </a:xfrm>
          <a:prstGeom prst="rect">
            <a:avLst/>
          </a:prstGeom>
          <a:noFill/>
          <a:ln/>
        </p:spPr>
        <p:txBody>
          <a:bodyPr wrap="square" lIns="0" tIns="0" rIns="0" bIns="0" rtlCol="0" anchor="ctr"/>
          <a:lstStyle/>
          <a:p>
            <a:pPr indent="0" marL="0">
              <a:buNone/>
            </a:pPr>
            <a:r>
              <a:rPr lang="en-US" sz="1500" b="1" dirty="0">
                <a:solidFill>
                  <a:srgbClr val="3FC1C9"/>
                </a:solidFill>
                <a:latin typeface="Calibri" pitchFamily="34" charset="0"/>
                <a:ea typeface="Calibri" pitchFamily="34" charset="-122"/>
                <a:cs typeface="Calibri" pitchFamily="34" charset="-120"/>
              </a:rPr>
              <a:t>Remediation</a:t>
            </a:r>
            <a:endParaRPr lang="en-US" sz="1500" dirty="0"/>
          </a:p>
        </p:txBody>
      </p:sp>
      <p:sp>
        <p:nvSpPr>
          <p:cNvPr id="14" name="Text 12"/>
          <p:cNvSpPr txBox="1"/>
          <p:nvPr/>
        </p:nvSpPr>
        <p:spPr>
          <a:xfrm>
            <a:off x="6263640" y="2761488"/>
            <a:ext cx="2286000" cy="777240"/>
          </a:xfrm>
          <a:prstGeom prst="rect">
            <a:avLst/>
          </a:prstGeom>
          <a:noFill/>
          <a:ln/>
        </p:spPr>
        <p:txBody>
          <a:bodyPr wrap="square" lIns="0" tIns="0" rIns="0" bIns="0" rtlCol="0" anchor="ctr"/>
          <a:lstStyle/>
          <a:p>
            <a:pPr indent="0" marL="0">
              <a:lnSpc>
                <a:spcPts val="1600"/>
              </a:lnSpc>
              <a:buNone/>
            </a:pPr>
            <a:r>
              <a:rPr lang="en-US" sz="1150" dirty="0">
                <a:solidFill>
                  <a:srgbClr val="C6D4E0"/>
                </a:solidFill>
                <a:latin typeface="Calibri" pitchFamily="34" charset="0"/>
                <a:ea typeface="Calibri" pitchFamily="34" charset="-122"/>
                <a:cs typeface="Calibri" pitchFamily="34" charset="-120"/>
              </a:rPr>
              <a:t>fixes grounded in CISA's own guidance</a:t>
            </a:r>
            <a:endParaRPr lang="en-US" sz="1150" dirty="0"/>
          </a:p>
        </p:txBody>
      </p:sp>
      <p:sp>
        <p:nvSpPr>
          <p:cNvPr id="15" name="Shape 13"/>
          <p:cNvSpPr/>
          <p:nvPr/>
        </p:nvSpPr>
        <p:spPr>
          <a:xfrm>
            <a:off x="8869680" y="2286000"/>
            <a:ext cx="2560320" cy="1371600"/>
          </a:xfrm>
          <a:prstGeom prst="roundRect">
            <a:avLst>
              <a:gd name="adj" fmla="val 6667"/>
            </a:avLst>
          </a:prstGeom>
          <a:solidFill>
            <a:srgbClr val="14304F"/>
          </a:solidFill>
          <a:ln w="12700">
            <a:solidFill>
              <a:srgbClr val="1E4468"/>
            </a:solidFill>
            <a:prstDash val="solid"/>
          </a:ln>
        </p:spPr>
      </p:sp>
      <p:sp>
        <p:nvSpPr>
          <p:cNvPr id="16" name="Text 14"/>
          <p:cNvSpPr txBox="1"/>
          <p:nvPr/>
        </p:nvSpPr>
        <p:spPr>
          <a:xfrm>
            <a:off x="9006840" y="2423160"/>
            <a:ext cx="2286000" cy="320040"/>
          </a:xfrm>
          <a:prstGeom prst="rect">
            <a:avLst/>
          </a:prstGeom>
          <a:noFill/>
          <a:ln/>
        </p:spPr>
        <p:txBody>
          <a:bodyPr wrap="square" lIns="0" tIns="0" rIns="0" bIns="0" rtlCol="0" anchor="ctr"/>
          <a:lstStyle/>
          <a:p>
            <a:pPr indent="0" marL="0">
              <a:buNone/>
            </a:pPr>
            <a:r>
              <a:rPr lang="en-US" sz="1500" b="1" dirty="0">
                <a:solidFill>
                  <a:srgbClr val="3FC1C9"/>
                </a:solidFill>
                <a:latin typeface="Calibri" pitchFamily="34" charset="0"/>
                <a:ea typeface="Calibri" pitchFamily="34" charset="-122"/>
                <a:cs typeface="Calibri" pitchFamily="34" charset="-120"/>
              </a:rPr>
              <a:t>Report</a:t>
            </a:r>
            <a:endParaRPr lang="en-US" sz="1500" dirty="0"/>
          </a:p>
        </p:txBody>
      </p:sp>
      <p:sp>
        <p:nvSpPr>
          <p:cNvPr id="17" name="Text 15"/>
          <p:cNvSpPr txBox="1"/>
          <p:nvPr/>
        </p:nvSpPr>
        <p:spPr>
          <a:xfrm>
            <a:off x="9006840" y="2761488"/>
            <a:ext cx="2286000" cy="777240"/>
          </a:xfrm>
          <a:prstGeom prst="rect">
            <a:avLst/>
          </a:prstGeom>
          <a:noFill/>
          <a:ln/>
        </p:spPr>
        <p:txBody>
          <a:bodyPr wrap="square" lIns="0" tIns="0" rIns="0" bIns="0" rtlCol="0" anchor="ctr"/>
          <a:lstStyle/>
          <a:p>
            <a:pPr indent="0" marL="0">
              <a:lnSpc>
                <a:spcPts val="1600"/>
              </a:lnSpc>
              <a:buNone/>
            </a:pPr>
            <a:r>
              <a:rPr lang="en-US" sz="1150" dirty="0">
                <a:solidFill>
                  <a:srgbClr val="C6D4E0"/>
                </a:solidFill>
                <a:latin typeface="Calibri" pitchFamily="34" charset="0"/>
                <a:ea typeface="Calibri" pitchFamily="34" charset="-122"/>
                <a:cs typeface="Calibri" pitchFamily="34" charset="-120"/>
              </a:rPr>
              <a:t>executive · auditor · engineer phrasing</a:t>
            </a:r>
            <a:endParaRPr lang="en-US" sz="1150" dirty="0"/>
          </a:p>
        </p:txBody>
      </p:sp>
      <p:sp>
        <p:nvSpPr>
          <p:cNvPr id="18" name="Text 16"/>
          <p:cNvSpPr txBox="1"/>
          <p:nvPr/>
        </p:nvSpPr>
        <p:spPr>
          <a:xfrm>
            <a:off x="640080" y="3822192"/>
            <a:ext cx="1088136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Guardrails that are mechanisms, not promises</a:t>
            </a:r>
            <a:endParaRPr lang="en-US" sz="1500" dirty="0"/>
          </a:p>
        </p:txBody>
      </p:sp>
      <p:sp>
        <p:nvSpPr>
          <p:cNvPr id="19" name="Text 17"/>
          <p:cNvSpPr txBox="1"/>
          <p:nvPr/>
        </p:nvSpPr>
        <p:spPr>
          <a:xfrm>
            <a:off x="822960" y="4187952"/>
            <a:ext cx="10515600" cy="1737360"/>
          </a:xfrm>
          <a:prstGeom prst="rect">
            <a:avLst/>
          </a:prstGeom>
          <a:noFill/>
          <a:ln/>
        </p:spPr>
        <p:txBody>
          <a:bodyPr wrap="square" lIns="0" tIns="0" rIns="0" bIns="0" rtlCol="0" anchor="ctr"/>
          <a:lstStyle/>
          <a:p>
            <a:pPr marL="342900" indent="-342900">
              <a:lnSpc>
                <a:spcPts val="1600"/>
              </a:lnSpc>
              <a:spcAft>
                <a:spcPts val="500"/>
              </a:spcAft>
              <a:buSzPct val="100000"/>
              <a:buChar char="•"/>
            </a:pPr>
            <a:r>
              <a:rPr lang="en-US" sz="1150" dirty="0">
                <a:solidFill>
                  <a:srgbClr val="D2DEE8"/>
                </a:solidFill>
                <a:latin typeface="Calibri" pitchFamily="34" charset="0"/>
                <a:ea typeface="Calibri" pitchFamily="34" charset="-122"/>
                <a:cs typeface="Calibri" pitchFamily="34" charset="-120"/>
              </a:rPr>
              <a:t>Every answer is audited after the fact: each policy ID, NIST control, ATT&amp;CK technique and OSCAL UUID it asserts is checked against the evidence, and anything unsupported is flagged on screen</a:t>
            </a:r>
            <a:endParaRPr lang="en-US" sz="1150" dirty="0"/>
          </a:p>
          <a:p>
            <a:pPr marL="342900" indent="-342900">
              <a:lnSpc>
                <a:spcPts val="1600"/>
              </a:lnSpc>
              <a:spcAft>
                <a:spcPts val="500"/>
              </a:spcAft>
              <a:buSzPct val="100000"/>
              <a:buChar char="•"/>
            </a:pPr>
            <a:r>
              <a:rPr lang="en-US" sz="1150" dirty="0">
                <a:solidFill>
                  <a:srgbClr val="D2DEE8"/>
                </a:solidFill>
                <a:latin typeface="Calibri" pitchFamily="34" charset="0"/>
                <a:ea typeface="Calibri" pitchFamily="34" charset="-122"/>
                <a:cs typeface="Calibri" pitchFamily="34" charset="-120"/>
              </a:rPr>
              <a:t>Each verified citation resolves to the exact node in the validated document that carries it — “show me the evidence” is one click</a:t>
            </a:r>
            <a:endParaRPr lang="en-US" sz="1150" dirty="0"/>
          </a:p>
          <a:p>
            <a:pPr marL="342900" indent="-342900">
              <a:lnSpc>
                <a:spcPts val="1600"/>
              </a:lnSpc>
              <a:spcAft>
                <a:spcPts val="500"/>
              </a:spcAft>
              <a:buSzPct val="100000"/>
              <a:buChar char="•"/>
            </a:pPr>
            <a:r>
              <a:rPr lang="en-US" sz="1150" dirty="0">
                <a:solidFill>
                  <a:srgbClr val="D2DEE8"/>
                </a:solidFill>
                <a:latin typeface="Calibri" pitchFamily="34" charset="0"/>
                <a:ea typeface="Calibri" pitchFamily="34" charset="-122"/>
                <a:cs typeface="Calibri" pitchFamily="34" charset="-120"/>
              </a:rPr>
              <a:t>Unknown policy IDs return an error — never a plausible-looking control</a:t>
            </a:r>
            <a:endParaRPr lang="en-US" sz="1150" dirty="0"/>
          </a:p>
          <a:p>
            <a:pPr marL="342900" indent="-342900">
              <a:lnSpc>
                <a:spcPts val="1600"/>
              </a:lnSpc>
              <a:spcAft>
                <a:spcPts val="500"/>
              </a:spcAft>
              <a:buSzPct val="100000"/>
              <a:buChar char="•"/>
            </a:pPr>
            <a:r>
              <a:rPr lang="en-US" sz="1150" dirty="0">
                <a:solidFill>
                  <a:srgbClr val="D2DEE8"/>
                </a:solidFill>
                <a:latin typeface="Calibri" pitchFamily="34" charset="0"/>
                <a:ea typeface="Calibri" pitchFamily="34" charset="-122"/>
                <a:cs typeface="Calibri" pitchFamily="34" charset="-120"/>
              </a:rPr>
              <a:t>Every mapping reports provenance; an AI proposal can never override CISA</a:t>
            </a:r>
            <a:endParaRPr lang="en-US" sz="1150" dirty="0"/>
          </a:p>
          <a:p>
            <a:pPr marL="342900" indent="-342900">
              <a:lnSpc>
                <a:spcPts val="1600"/>
              </a:lnSpc>
              <a:spcAft>
                <a:spcPts val="500"/>
              </a:spcAft>
              <a:buSzPct val="100000"/>
              <a:buChar char="•"/>
            </a:pPr>
            <a:r>
              <a:rPr lang="en-US" sz="1150" dirty="0">
                <a:solidFill>
                  <a:srgbClr val="D2DEE8"/>
                </a:solidFill>
                <a:latin typeface="Calibri" pitchFamily="34" charset="0"/>
                <a:ea typeface="Calibri" pitchFamily="34" charset="-122"/>
                <a:cs typeface="Calibri" pitchFamily="34" charset="-120"/>
              </a:rPr>
              <a:t>AI-authored remediation prose tagged generated-by=ai-assistant inside the POA&amp;M</a:t>
            </a:r>
            <a:endParaRPr lang="en-US" sz="1150" dirty="0"/>
          </a:p>
          <a:p>
            <a:pPr marL="342900" indent="-342900">
              <a:lnSpc>
                <a:spcPts val="1600"/>
              </a:lnSpc>
              <a:spcAft>
                <a:spcPts val="500"/>
              </a:spcAft>
              <a:buSzPct val="100000"/>
              <a:buChar char="•"/>
            </a:pPr>
            <a:r>
              <a:rPr lang="en-US" sz="1150" dirty="0">
                <a:solidFill>
                  <a:srgbClr val="D2DEE8"/>
                </a:solidFill>
                <a:latin typeface="Calibri" pitchFamily="34" charset="0"/>
                <a:ea typeface="Calibri" pitchFamily="34" charset="-122"/>
                <a:cs typeface="Calibri" pitchFamily="34" charset="-120"/>
              </a:rPr>
              <a:t>An uploaded scan is untrusted input — instruction-like text is neutralised before it reaches an agent</a:t>
            </a:r>
            <a:endParaRPr lang="en-US" sz="1150" dirty="0"/>
          </a:p>
        </p:txBody>
      </p:sp>
      <p:sp>
        <p:nvSpPr>
          <p:cNvPr id="20" name="Text 18"/>
          <p:cNvSpPr txBox="1"/>
          <p:nvPr/>
        </p:nvSpPr>
        <p:spPr>
          <a:xfrm>
            <a:off x="640080" y="5989320"/>
            <a:ext cx="10881360" cy="320040"/>
          </a:xfrm>
          <a:prstGeom prst="rect">
            <a:avLst/>
          </a:prstGeom>
          <a:noFill/>
          <a:ln/>
        </p:spPr>
        <p:txBody>
          <a:bodyPr wrap="square" lIns="0" tIns="0" rIns="0" bIns="0" rtlCol="0" anchor="ctr"/>
          <a:lstStyle/>
          <a:p>
            <a:pPr indent="0" marL="0">
              <a:buNone/>
            </a:pPr>
            <a:r>
              <a:rPr lang="en-US" sz="1200" dirty="0">
                <a:solidFill>
                  <a:srgbClr val="7E93A6"/>
                </a:solidFill>
                <a:latin typeface="Calibri" pitchFamily="34" charset="0"/>
                <a:ea typeface="Calibri" pitchFamily="34" charset="-122"/>
                <a:cs typeface="Calibri" pitchFamily="34" charset="-120"/>
              </a:rPr>
              <a:t>gpt-5-mini on Microsoft Foundry  ·  keyless auth  ·  Microsoft Agent Framework</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182880"/>
            <a:ext cx="1088136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MEASURED, NOT ASSERTED</a:t>
            </a:r>
            <a:endParaRPr lang="en-US" sz="1200" dirty="0"/>
          </a:p>
        </p:txBody>
      </p:sp>
      <p:sp>
        <p:nvSpPr>
          <p:cNvPr id="3" name="Text 1"/>
          <p:cNvSpPr txBox="1"/>
          <p:nvPr/>
        </p:nvSpPr>
        <p:spPr>
          <a:xfrm>
            <a:off x="640080" y="411480"/>
            <a:ext cx="10881360" cy="822960"/>
          </a:xfrm>
          <a:prstGeom prst="rect">
            <a:avLst/>
          </a:prstGeom>
          <a:noFill/>
          <a:ln/>
        </p:spPr>
        <p:txBody>
          <a:bodyPr wrap="square" lIns="0" tIns="0" rIns="0" bIns="0" rtlCol="0" anchor="ctr"/>
          <a:lstStyle/>
          <a:p>
            <a:pPr algn="l" indent="0" marL="0">
              <a:buNone/>
            </a:pPr>
            <a:r>
              <a:rPr lang="en-US" sz="3400" b="1" dirty="0">
                <a:solidFill>
                  <a:srgbClr val="10212F"/>
                </a:solidFill>
                <a:latin typeface="Cambria" pitchFamily="34" charset="0"/>
                <a:ea typeface="Cambria" pitchFamily="34" charset="-122"/>
                <a:cs typeface="Cambria" pitchFamily="34" charset="-120"/>
              </a:rPr>
              <a:t>We tested our architecture against the obvious one</a:t>
            </a:r>
            <a:endParaRPr lang="en-US" sz="3400" dirty="0"/>
          </a:p>
        </p:txBody>
      </p:sp>
      <p:sp>
        <p:nvSpPr>
          <p:cNvPr id="4" name="Text 2"/>
          <p:cNvSpPr txBox="1"/>
          <p:nvPr/>
        </p:nvSpPr>
        <p:spPr>
          <a:xfrm>
            <a:off x="640080" y="1298448"/>
            <a:ext cx="10881360" cy="548640"/>
          </a:xfrm>
          <a:prstGeom prst="rect">
            <a:avLst/>
          </a:prstGeom>
          <a:noFill/>
          <a:ln/>
        </p:spPr>
        <p:txBody>
          <a:bodyPr wrap="square" lIns="0" tIns="0" rIns="0" bIns="0" rtlCol="0" anchor="ctr"/>
          <a:lstStyle/>
          <a:p>
            <a:pPr indent="0" marL="0">
              <a:lnSpc>
                <a:spcPts val="2000"/>
              </a:lnSpc>
              <a:buNone/>
            </a:pPr>
            <a:r>
              <a:rPr lang="en-US" sz="1400" dirty="0">
                <a:solidFill>
                  <a:srgbClr val="10212F"/>
                </a:solidFill>
                <a:latin typeface="Calibri" pitchFamily="34" charset="0"/>
                <a:ea typeface="Calibri" pitchFamily="34" charset="-122"/>
                <a:cs typeface="Calibri" pitchFamily="34" charset="-120"/>
              </a:rPr>
              <a:t>Same 15 questions. Same model. Same grader. The only variable: one arm gets tools over validated OSCAL, the other gets the raw scanner output dumped into context.</a:t>
            </a:r>
            <a:endParaRPr lang="en-US" sz="1400" dirty="0"/>
          </a:p>
        </p:txBody>
      </p:sp>
      <p:sp>
        <p:nvSpPr>
          <p:cNvPr id="5" name="Text 3"/>
          <p:cNvSpPr txBox="1"/>
          <p:nvPr/>
        </p:nvSpPr>
        <p:spPr>
          <a:xfrm>
            <a:off x="6675120" y="1965960"/>
            <a:ext cx="2194560" cy="365760"/>
          </a:xfrm>
          <a:prstGeom prst="rect">
            <a:avLst/>
          </a:prstGeom>
          <a:noFill/>
          <a:ln/>
        </p:spPr>
        <p:txBody>
          <a:bodyPr wrap="square" lIns="0" tIns="0" rIns="0" bIns="0" rtlCol="0" anchor="ctr"/>
          <a:lstStyle/>
          <a:p>
            <a:pPr algn="ctr" indent="0" marL="0">
              <a:buNone/>
            </a:pPr>
            <a:r>
              <a:rPr lang="en-US" sz="1150" b="1" spc="100" kern="0" dirty="0">
                <a:solidFill>
                  <a:srgbClr val="30A46C"/>
                </a:solidFill>
                <a:latin typeface="Calibri" pitchFamily="34" charset="0"/>
                <a:ea typeface="Calibri" pitchFamily="34" charset="-122"/>
                <a:cs typeface="Calibri" pitchFamily="34" charset="-120"/>
              </a:rPr>
              <a:t>GROUNDED</a:t>
            </a:r>
            <a:endParaRPr lang="en-US" sz="1150" dirty="0"/>
          </a:p>
        </p:txBody>
      </p:sp>
      <p:sp>
        <p:nvSpPr>
          <p:cNvPr id="6" name="Text 4"/>
          <p:cNvSpPr txBox="1"/>
          <p:nvPr/>
        </p:nvSpPr>
        <p:spPr>
          <a:xfrm>
            <a:off x="9052560" y="1965960"/>
            <a:ext cx="2468880" cy="365760"/>
          </a:xfrm>
          <a:prstGeom prst="rect">
            <a:avLst/>
          </a:prstGeom>
          <a:noFill/>
          <a:ln/>
        </p:spPr>
        <p:txBody>
          <a:bodyPr wrap="square" lIns="0" tIns="0" rIns="0" bIns="0" rtlCol="0" anchor="ctr"/>
          <a:lstStyle/>
          <a:p>
            <a:pPr algn="ctr" indent="0" marL="0">
              <a:buNone/>
            </a:pPr>
            <a:r>
              <a:rPr lang="en-US" sz="1150" b="1" spc="100" kern="0" dirty="0">
                <a:solidFill>
                  <a:srgbClr val="E5484D"/>
                </a:solidFill>
                <a:latin typeface="Calibri" pitchFamily="34" charset="0"/>
                <a:ea typeface="Calibri" pitchFamily="34" charset="-122"/>
                <a:cs typeface="Calibri" pitchFamily="34" charset="-120"/>
              </a:rPr>
              <a:t>UNGROUNDED</a:t>
            </a:r>
            <a:endParaRPr lang="en-US" sz="1150" dirty="0"/>
          </a:p>
        </p:txBody>
      </p:sp>
      <p:sp>
        <p:nvSpPr>
          <p:cNvPr id="7" name="Shape 5"/>
          <p:cNvSpPr/>
          <p:nvPr/>
        </p:nvSpPr>
        <p:spPr>
          <a:xfrm>
            <a:off x="640080" y="2441448"/>
            <a:ext cx="10881360" cy="512064"/>
          </a:xfrm>
          <a:prstGeom prst="roundRect">
            <a:avLst>
              <a:gd name="adj" fmla="val 8929"/>
            </a:avLst>
          </a:prstGeom>
          <a:solidFill>
            <a:srgbClr val="F4F7F9"/>
          </a:solidFill>
          <a:ln w="12700">
            <a:solidFill>
              <a:srgbClr val="E2E8EE"/>
            </a:solidFill>
            <a:prstDash val="solid"/>
          </a:ln>
        </p:spPr>
      </p:sp>
      <p:sp>
        <p:nvSpPr>
          <p:cNvPr id="8" name="Text 6"/>
          <p:cNvSpPr txBox="1"/>
          <p:nvPr/>
        </p:nvSpPr>
        <p:spPr>
          <a:xfrm>
            <a:off x="914400" y="2551176"/>
            <a:ext cx="5577840" cy="329184"/>
          </a:xfrm>
          <a:prstGeom prst="rect">
            <a:avLst/>
          </a:prstGeom>
          <a:noFill/>
          <a:ln/>
        </p:spPr>
        <p:txBody>
          <a:bodyPr wrap="square" lIns="0" tIns="0" rIns="0" bIns="0" rtlCol="0" anchor="ctr"/>
          <a:lstStyle/>
          <a:p>
            <a:pPr indent="0" marL="0">
              <a:buNone/>
            </a:pPr>
            <a:r>
              <a:rPr lang="en-US" sz="1300" dirty="0">
                <a:solidFill>
                  <a:srgbClr val="10212F"/>
                </a:solidFill>
                <a:latin typeface="Calibri" pitchFamily="34" charset="0"/>
                <a:ea typeface="Calibri" pitchFamily="34" charset="-122"/>
                <a:cs typeface="Calibri" pitchFamily="34" charset="-120"/>
              </a:rPr>
              <a:t>Pass rate</a:t>
            </a:r>
            <a:endParaRPr lang="en-US" sz="1300" dirty="0"/>
          </a:p>
        </p:txBody>
      </p:sp>
      <p:sp>
        <p:nvSpPr>
          <p:cNvPr id="9" name="Text 7"/>
          <p:cNvSpPr txBox="1"/>
          <p:nvPr/>
        </p:nvSpPr>
        <p:spPr>
          <a:xfrm>
            <a:off x="6675120" y="2514600"/>
            <a:ext cx="2194560" cy="384048"/>
          </a:xfrm>
          <a:prstGeom prst="rect">
            <a:avLst/>
          </a:prstGeom>
          <a:noFill/>
          <a:ln/>
        </p:spPr>
        <p:txBody>
          <a:bodyPr wrap="square" lIns="0" tIns="0" rIns="0" bIns="0" rtlCol="0" anchor="ctr"/>
          <a:lstStyle/>
          <a:p>
            <a:pPr algn="ctr" indent="0" marL="0">
              <a:buNone/>
            </a:pPr>
            <a:r>
              <a:rPr lang="en-US" sz="1700" b="1" dirty="0">
                <a:solidFill>
                  <a:srgbClr val="30A46C"/>
                </a:solidFill>
                <a:latin typeface="Calibri" pitchFamily="34" charset="0"/>
                <a:ea typeface="Calibri" pitchFamily="34" charset="-122"/>
                <a:cs typeface="Calibri" pitchFamily="34" charset="-120"/>
              </a:rPr>
              <a:t>100%</a:t>
            </a:r>
            <a:endParaRPr lang="en-US" sz="1700" dirty="0"/>
          </a:p>
        </p:txBody>
      </p:sp>
      <p:sp>
        <p:nvSpPr>
          <p:cNvPr id="10" name="Text 8"/>
          <p:cNvSpPr txBox="1"/>
          <p:nvPr/>
        </p:nvSpPr>
        <p:spPr>
          <a:xfrm>
            <a:off x="9052560" y="2514600"/>
            <a:ext cx="2468880" cy="384048"/>
          </a:xfrm>
          <a:prstGeom prst="rect">
            <a:avLst/>
          </a:prstGeom>
          <a:noFill/>
          <a:ln/>
        </p:spPr>
        <p:txBody>
          <a:bodyPr wrap="square" lIns="0" tIns="0" rIns="0" bIns="0" rtlCol="0" anchor="ctr"/>
          <a:lstStyle/>
          <a:p>
            <a:pPr algn="ctr" indent="0" marL="0">
              <a:buNone/>
            </a:pPr>
            <a:r>
              <a:rPr lang="en-US" sz="1700" b="1" dirty="0">
                <a:solidFill>
                  <a:srgbClr val="E5484D"/>
                </a:solidFill>
                <a:latin typeface="Calibri" pitchFamily="34" charset="0"/>
                <a:ea typeface="Calibri" pitchFamily="34" charset="-122"/>
                <a:cs typeface="Calibri" pitchFamily="34" charset="-120"/>
              </a:rPr>
              <a:t>80%</a:t>
            </a:r>
            <a:endParaRPr lang="en-US" sz="1700" dirty="0"/>
          </a:p>
        </p:txBody>
      </p:sp>
      <p:sp>
        <p:nvSpPr>
          <p:cNvPr id="11" name="Shape 9"/>
          <p:cNvSpPr/>
          <p:nvPr/>
        </p:nvSpPr>
        <p:spPr>
          <a:xfrm>
            <a:off x="640080" y="3008376"/>
            <a:ext cx="10881360" cy="512064"/>
          </a:xfrm>
          <a:prstGeom prst="roundRect">
            <a:avLst>
              <a:gd name="adj" fmla="val 8929"/>
            </a:avLst>
          </a:prstGeom>
          <a:solidFill>
            <a:srgbClr val="FFFFFF"/>
          </a:solidFill>
          <a:ln w="12700">
            <a:solidFill>
              <a:srgbClr val="EDF1F4"/>
            </a:solidFill>
            <a:prstDash val="solid"/>
          </a:ln>
        </p:spPr>
      </p:sp>
      <p:sp>
        <p:nvSpPr>
          <p:cNvPr id="12" name="Text 10"/>
          <p:cNvSpPr txBox="1"/>
          <p:nvPr/>
        </p:nvSpPr>
        <p:spPr>
          <a:xfrm>
            <a:off x="914400" y="3118104"/>
            <a:ext cx="5577840" cy="329184"/>
          </a:xfrm>
          <a:prstGeom prst="rect">
            <a:avLst/>
          </a:prstGeom>
          <a:noFill/>
          <a:ln/>
        </p:spPr>
        <p:txBody>
          <a:bodyPr wrap="square" lIns="0" tIns="0" rIns="0" bIns="0" rtlCol="0" anchor="ctr"/>
          <a:lstStyle/>
          <a:p>
            <a:pPr indent="0" marL="0">
              <a:buNone/>
            </a:pPr>
            <a:r>
              <a:rPr lang="en-US" sz="1300" dirty="0">
                <a:solidFill>
                  <a:srgbClr val="10212F"/>
                </a:solidFill>
                <a:latin typeface="Calibri" pitchFamily="34" charset="0"/>
                <a:ea typeface="Calibri" pitchFamily="34" charset="-122"/>
                <a:cs typeface="Calibri" pitchFamily="34" charset="-120"/>
              </a:rPr>
              <a:t>Answers asserting facts never given to it</a:t>
            </a:r>
            <a:endParaRPr lang="en-US" sz="1300" dirty="0"/>
          </a:p>
        </p:txBody>
      </p:sp>
      <p:sp>
        <p:nvSpPr>
          <p:cNvPr id="13" name="Text 11"/>
          <p:cNvSpPr txBox="1"/>
          <p:nvPr/>
        </p:nvSpPr>
        <p:spPr>
          <a:xfrm>
            <a:off x="6675120" y="3081528"/>
            <a:ext cx="2194560" cy="384048"/>
          </a:xfrm>
          <a:prstGeom prst="rect">
            <a:avLst/>
          </a:prstGeom>
          <a:noFill/>
          <a:ln/>
        </p:spPr>
        <p:txBody>
          <a:bodyPr wrap="square" lIns="0" tIns="0" rIns="0" bIns="0" rtlCol="0" anchor="ctr"/>
          <a:lstStyle/>
          <a:p>
            <a:pPr algn="ctr" indent="0" marL="0">
              <a:buNone/>
            </a:pPr>
            <a:r>
              <a:rPr lang="en-US" sz="1700" b="1" dirty="0">
                <a:solidFill>
                  <a:srgbClr val="30A46C"/>
                </a:solidFill>
                <a:latin typeface="Calibri" pitchFamily="34" charset="0"/>
                <a:ea typeface="Calibri" pitchFamily="34" charset="-122"/>
                <a:cs typeface="Calibri" pitchFamily="34" charset="-120"/>
              </a:rPr>
              <a:t>0</a:t>
            </a:r>
            <a:endParaRPr lang="en-US" sz="1700" dirty="0"/>
          </a:p>
        </p:txBody>
      </p:sp>
      <p:sp>
        <p:nvSpPr>
          <p:cNvPr id="14" name="Text 12"/>
          <p:cNvSpPr txBox="1"/>
          <p:nvPr/>
        </p:nvSpPr>
        <p:spPr>
          <a:xfrm>
            <a:off x="9052560" y="3081528"/>
            <a:ext cx="2468880" cy="384048"/>
          </a:xfrm>
          <a:prstGeom prst="rect">
            <a:avLst/>
          </a:prstGeom>
          <a:noFill/>
          <a:ln/>
        </p:spPr>
        <p:txBody>
          <a:bodyPr wrap="square" lIns="0" tIns="0" rIns="0" bIns="0" rtlCol="0" anchor="ctr"/>
          <a:lstStyle/>
          <a:p>
            <a:pPr algn="ctr" indent="0" marL="0">
              <a:buNone/>
            </a:pPr>
            <a:r>
              <a:rPr lang="en-US" sz="1700" b="1" dirty="0">
                <a:solidFill>
                  <a:srgbClr val="E5484D"/>
                </a:solidFill>
                <a:latin typeface="Calibri" pitchFamily="34" charset="0"/>
                <a:ea typeface="Calibri" pitchFamily="34" charset="-122"/>
                <a:cs typeface="Calibri" pitchFamily="34" charset="-120"/>
              </a:rPr>
              <a:t>2</a:t>
            </a:r>
            <a:endParaRPr lang="en-US" sz="1700" dirty="0"/>
          </a:p>
        </p:txBody>
      </p:sp>
      <p:sp>
        <p:nvSpPr>
          <p:cNvPr id="15" name="Shape 13"/>
          <p:cNvSpPr/>
          <p:nvPr/>
        </p:nvSpPr>
        <p:spPr>
          <a:xfrm>
            <a:off x="640080" y="3575304"/>
            <a:ext cx="10881360" cy="512064"/>
          </a:xfrm>
          <a:prstGeom prst="roundRect">
            <a:avLst>
              <a:gd name="adj" fmla="val 8929"/>
            </a:avLst>
          </a:prstGeom>
          <a:solidFill>
            <a:srgbClr val="F4F7F9"/>
          </a:solidFill>
          <a:ln w="12700">
            <a:solidFill>
              <a:srgbClr val="E2E8EE"/>
            </a:solidFill>
            <a:prstDash val="solid"/>
          </a:ln>
        </p:spPr>
      </p:sp>
      <p:sp>
        <p:nvSpPr>
          <p:cNvPr id="16" name="Text 14"/>
          <p:cNvSpPr txBox="1"/>
          <p:nvPr/>
        </p:nvSpPr>
        <p:spPr>
          <a:xfrm>
            <a:off x="914400" y="3685032"/>
            <a:ext cx="5577840" cy="329184"/>
          </a:xfrm>
          <a:prstGeom prst="rect">
            <a:avLst/>
          </a:prstGeom>
          <a:noFill/>
          <a:ln/>
        </p:spPr>
        <p:txBody>
          <a:bodyPr wrap="square" lIns="0" tIns="0" rIns="0" bIns="0" rtlCol="0" anchor="ctr"/>
          <a:lstStyle/>
          <a:p>
            <a:pPr indent="0" marL="0">
              <a:buNone/>
            </a:pPr>
            <a:r>
              <a:rPr lang="en-US" sz="1300" dirty="0">
                <a:solidFill>
                  <a:srgbClr val="10212F"/>
                </a:solidFill>
                <a:latin typeface="Calibri" pitchFamily="34" charset="0"/>
                <a:ea typeface="Calibri" pitchFamily="34" charset="-122"/>
                <a:cs typeface="Calibri" pitchFamily="34" charset="-120"/>
              </a:rPr>
              <a:t>Security identifiers invented from memory</a:t>
            </a:r>
            <a:endParaRPr lang="en-US" sz="1300" dirty="0"/>
          </a:p>
        </p:txBody>
      </p:sp>
      <p:sp>
        <p:nvSpPr>
          <p:cNvPr id="17" name="Text 15"/>
          <p:cNvSpPr txBox="1"/>
          <p:nvPr/>
        </p:nvSpPr>
        <p:spPr>
          <a:xfrm>
            <a:off x="6675120" y="3648456"/>
            <a:ext cx="2194560" cy="384048"/>
          </a:xfrm>
          <a:prstGeom prst="rect">
            <a:avLst/>
          </a:prstGeom>
          <a:noFill/>
          <a:ln/>
        </p:spPr>
        <p:txBody>
          <a:bodyPr wrap="square" lIns="0" tIns="0" rIns="0" bIns="0" rtlCol="0" anchor="ctr"/>
          <a:lstStyle/>
          <a:p>
            <a:pPr algn="ctr" indent="0" marL="0">
              <a:buNone/>
            </a:pPr>
            <a:r>
              <a:rPr lang="en-US" sz="1700" b="1" dirty="0">
                <a:solidFill>
                  <a:srgbClr val="30A46C"/>
                </a:solidFill>
                <a:latin typeface="Calibri" pitchFamily="34" charset="0"/>
                <a:ea typeface="Calibri" pitchFamily="34" charset="-122"/>
                <a:cs typeface="Calibri" pitchFamily="34" charset="-120"/>
              </a:rPr>
              <a:t>0</a:t>
            </a:r>
            <a:endParaRPr lang="en-US" sz="1700" dirty="0"/>
          </a:p>
        </p:txBody>
      </p:sp>
      <p:sp>
        <p:nvSpPr>
          <p:cNvPr id="18" name="Text 16"/>
          <p:cNvSpPr txBox="1"/>
          <p:nvPr/>
        </p:nvSpPr>
        <p:spPr>
          <a:xfrm>
            <a:off x="9052560" y="3648456"/>
            <a:ext cx="2468880" cy="384048"/>
          </a:xfrm>
          <a:prstGeom prst="rect">
            <a:avLst/>
          </a:prstGeom>
          <a:noFill/>
          <a:ln/>
        </p:spPr>
        <p:txBody>
          <a:bodyPr wrap="square" lIns="0" tIns="0" rIns="0" bIns="0" rtlCol="0" anchor="ctr"/>
          <a:lstStyle/>
          <a:p>
            <a:pPr algn="ctr" indent="0" marL="0">
              <a:buNone/>
            </a:pPr>
            <a:r>
              <a:rPr lang="en-US" sz="1700" b="1" dirty="0">
                <a:solidFill>
                  <a:srgbClr val="E5484D"/>
                </a:solidFill>
                <a:latin typeface="Calibri" pitchFamily="34" charset="0"/>
                <a:ea typeface="Calibri" pitchFamily="34" charset="-122"/>
                <a:cs typeface="Calibri" pitchFamily="34" charset="-120"/>
              </a:rPr>
              <a:t>6</a:t>
            </a:r>
            <a:endParaRPr lang="en-US" sz="1700" dirty="0"/>
          </a:p>
        </p:txBody>
      </p:sp>
      <p:sp>
        <p:nvSpPr>
          <p:cNvPr id="19" name="Shape 17"/>
          <p:cNvSpPr/>
          <p:nvPr/>
        </p:nvSpPr>
        <p:spPr>
          <a:xfrm>
            <a:off x="640080" y="4315968"/>
            <a:ext cx="10881360" cy="1600200"/>
          </a:xfrm>
          <a:prstGeom prst="roundRect">
            <a:avLst>
              <a:gd name="adj" fmla="val 5714"/>
            </a:avLst>
          </a:prstGeom>
          <a:solidFill>
            <a:srgbClr val="FDECEC"/>
          </a:solidFill>
          <a:ln w="12700">
            <a:solidFill>
              <a:srgbClr val="F7C9C9"/>
            </a:solidFill>
            <a:prstDash val="solid"/>
          </a:ln>
        </p:spPr>
      </p:sp>
      <p:sp>
        <p:nvSpPr>
          <p:cNvPr id="20" name="Text 18"/>
          <p:cNvSpPr txBox="1"/>
          <p:nvPr/>
        </p:nvSpPr>
        <p:spPr>
          <a:xfrm>
            <a:off x="914400" y="4480560"/>
            <a:ext cx="10332720" cy="320040"/>
          </a:xfrm>
          <a:prstGeom prst="rect">
            <a:avLst/>
          </a:prstGeom>
          <a:noFill/>
          <a:ln/>
        </p:spPr>
        <p:txBody>
          <a:bodyPr wrap="square" lIns="0" tIns="0" rIns="0" bIns="0" rtlCol="0" anchor="ctr"/>
          <a:lstStyle/>
          <a:p>
            <a:pPr indent="0" marL="0">
              <a:buNone/>
            </a:pPr>
            <a:r>
              <a:rPr lang="en-US" sz="1400" b="1" dirty="0">
                <a:solidFill>
                  <a:srgbClr val="8A2A2A"/>
                </a:solidFill>
                <a:latin typeface="Calibri" pitchFamily="34" charset="0"/>
                <a:ea typeface="Calibri" pitchFamily="34" charset="-122"/>
                <a:cs typeface="Calibri" pitchFamily="34" charset="-120"/>
              </a:rPr>
              <a:t>The pass rate is not the story. Fabrication is.</a:t>
            </a:r>
            <a:endParaRPr lang="en-US" sz="1400" dirty="0"/>
          </a:p>
        </p:txBody>
      </p:sp>
      <p:sp>
        <p:nvSpPr>
          <p:cNvPr id="21" name="Text 19"/>
          <p:cNvSpPr txBox="1"/>
          <p:nvPr/>
        </p:nvSpPr>
        <p:spPr>
          <a:xfrm>
            <a:off x="914400" y="4818888"/>
            <a:ext cx="10332720" cy="777240"/>
          </a:xfrm>
          <a:prstGeom prst="rect">
            <a:avLst/>
          </a:prstGeom>
          <a:noFill/>
          <a:ln/>
        </p:spPr>
        <p:txBody>
          <a:bodyPr wrap="square" lIns="0" tIns="0" rIns="0" bIns="0" rtlCol="0" anchor="ctr"/>
          <a:lstStyle/>
          <a:p>
            <a:pPr indent="0" marL="0">
              <a:lnSpc>
                <a:spcPts val="1800"/>
              </a:lnSpc>
              <a:buNone/>
            </a:pPr>
            <a:r>
              <a:rPr lang="en-US" sz="1250" dirty="0">
                <a:solidFill>
                  <a:srgbClr val="10212F"/>
                </a:solidFill>
                <a:latin typeface="Calibri" pitchFamily="34" charset="0"/>
                <a:ea typeface="Calibri" pitchFamily="34" charset="-122"/>
                <a:cs typeface="Calibri" pitchFamily="34" charset="-120"/>
              </a:rPr>
              <a:t>The scanner file contains no NIST control IDs and no MITRE technique IDs — those come from CISA's baselines, which we integrate. Asked anyway, the ungrounded model did not decline. It asserted six identifiers from memory, and named T1110.003 “Credential Stuffing” when MITRE and CISA both say “Password Spraying”.</a:t>
            </a:r>
            <a:endParaRPr lang="en-US" sz="1250" dirty="0"/>
          </a:p>
        </p:txBody>
      </p:sp>
      <p:sp>
        <p:nvSpPr>
          <p:cNvPr id="22" name="Text 20"/>
          <p:cNvSpPr txBox="1"/>
          <p:nvPr/>
        </p:nvSpPr>
        <p:spPr>
          <a:xfrm>
            <a:off x="914400" y="5577840"/>
            <a:ext cx="10332720" cy="274320"/>
          </a:xfrm>
          <a:prstGeom prst="rect">
            <a:avLst/>
          </a:prstGeom>
          <a:noFill/>
          <a:ln/>
        </p:spPr>
        <p:txBody>
          <a:bodyPr wrap="square" lIns="0" tIns="0" rIns="0" bIns="0" rtlCol="0" anchor="ctr"/>
          <a:lstStyle/>
          <a:p>
            <a:pPr indent="0" marL="0">
              <a:buNone/>
            </a:pPr>
            <a:r>
              <a:rPr lang="en-US" sz="1250" b="1" i="1" dirty="0">
                <a:solidFill>
                  <a:srgbClr val="8A2A2A"/>
                </a:solidFill>
                <a:latin typeface="Calibri" pitchFamily="34" charset="0"/>
                <a:ea typeface="Calibri" pitchFamily="34" charset="-122"/>
                <a:cs typeface="Calibri" pitchFamily="34" charset="-120"/>
              </a:rPr>
              <a:t>Fluent, confident, and wrong in a way an analyst would have acted on.</a:t>
            </a:r>
            <a:endParaRPr lang="en-US" sz="1250" dirty="0"/>
          </a:p>
        </p:txBody>
      </p:sp>
      <p:sp>
        <p:nvSpPr>
          <p:cNvPr id="23" name="Text 21"/>
          <p:cNvSpPr txBox="1"/>
          <p:nvPr/>
        </p:nvSpPr>
        <p:spPr>
          <a:xfrm>
            <a:off x="640080" y="6099048"/>
            <a:ext cx="10881360" cy="365760"/>
          </a:xfrm>
          <a:prstGeom prst="rect">
            <a:avLst/>
          </a:prstGeom>
          <a:noFill/>
          <a:ln/>
        </p:spPr>
        <p:txBody>
          <a:bodyPr wrap="square" lIns="0" tIns="0" rIns="0" bIns="0" rtlCol="0" anchor="ctr"/>
          <a:lstStyle/>
          <a:p>
            <a:pPr indent="0" marL="0">
              <a:buNone/>
            </a:pPr>
            <a:r>
              <a:rPr lang="en-US" sz="1350" b="1" dirty="0">
                <a:solidFill>
                  <a:srgbClr val="14304F"/>
                </a:solidFill>
                <a:latin typeface="Calibri" pitchFamily="34" charset="0"/>
                <a:ea typeface="Calibri" pitchFamily="34" charset="-122"/>
                <a:cs typeface="Calibri" pitchFamily="34" charset="-120"/>
              </a:rPr>
              <a:t>Our agents asserted zero facts they were not given — enforced by a test that fails the build if it ever changes.</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182880"/>
            <a:ext cx="1088136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ECONOMIC VALUE &amp; SOCIETAL IMPACT</a:t>
            </a:r>
            <a:endParaRPr lang="en-US" sz="1200" dirty="0"/>
          </a:p>
        </p:txBody>
      </p:sp>
      <p:sp>
        <p:nvSpPr>
          <p:cNvPr id="3" name="Text 1"/>
          <p:cNvSpPr txBox="1"/>
          <p:nvPr/>
        </p:nvSpPr>
        <p:spPr>
          <a:xfrm>
            <a:off x="640080" y="411480"/>
            <a:ext cx="10881360" cy="822960"/>
          </a:xfrm>
          <a:prstGeom prst="rect">
            <a:avLst/>
          </a:prstGeom>
          <a:noFill/>
          <a:ln/>
        </p:spPr>
        <p:txBody>
          <a:bodyPr wrap="square" lIns="0" tIns="0" rIns="0" bIns="0" rtlCol="0" anchor="ctr"/>
          <a:lstStyle/>
          <a:p>
            <a:pPr algn="l" indent="0" marL="0">
              <a:buNone/>
            </a:pPr>
            <a:r>
              <a:rPr lang="en-US" sz="3400" b="1" dirty="0">
                <a:solidFill>
                  <a:srgbClr val="10212F"/>
                </a:solidFill>
                <a:latin typeface="Cambria" pitchFamily="34" charset="0"/>
                <a:ea typeface="Cambria" pitchFamily="34" charset="-122"/>
                <a:cs typeface="Cambria" pitchFamily="34" charset="-120"/>
              </a:rPr>
              <a:t>Measured, not asserted</a:t>
            </a:r>
            <a:endParaRPr lang="en-US" sz="3400" dirty="0"/>
          </a:p>
        </p:txBody>
      </p:sp>
      <p:sp>
        <p:nvSpPr>
          <p:cNvPr id="4" name="Text 2"/>
          <p:cNvSpPr txBox="1"/>
          <p:nvPr/>
        </p:nvSpPr>
        <p:spPr>
          <a:xfrm>
            <a:off x="640080" y="1298448"/>
            <a:ext cx="10881360" cy="548640"/>
          </a:xfrm>
          <a:prstGeom prst="rect">
            <a:avLst/>
          </a:prstGeom>
          <a:noFill/>
          <a:ln/>
        </p:spPr>
        <p:txBody>
          <a:bodyPr wrap="square" lIns="0" tIns="0" rIns="0" bIns="0" rtlCol="0" anchor="ctr"/>
          <a:lstStyle/>
          <a:p>
            <a:pPr indent="0" marL="0">
              <a:lnSpc>
                <a:spcPts val="2000"/>
              </a:lnSpc>
              <a:buNone/>
            </a:pPr>
            <a:r>
              <a:rPr lang="en-US" sz="1400" dirty="0">
                <a:solidFill>
                  <a:srgbClr val="10212F"/>
                </a:solidFill>
                <a:latin typeface="Calibri" pitchFamily="34" charset="0"/>
                <a:ea typeface="Calibri" pitchFamily="34" charset="-122"/>
                <a:cs typeface="Calibri" pitchFamily="34" charset="-120"/>
              </a:rPr>
              <a:t>We refuse to publish a single headline number — that would imply precision we do not have. We separate what we measured from what we assumed, and expose every assumption.</a:t>
            </a:r>
            <a:endParaRPr lang="en-US" sz="1400" dirty="0"/>
          </a:p>
        </p:txBody>
      </p:sp>
      <p:sp>
        <p:nvSpPr>
          <p:cNvPr id="5" name="Shape 3"/>
          <p:cNvSpPr/>
          <p:nvPr/>
        </p:nvSpPr>
        <p:spPr>
          <a:xfrm>
            <a:off x="640080" y="1920240"/>
            <a:ext cx="5303520" cy="1828800"/>
          </a:xfrm>
          <a:prstGeom prst="roundRect">
            <a:avLst>
              <a:gd name="adj" fmla="val 5000"/>
            </a:avLst>
          </a:prstGeom>
          <a:solidFill>
            <a:srgbClr val="E8F6EF"/>
          </a:solidFill>
          <a:ln w="12700">
            <a:solidFill>
              <a:srgbClr val="C3E9D7"/>
            </a:solidFill>
            <a:prstDash val="solid"/>
          </a:ln>
        </p:spPr>
      </p:sp>
      <p:sp>
        <p:nvSpPr>
          <p:cNvPr id="6" name="Text 4"/>
          <p:cNvSpPr txBox="1"/>
          <p:nvPr/>
        </p:nvSpPr>
        <p:spPr>
          <a:xfrm>
            <a:off x="868680" y="2066544"/>
            <a:ext cx="4846320" cy="274320"/>
          </a:xfrm>
          <a:prstGeom prst="rect">
            <a:avLst/>
          </a:prstGeom>
          <a:noFill/>
          <a:ln/>
        </p:spPr>
        <p:txBody>
          <a:bodyPr wrap="square" lIns="0" tIns="0" rIns="0" bIns="0" rtlCol="0" anchor="ctr"/>
          <a:lstStyle/>
          <a:p>
            <a:pPr indent="0" marL="0">
              <a:buNone/>
            </a:pPr>
            <a:r>
              <a:rPr lang="en-US" sz="1100" b="1" spc="100" kern="0" dirty="0">
                <a:solidFill>
                  <a:srgbClr val="30A46C"/>
                </a:solidFill>
                <a:latin typeface="Calibri" pitchFamily="34" charset="0"/>
                <a:ea typeface="Calibri" pitchFamily="34" charset="-122"/>
                <a:cs typeface="Calibri" pitchFamily="34" charset="-120"/>
              </a:rPr>
              <a:t>MEASURED — counted from the artifacts</a:t>
            </a:r>
            <a:endParaRPr lang="en-US" sz="1100" dirty="0"/>
          </a:p>
        </p:txBody>
      </p:sp>
      <p:sp>
        <p:nvSpPr>
          <p:cNvPr id="7" name="Text 5"/>
          <p:cNvSpPr txBox="1"/>
          <p:nvPr/>
        </p:nvSpPr>
        <p:spPr>
          <a:xfrm>
            <a:off x="868680" y="2377440"/>
            <a:ext cx="640080" cy="274320"/>
          </a:xfrm>
          <a:prstGeom prst="rect">
            <a:avLst/>
          </a:prstGeom>
          <a:noFill/>
          <a:ln/>
        </p:spPr>
        <p:txBody>
          <a:bodyPr wrap="square" lIns="0" tIns="0" rIns="0" bIns="0" rtlCol="0" anchor="ctr"/>
          <a:lstStyle/>
          <a:p>
            <a:pPr indent="0" marL="0">
              <a:buNone/>
            </a:pPr>
            <a:r>
              <a:rPr lang="en-US" sz="1400" b="1" dirty="0">
                <a:solidFill>
                  <a:srgbClr val="10212F"/>
                </a:solidFill>
                <a:latin typeface="Calibri" pitchFamily="34" charset="0"/>
                <a:ea typeface="Calibri" pitchFamily="34" charset="-122"/>
                <a:cs typeface="Calibri" pitchFamily="34" charset="-120"/>
              </a:rPr>
              <a:t>26</a:t>
            </a:r>
            <a:endParaRPr lang="en-US" sz="1400" dirty="0"/>
          </a:p>
        </p:txBody>
      </p:sp>
      <p:sp>
        <p:nvSpPr>
          <p:cNvPr id="8" name="Text 6"/>
          <p:cNvSpPr txBox="1"/>
          <p:nvPr/>
        </p:nvSpPr>
        <p:spPr>
          <a:xfrm>
            <a:off x="1554480" y="2395728"/>
            <a:ext cx="4206240" cy="274320"/>
          </a:xfrm>
          <a:prstGeom prst="rect">
            <a:avLst/>
          </a:prstGeom>
          <a:noFill/>
          <a:ln/>
        </p:spPr>
        <p:txBody>
          <a:bodyPr wrap="square" lIns="0" tIns="0" rIns="0" bIns="0" rtlCol="0" anchor="ctr"/>
          <a:lstStyle/>
          <a:p>
            <a:pPr indent="0" marL="0">
              <a:buNone/>
            </a:pPr>
            <a:r>
              <a:rPr lang="en-US" sz="1150" dirty="0">
                <a:solidFill>
                  <a:srgbClr val="5A6B7B"/>
                </a:solidFill>
                <a:latin typeface="Calibri" pitchFamily="34" charset="0"/>
                <a:ea typeface="Calibri" pitchFamily="34" charset="-122"/>
                <a:cs typeface="Calibri" pitchFamily="34" charset="-120"/>
              </a:rPr>
              <a:t>POA&amp;M items with severity + deadline</a:t>
            </a:r>
            <a:endParaRPr lang="en-US" sz="1150" dirty="0"/>
          </a:p>
        </p:txBody>
      </p:sp>
      <p:sp>
        <p:nvSpPr>
          <p:cNvPr id="9" name="Text 7"/>
          <p:cNvSpPr txBox="1"/>
          <p:nvPr/>
        </p:nvSpPr>
        <p:spPr>
          <a:xfrm>
            <a:off x="868680" y="2697480"/>
            <a:ext cx="640080" cy="274320"/>
          </a:xfrm>
          <a:prstGeom prst="rect">
            <a:avLst/>
          </a:prstGeom>
          <a:noFill/>
          <a:ln/>
        </p:spPr>
        <p:txBody>
          <a:bodyPr wrap="square" lIns="0" tIns="0" rIns="0" bIns="0" rtlCol="0" anchor="ctr"/>
          <a:lstStyle/>
          <a:p>
            <a:pPr indent="0" marL="0">
              <a:buNone/>
            </a:pPr>
            <a:r>
              <a:rPr lang="en-US" sz="1400" b="1" dirty="0">
                <a:solidFill>
                  <a:srgbClr val="10212F"/>
                </a:solidFill>
                <a:latin typeface="Calibri" pitchFamily="34" charset="0"/>
                <a:ea typeface="Calibri" pitchFamily="34" charset="-122"/>
                <a:cs typeface="Calibri" pitchFamily="34" charset="-120"/>
              </a:rPr>
              <a:t>91</a:t>
            </a:r>
            <a:endParaRPr lang="en-US" sz="1400" dirty="0"/>
          </a:p>
        </p:txBody>
      </p:sp>
      <p:sp>
        <p:nvSpPr>
          <p:cNvPr id="10" name="Text 8"/>
          <p:cNvSpPr txBox="1"/>
          <p:nvPr/>
        </p:nvSpPr>
        <p:spPr>
          <a:xfrm>
            <a:off x="1554480" y="2715768"/>
            <a:ext cx="4206240" cy="274320"/>
          </a:xfrm>
          <a:prstGeom prst="rect">
            <a:avLst/>
          </a:prstGeom>
          <a:noFill/>
          <a:ln/>
        </p:spPr>
        <p:txBody>
          <a:bodyPr wrap="square" lIns="0" tIns="0" rIns="0" bIns="0" rtlCol="0" anchor="ctr"/>
          <a:lstStyle/>
          <a:p>
            <a:pPr indent="0" marL="0">
              <a:buNone/>
            </a:pPr>
            <a:r>
              <a:rPr lang="en-US" sz="1150" dirty="0">
                <a:solidFill>
                  <a:srgbClr val="5A6B7B"/>
                </a:solidFill>
                <a:latin typeface="Calibri" pitchFamily="34" charset="0"/>
                <a:ea typeface="Calibri" pitchFamily="34" charset="-122"/>
                <a:cs typeface="Calibri" pitchFamily="34" charset="-120"/>
              </a:rPr>
              <a:t>SSP implemented-requirements</a:t>
            </a:r>
            <a:endParaRPr lang="en-US" sz="1150" dirty="0"/>
          </a:p>
        </p:txBody>
      </p:sp>
      <p:sp>
        <p:nvSpPr>
          <p:cNvPr id="11" name="Text 9"/>
          <p:cNvSpPr txBox="1"/>
          <p:nvPr/>
        </p:nvSpPr>
        <p:spPr>
          <a:xfrm>
            <a:off x="868680" y="3017520"/>
            <a:ext cx="640080" cy="274320"/>
          </a:xfrm>
          <a:prstGeom prst="rect">
            <a:avLst/>
          </a:prstGeom>
          <a:noFill/>
          <a:ln/>
        </p:spPr>
        <p:txBody>
          <a:bodyPr wrap="square" lIns="0" tIns="0" rIns="0" bIns="0" rtlCol="0" anchor="ctr"/>
          <a:lstStyle/>
          <a:p>
            <a:pPr indent="0" marL="0">
              <a:buNone/>
            </a:pPr>
            <a:r>
              <a:rPr lang="en-US" sz="1400" b="1" dirty="0">
                <a:solidFill>
                  <a:srgbClr val="10212F"/>
                </a:solidFill>
                <a:latin typeface="Calibri" pitchFamily="34" charset="0"/>
                <a:ea typeface="Calibri" pitchFamily="34" charset="-122"/>
                <a:cs typeface="Calibri" pitchFamily="34" charset="-120"/>
              </a:rPr>
              <a:t>89</a:t>
            </a:r>
            <a:endParaRPr lang="en-US" sz="1400" dirty="0"/>
          </a:p>
        </p:txBody>
      </p:sp>
      <p:sp>
        <p:nvSpPr>
          <p:cNvPr id="12" name="Text 10"/>
          <p:cNvSpPr txBox="1"/>
          <p:nvPr/>
        </p:nvSpPr>
        <p:spPr>
          <a:xfrm>
            <a:off x="1554480" y="3035808"/>
            <a:ext cx="4206240" cy="274320"/>
          </a:xfrm>
          <a:prstGeom prst="rect">
            <a:avLst/>
          </a:prstGeom>
          <a:noFill/>
          <a:ln/>
        </p:spPr>
        <p:txBody>
          <a:bodyPr wrap="square" lIns="0" tIns="0" rIns="0" bIns="0" rtlCol="0" anchor="ctr"/>
          <a:lstStyle/>
          <a:p>
            <a:pPr indent="0" marL="0">
              <a:buNone/>
            </a:pPr>
            <a:r>
              <a:rPr lang="en-US" sz="1150" dirty="0">
                <a:solidFill>
                  <a:srgbClr val="5A6B7B"/>
                </a:solidFill>
                <a:latin typeface="Calibri" pitchFamily="34" charset="0"/>
                <a:ea typeface="Calibri" pitchFamily="34" charset="-122"/>
                <a:cs typeface="Calibri" pitchFamily="34" charset="-120"/>
              </a:rPr>
              <a:t>NIST 800-53 mappings resolved</a:t>
            </a:r>
            <a:endParaRPr lang="en-US" sz="1150" dirty="0"/>
          </a:p>
        </p:txBody>
      </p:sp>
      <p:sp>
        <p:nvSpPr>
          <p:cNvPr id="13" name="Text 11"/>
          <p:cNvSpPr txBox="1"/>
          <p:nvPr/>
        </p:nvSpPr>
        <p:spPr>
          <a:xfrm>
            <a:off x="868680" y="3337560"/>
            <a:ext cx="640080" cy="274320"/>
          </a:xfrm>
          <a:prstGeom prst="rect">
            <a:avLst/>
          </a:prstGeom>
          <a:noFill/>
          <a:ln/>
        </p:spPr>
        <p:txBody>
          <a:bodyPr wrap="square" lIns="0" tIns="0" rIns="0" bIns="0" rtlCol="0" anchor="ctr"/>
          <a:lstStyle/>
          <a:p>
            <a:pPr indent="0" marL="0">
              <a:buNone/>
            </a:pPr>
            <a:r>
              <a:rPr lang="en-US" sz="1400" b="1" dirty="0">
                <a:solidFill>
                  <a:srgbClr val="10212F"/>
                </a:solidFill>
                <a:latin typeface="Calibri" pitchFamily="34" charset="0"/>
                <a:ea typeface="Calibri" pitchFamily="34" charset="-122"/>
                <a:cs typeface="Calibri" pitchFamily="34" charset="-120"/>
              </a:rPr>
              <a:t>26</a:t>
            </a:r>
            <a:endParaRPr lang="en-US" sz="1400" dirty="0"/>
          </a:p>
        </p:txBody>
      </p:sp>
      <p:sp>
        <p:nvSpPr>
          <p:cNvPr id="14" name="Text 12"/>
          <p:cNvSpPr txBox="1"/>
          <p:nvPr/>
        </p:nvSpPr>
        <p:spPr>
          <a:xfrm>
            <a:off x="1554480" y="3355848"/>
            <a:ext cx="4206240" cy="274320"/>
          </a:xfrm>
          <a:prstGeom prst="rect">
            <a:avLst/>
          </a:prstGeom>
          <a:noFill/>
          <a:ln/>
        </p:spPr>
        <p:txBody>
          <a:bodyPr wrap="square" lIns="0" tIns="0" rIns="0" bIns="0" rtlCol="0" anchor="ctr"/>
          <a:lstStyle/>
          <a:p>
            <a:pPr indent="0" marL="0">
              <a:buNone/>
            </a:pPr>
            <a:r>
              <a:rPr lang="en-US" sz="1150" dirty="0">
                <a:solidFill>
                  <a:srgbClr val="5A6B7B"/>
                </a:solidFill>
                <a:latin typeface="Calibri" pitchFamily="34" charset="0"/>
                <a:ea typeface="Calibri" pitchFamily="34" charset="-122"/>
                <a:cs typeface="Calibri" pitchFamily="34" charset="-120"/>
              </a:rPr>
              <a:t>phantom drift findings avoided</a:t>
            </a:r>
            <a:endParaRPr lang="en-US" sz="1150" dirty="0"/>
          </a:p>
        </p:txBody>
      </p:sp>
      <p:sp>
        <p:nvSpPr>
          <p:cNvPr id="15" name="Shape 13"/>
          <p:cNvSpPr/>
          <p:nvPr/>
        </p:nvSpPr>
        <p:spPr>
          <a:xfrm>
            <a:off x="6217920" y="1920240"/>
            <a:ext cx="5303520" cy="1828800"/>
          </a:xfrm>
          <a:prstGeom prst="roundRect">
            <a:avLst>
              <a:gd name="adj" fmla="val 5000"/>
            </a:avLst>
          </a:prstGeom>
          <a:solidFill>
            <a:srgbClr val="FFF6E0"/>
          </a:solidFill>
          <a:ln w="12700">
            <a:solidFill>
              <a:srgbClr val="FFE2A8"/>
            </a:solidFill>
            <a:prstDash val="solid"/>
          </a:ln>
        </p:spPr>
      </p:sp>
      <p:sp>
        <p:nvSpPr>
          <p:cNvPr id="16" name="Text 14"/>
          <p:cNvSpPr txBox="1"/>
          <p:nvPr/>
        </p:nvSpPr>
        <p:spPr>
          <a:xfrm>
            <a:off x="6446520" y="2066544"/>
            <a:ext cx="4846320" cy="274320"/>
          </a:xfrm>
          <a:prstGeom prst="rect">
            <a:avLst/>
          </a:prstGeom>
          <a:noFill/>
          <a:ln/>
        </p:spPr>
        <p:txBody>
          <a:bodyPr wrap="square" lIns="0" tIns="0" rIns="0" bIns="0" rtlCol="0" anchor="ctr"/>
          <a:lstStyle/>
          <a:p>
            <a:pPr indent="0" marL="0">
              <a:buNone/>
            </a:pPr>
            <a:r>
              <a:rPr lang="en-US" sz="1100" b="1" spc="100" kern="0" dirty="0">
                <a:solidFill>
                  <a:srgbClr val="8A5A00"/>
                </a:solidFill>
                <a:latin typeface="Calibri" pitchFamily="34" charset="0"/>
                <a:ea typeface="Calibri" pitchFamily="34" charset="-122"/>
                <a:cs typeface="Calibri" pitchFamily="34" charset="-120"/>
              </a:rPr>
              <a:t>ASSUMED — adjustable by the reader</a:t>
            </a:r>
            <a:endParaRPr lang="en-US" sz="1100" dirty="0"/>
          </a:p>
        </p:txBody>
      </p:sp>
      <p:sp>
        <p:nvSpPr>
          <p:cNvPr id="17" name="Text 15"/>
          <p:cNvSpPr txBox="1"/>
          <p:nvPr/>
        </p:nvSpPr>
        <p:spPr>
          <a:xfrm>
            <a:off x="6446520" y="2377440"/>
            <a:ext cx="1188720" cy="274320"/>
          </a:xfrm>
          <a:prstGeom prst="rect">
            <a:avLst/>
          </a:prstGeom>
          <a:noFill/>
          <a:ln/>
        </p:spPr>
        <p:txBody>
          <a:bodyPr wrap="square" lIns="0" tIns="0" rIns="0" bIns="0" rtlCol="0" anchor="ctr"/>
          <a:lstStyle/>
          <a:p>
            <a:pPr indent="0" marL="0">
              <a:buNone/>
            </a:pPr>
            <a:r>
              <a:rPr lang="en-US" sz="1250" b="1" dirty="0">
                <a:solidFill>
                  <a:srgbClr val="10212F"/>
                </a:solidFill>
                <a:latin typeface="Calibri" pitchFamily="34" charset="0"/>
                <a:ea typeface="Calibri" pitchFamily="34" charset="-122"/>
                <a:cs typeface="Calibri" pitchFamily="34" charset="-120"/>
              </a:rPr>
              <a:t>20 min</a:t>
            </a:r>
            <a:endParaRPr lang="en-US" sz="1250" dirty="0"/>
          </a:p>
        </p:txBody>
      </p:sp>
      <p:sp>
        <p:nvSpPr>
          <p:cNvPr id="18" name="Text 16"/>
          <p:cNvSpPr txBox="1"/>
          <p:nvPr/>
        </p:nvSpPr>
        <p:spPr>
          <a:xfrm>
            <a:off x="7726680" y="2395728"/>
            <a:ext cx="3657600" cy="274320"/>
          </a:xfrm>
          <a:prstGeom prst="rect">
            <a:avLst/>
          </a:prstGeom>
          <a:noFill/>
          <a:ln/>
        </p:spPr>
        <p:txBody>
          <a:bodyPr wrap="square" lIns="0" tIns="0" rIns="0" bIns="0" rtlCol="0" anchor="ctr"/>
          <a:lstStyle/>
          <a:p>
            <a:pPr indent="0" marL="0">
              <a:buNone/>
            </a:pPr>
            <a:r>
              <a:rPr lang="en-US" sz="1150" dirty="0">
                <a:solidFill>
                  <a:srgbClr val="5A6B7B"/>
                </a:solidFill>
                <a:latin typeface="Calibri" pitchFamily="34" charset="0"/>
                <a:ea typeface="Calibri" pitchFamily="34" charset="-122"/>
                <a:cs typeface="Calibri" pitchFamily="34" charset="-120"/>
              </a:rPr>
              <a:t>to hand-author one POA&amp;M item</a:t>
            </a:r>
            <a:endParaRPr lang="en-US" sz="1150" dirty="0"/>
          </a:p>
        </p:txBody>
      </p:sp>
      <p:sp>
        <p:nvSpPr>
          <p:cNvPr id="19" name="Text 17"/>
          <p:cNvSpPr txBox="1"/>
          <p:nvPr/>
        </p:nvSpPr>
        <p:spPr>
          <a:xfrm>
            <a:off x="6446520" y="2697480"/>
            <a:ext cx="1188720" cy="274320"/>
          </a:xfrm>
          <a:prstGeom prst="rect">
            <a:avLst/>
          </a:prstGeom>
          <a:noFill/>
          <a:ln/>
        </p:spPr>
        <p:txBody>
          <a:bodyPr wrap="square" lIns="0" tIns="0" rIns="0" bIns="0" rtlCol="0" anchor="ctr"/>
          <a:lstStyle/>
          <a:p>
            <a:pPr indent="0" marL="0">
              <a:buNone/>
            </a:pPr>
            <a:r>
              <a:rPr lang="en-US" sz="1250" b="1" dirty="0">
                <a:solidFill>
                  <a:srgbClr val="10212F"/>
                </a:solidFill>
                <a:latin typeface="Calibri" pitchFamily="34" charset="0"/>
                <a:ea typeface="Calibri" pitchFamily="34" charset="-122"/>
                <a:cs typeface="Calibri" pitchFamily="34" charset="-120"/>
              </a:rPr>
              <a:t>10 min</a:t>
            </a:r>
            <a:endParaRPr lang="en-US" sz="1250" dirty="0"/>
          </a:p>
        </p:txBody>
      </p:sp>
      <p:sp>
        <p:nvSpPr>
          <p:cNvPr id="20" name="Text 18"/>
          <p:cNvSpPr txBox="1"/>
          <p:nvPr/>
        </p:nvSpPr>
        <p:spPr>
          <a:xfrm>
            <a:off x="7726680" y="2715768"/>
            <a:ext cx="3657600" cy="274320"/>
          </a:xfrm>
          <a:prstGeom prst="rect">
            <a:avLst/>
          </a:prstGeom>
          <a:noFill/>
          <a:ln/>
        </p:spPr>
        <p:txBody>
          <a:bodyPr wrap="square" lIns="0" tIns="0" rIns="0" bIns="0" rtlCol="0" anchor="ctr"/>
          <a:lstStyle/>
          <a:p>
            <a:pPr indent="0" marL="0">
              <a:buNone/>
            </a:pPr>
            <a:r>
              <a:rPr lang="en-US" sz="1150" dirty="0">
                <a:solidFill>
                  <a:srgbClr val="5A6B7B"/>
                </a:solidFill>
                <a:latin typeface="Calibri" pitchFamily="34" charset="0"/>
                <a:ea typeface="Calibri" pitchFamily="34" charset="-122"/>
                <a:cs typeface="Calibri" pitchFamily="34" charset="-120"/>
              </a:rPr>
              <a:t>per SSP requirement</a:t>
            </a:r>
            <a:endParaRPr lang="en-US" sz="1150" dirty="0"/>
          </a:p>
        </p:txBody>
      </p:sp>
      <p:sp>
        <p:nvSpPr>
          <p:cNvPr id="21" name="Text 19"/>
          <p:cNvSpPr txBox="1"/>
          <p:nvPr/>
        </p:nvSpPr>
        <p:spPr>
          <a:xfrm>
            <a:off x="6446520" y="3017520"/>
            <a:ext cx="1188720" cy="274320"/>
          </a:xfrm>
          <a:prstGeom prst="rect">
            <a:avLst/>
          </a:prstGeom>
          <a:noFill/>
          <a:ln/>
        </p:spPr>
        <p:txBody>
          <a:bodyPr wrap="square" lIns="0" tIns="0" rIns="0" bIns="0" rtlCol="0" anchor="ctr"/>
          <a:lstStyle/>
          <a:p>
            <a:pPr indent="0" marL="0">
              <a:buNone/>
            </a:pPr>
            <a:r>
              <a:rPr lang="en-US" sz="1250" b="1" dirty="0">
                <a:solidFill>
                  <a:srgbClr val="10212F"/>
                </a:solidFill>
                <a:latin typeface="Calibri" pitchFamily="34" charset="0"/>
                <a:ea typeface="Calibri" pitchFamily="34" charset="-122"/>
                <a:cs typeface="Calibri" pitchFamily="34" charset="-120"/>
              </a:rPr>
              <a:t>6 min</a:t>
            </a:r>
            <a:endParaRPr lang="en-US" sz="1250" dirty="0"/>
          </a:p>
        </p:txBody>
      </p:sp>
      <p:sp>
        <p:nvSpPr>
          <p:cNvPr id="22" name="Text 20"/>
          <p:cNvSpPr txBox="1"/>
          <p:nvPr/>
        </p:nvSpPr>
        <p:spPr>
          <a:xfrm>
            <a:off x="7726680" y="3035808"/>
            <a:ext cx="3657600" cy="274320"/>
          </a:xfrm>
          <a:prstGeom prst="rect">
            <a:avLst/>
          </a:prstGeom>
          <a:noFill/>
          <a:ln/>
        </p:spPr>
        <p:txBody>
          <a:bodyPr wrap="square" lIns="0" tIns="0" rIns="0" bIns="0" rtlCol="0" anchor="ctr"/>
          <a:lstStyle/>
          <a:p>
            <a:pPr indent="0" marL="0">
              <a:buNone/>
            </a:pPr>
            <a:r>
              <a:rPr lang="en-US" sz="1150" dirty="0">
                <a:solidFill>
                  <a:srgbClr val="5A6B7B"/>
                </a:solidFill>
                <a:latin typeface="Calibri" pitchFamily="34" charset="0"/>
                <a:ea typeface="Calibri" pitchFamily="34" charset="-122"/>
                <a:cs typeface="Calibri" pitchFamily="34" charset="-120"/>
              </a:rPr>
              <a:t>per NIST mapping lookup</a:t>
            </a:r>
            <a:endParaRPr lang="en-US" sz="1150" dirty="0"/>
          </a:p>
        </p:txBody>
      </p:sp>
      <p:sp>
        <p:nvSpPr>
          <p:cNvPr id="23" name="Text 21"/>
          <p:cNvSpPr txBox="1"/>
          <p:nvPr/>
        </p:nvSpPr>
        <p:spPr>
          <a:xfrm>
            <a:off x="6446520" y="3337560"/>
            <a:ext cx="1188720" cy="274320"/>
          </a:xfrm>
          <a:prstGeom prst="rect">
            <a:avLst/>
          </a:prstGeom>
          <a:noFill/>
          <a:ln/>
        </p:spPr>
        <p:txBody>
          <a:bodyPr wrap="square" lIns="0" tIns="0" rIns="0" bIns="0" rtlCol="0" anchor="ctr"/>
          <a:lstStyle/>
          <a:p>
            <a:pPr indent="0" marL="0">
              <a:buNone/>
            </a:pPr>
            <a:r>
              <a:rPr lang="en-US" sz="1250" b="1" dirty="0">
                <a:solidFill>
                  <a:srgbClr val="10212F"/>
                </a:solidFill>
                <a:latin typeface="Calibri" pitchFamily="34" charset="0"/>
                <a:ea typeface="Calibri" pitchFamily="34" charset="-122"/>
                <a:cs typeface="Calibri" pitchFamily="34" charset="-120"/>
              </a:rPr>
              <a:t>$62.11/h</a:t>
            </a:r>
            <a:endParaRPr lang="en-US" sz="1250" dirty="0"/>
          </a:p>
        </p:txBody>
      </p:sp>
      <p:sp>
        <p:nvSpPr>
          <p:cNvPr id="24" name="Text 22"/>
          <p:cNvSpPr txBox="1"/>
          <p:nvPr/>
        </p:nvSpPr>
        <p:spPr>
          <a:xfrm>
            <a:off x="7726680" y="3355848"/>
            <a:ext cx="3657600" cy="274320"/>
          </a:xfrm>
          <a:prstGeom prst="rect">
            <a:avLst/>
          </a:prstGeom>
          <a:noFill/>
          <a:ln/>
        </p:spPr>
        <p:txBody>
          <a:bodyPr wrap="square" lIns="0" tIns="0" rIns="0" bIns="0" rtlCol="0" anchor="ctr"/>
          <a:lstStyle/>
          <a:p>
            <a:pPr indent="0" marL="0">
              <a:buNone/>
            </a:pPr>
            <a:r>
              <a:rPr lang="en-US" sz="1150" dirty="0">
                <a:solidFill>
                  <a:srgbClr val="5A6B7B"/>
                </a:solidFill>
                <a:latin typeface="Calibri" pitchFamily="34" charset="0"/>
                <a:ea typeface="Calibri" pitchFamily="34" charset="-122"/>
                <a:cs typeface="Calibri" pitchFamily="34" charset="-120"/>
              </a:rPr>
              <a:t>BLS Virginia analyst wage x1.3 loaded</a:t>
            </a:r>
            <a:endParaRPr lang="en-US" sz="1150" dirty="0"/>
          </a:p>
        </p:txBody>
      </p:sp>
      <p:sp>
        <p:nvSpPr>
          <p:cNvPr id="25" name="Shape 23"/>
          <p:cNvSpPr/>
          <p:nvPr/>
        </p:nvSpPr>
        <p:spPr>
          <a:xfrm>
            <a:off x="640080" y="3977640"/>
            <a:ext cx="3474720" cy="1508760"/>
          </a:xfrm>
          <a:prstGeom prst="roundRect">
            <a:avLst>
              <a:gd name="adj" fmla="val 6061"/>
            </a:avLst>
          </a:prstGeom>
          <a:solidFill>
            <a:srgbClr val="E8F6EF"/>
          </a:solidFill>
          <a:ln w="12700">
            <a:solidFill>
              <a:srgbClr val="E8F6EF"/>
            </a:solidFill>
            <a:prstDash val="solid"/>
          </a:ln>
        </p:spPr>
      </p:sp>
      <p:sp>
        <p:nvSpPr>
          <p:cNvPr id="26" name="Text 24"/>
          <p:cNvSpPr txBox="1"/>
          <p:nvPr/>
        </p:nvSpPr>
        <p:spPr>
          <a:xfrm>
            <a:off x="640080" y="4142232"/>
            <a:ext cx="3474720" cy="749808"/>
          </a:xfrm>
          <a:prstGeom prst="rect">
            <a:avLst/>
          </a:prstGeom>
          <a:noFill/>
          <a:ln/>
        </p:spPr>
        <p:txBody>
          <a:bodyPr wrap="square" lIns="0" tIns="0" rIns="0" bIns="0" rtlCol="0" anchor="ctr"/>
          <a:lstStyle/>
          <a:p>
            <a:pPr algn="ctr" indent="0" marL="0">
              <a:buNone/>
            </a:pPr>
            <a:r>
              <a:rPr lang="en-US" sz="4000" b="1" dirty="0">
                <a:solidFill>
                  <a:srgbClr val="30A46C"/>
                </a:solidFill>
                <a:latin typeface="Calibri" pitchFamily="34" charset="0"/>
                <a:ea typeface="Calibri" pitchFamily="34" charset="-122"/>
                <a:cs typeface="Calibri" pitchFamily="34" charset="-120"/>
              </a:rPr>
              <a:t>20–69 h</a:t>
            </a:r>
            <a:endParaRPr lang="en-US" sz="4000" dirty="0"/>
          </a:p>
        </p:txBody>
      </p:sp>
      <p:sp>
        <p:nvSpPr>
          <p:cNvPr id="27" name="Text 25"/>
          <p:cNvSpPr txBox="1"/>
          <p:nvPr/>
        </p:nvSpPr>
        <p:spPr>
          <a:xfrm>
            <a:off x="749808" y="4892040"/>
            <a:ext cx="3255264" cy="502920"/>
          </a:xfrm>
          <a:prstGeom prst="rect">
            <a:avLst/>
          </a:prstGeom>
          <a:noFill/>
          <a:ln/>
        </p:spPr>
        <p:txBody>
          <a:bodyPr wrap="square" lIns="0" tIns="0" rIns="0" bIns="0" rtlCol="0" anchor="ctr"/>
          <a:lstStyle/>
          <a:p>
            <a:pPr algn="ctr" indent="0" marL="0">
              <a:buNone/>
            </a:pPr>
            <a:r>
              <a:rPr lang="en-US" sz="1150" dirty="0">
                <a:solidFill>
                  <a:srgbClr val="5A6B7B"/>
                </a:solidFill>
                <a:latin typeface="Calibri" pitchFamily="34" charset="0"/>
                <a:ea typeface="Calibri" pitchFamily="34" charset="-122"/>
                <a:cs typeface="Calibri" pitchFamily="34" charset="-120"/>
              </a:rPr>
              <a:t>manual effort replaced</a:t>
            </a:r>
            <a:endParaRPr lang="en-US" sz="1150" dirty="0"/>
          </a:p>
          <a:p>
            <a:pPr algn="ctr" indent="0" marL="0">
              <a:buNone/>
            </a:pPr>
            <a:r>
              <a:rPr lang="en-US" sz="1150" dirty="0">
                <a:solidFill>
                  <a:srgbClr val="5A6B7B"/>
                </a:solidFill>
                <a:latin typeface="Calibri" pitchFamily="34" charset="0"/>
                <a:ea typeface="Calibri" pitchFamily="34" charset="-122"/>
                <a:cs typeface="Calibri" pitchFamily="34" charset="-120"/>
              </a:rPr>
              <a:t>per assessment cycle</a:t>
            </a:r>
            <a:endParaRPr lang="en-US" sz="1150" dirty="0"/>
          </a:p>
        </p:txBody>
      </p:sp>
      <p:sp>
        <p:nvSpPr>
          <p:cNvPr id="28" name="Shape 26"/>
          <p:cNvSpPr/>
          <p:nvPr/>
        </p:nvSpPr>
        <p:spPr>
          <a:xfrm>
            <a:off x="4343400" y="3977640"/>
            <a:ext cx="3474720" cy="1508760"/>
          </a:xfrm>
          <a:prstGeom prst="roundRect">
            <a:avLst>
              <a:gd name="adj" fmla="val 6061"/>
            </a:avLst>
          </a:prstGeom>
          <a:solidFill>
            <a:srgbClr val="E8F6EF"/>
          </a:solidFill>
          <a:ln w="12700">
            <a:solidFill>
              <a:srgbClr val="E8F6EF"/>
            </a:solidFill>
            <a:prstDash val="solid"/>
          </a:ln>
        </p:spPr>
      </p:sp>
      <p:sp>
        <p:nvSpPr>
          <p:cNvPr id="29" name="Text 27"/>
          <p:cNvSpPr txBox="1"/>
          <p:nvPr/>
        </p:nvSpPr>
        <p:spPr>
          <a:xfrm>
            <a:off x="4343400" y="4142232"/>
            <a:ext cx="3474720" cy="749808"/>
          </a:xfrm>
          <a:prstGeom prst="rect">
            <a:avLst/>
          </a:prstGeom>
          <a:noFill/>
          <a:ln/>
        </p:spPr>
        <p:txBody>
          <a:bodyPr wrap="square" lIns="0" tIns="0" rIns="0" bIns="0" rtlCol="0" anchor="ctr"/>
          <a:lstStyle/>
          <a:p>
            <a:pPr algn="ctr" indent="0" marL="0">
              <a:buNone/>
            </a:pPr>
            <a:r>
              <a:rPr lang="en-US" sz="4000" b="1" dirty="0">
                <a:solidFill>
                  <a:srgbClr val="30A46C"/>
                </a:solidFill>
                <a:latin typeface="Calibri" pitchFamily="34" charset="0"/>
                <a:ea typeface="Calibri" pitchFamily="34" charset="-122"/>
                <a:cs typeface="Calibri" pitchFamily="34" charset="-120"/>
              </a:rPr>
              <a:t>$1.6k–$5.5k</a:t>
            </a:r>
            <a:endParaRPr lang="en-US" sz="4000" dirty="0"/>
          </a:p>
        </p:txBody>
      </p:sp>
      <p:sp>
        <p:nvSpPr>
          <p:cNvPr id="30" name="Text 28"/>
          <p:cNvSpPr txBox="1"/>
          <p:nvPr/>
        </p:nvSpPr>
        <p:spPr>
          <a:xfrm>
            <a:off x="4453128" y="4892040"/>
            <a:ext cx="3255264" cy="502920"/>
          </a:xfrm>
          <a:prstGeom prst="rect">
            <a:avLst/>
          </a:prstGeom>
          <a:noFill/>
          <a:ln/>
        </p:spPr>
        <p:txBody>
          <a:bodyPr wrap="square" lIns="0" tIns="0" rIns="0" bIns="0" rtlCol="0" anchor="ctr"/>
          <a:lstStyle/>
          <a:p>
            <a:pPr algn="ctr" indent="0" marL="0">
              <a:buNone/>
            </a:pPr>
            <a:r>
              <a:rPr lang="en-US" sz="1150" dirty="0">
                <a:solidFill>
                  <a:srgbClr val="5A6B7B"/>
                </a:solidFill>
                <a:latin typeface="Calibri" pitchFamily="34" charset="0"/>
                <a:ea typeface="Calibri" pitchFamily="34" charset="-122"/>
                <a:cs typeface="Calibri" pitchFamily="34" charset="-120"/>
              </a:rPr>
              <a:t>analyst time value</a:t>
            </a:r>
            <a:endParaRPr lang="en-US" sz="1150" dirty="0"/>
          </a:p>
          <a:p>
            <a:pPr algn="ctr" indent="0" marL="0">
              <a:buNone/>
            </a:pPr>
            <a:r>
              <a:rPr lang="en-US" sz="1150" dirty="0">
                <a:solidFill>
                  <a:srgbClr val="5A6B7B"/>
                </a:solidFill>
                <a:latin typeface="Calibri" pitchFamily="34" charset="0"/>
                <a:ea typeface="Calibri" pitchFamily="34" charset="-122"/>
                <a:cs typeface="Calibri" pitchFamily="34" charset="-120"/>
              </a:rPr>
              <a:t>per assessment cycle</a:t>
            </a:r>
            <a:endParaRPr lang="en-US" sz="1150" dirty="0"/>
          </a:p>
        </p:txBody>
      </p:sp>
      <p:sp>
        <p:nvSpPr>
          <p:cNvPr id="31" name="Shape 29"/>
          <p:cNvSpPr/>
          <p:nvPr/>
        </p:nvSpPr>
        <p:spPr>
          <a:xfrm>
            <a:off x="8046720" y="3977640"/>
            <a:ext cx="3474720" cy="1508760"/>
          </a:xfrm>
          <a:prstGeom prst="roundRect">
            <a:avLst>
              <a:gd name="adj" fmla="val 6061"/>
            </a:avLst>
          </a:prstGeom>
          <a:solidFill>
            <a:srgbClr val="0A1A2F"/>
          </a:solidFill>
          <a:ln w="12700">
            <a:solidFill>
              <a:srgbClr val="0A1A2F"/>
            </a:solidFill>
            <a:prstDash val="solid"/>
          </a:ln>
        </p:spPr>
      </p:sp>
      <p:sp>
        <p:nvSpPr>
          <p:cNvPr id="32" name="Text 30"/>
          <p:cNvSpPr txBox="1"/>
          <p:nvPr/>
        </p:nvSpPr>
        <p:spPr>
          <a:xfrm>
            <a:off x="8046720" y="4142232"/>
            <a:ext cx="3474720" cy="749808"/>
          </a:xfrm>
          <a:prstGeom prst="rect">
            <a:avLst/>
          </a:prstGeom>
          <a:noFill/>
          <a:ln/>
        </p:spPr>
        <p:txBody>
          <a:bodyPr wrap="square" lIns="0" tIns="0" rIns="0" bIns="0" rtlCol="0" anchor="ctr"/>
          <a:lstStyle/>
          <a:p>
            <a:pPr algn="ctr" indent="0" marL="0">
              <a:buNone/>
            </a:pPr>
            <a:r>
              <a:rPr lang="en-US" sz="4000" b="1" dirty="0">
                <a:solidFill>
                  <a:srgbClr val="FFB700"/>
                </a:solidFill>
                <a:latin typeface="Calibri" pitchFamily="34" charset="0"/>
                <a:ea typeface="Calibri" pitchFamily="34" charset="-122"/>
                <a:cs typeface="Calibri" pitchFamily="34" charset="-120"/>
              </a:rPr>
              <a:t>$0.62</a:t>
            </a:r>
            <a:endParaRPr lang="en-US" sz="4000" dirty="0"/>
          </a:p>
        </p:txBody>
      </p:sp>
      <p:sp>
        <p:nvSpPr>
          <p:cNvPr id="33" name="Text 31"/>
          <p:cNvSpPr txBox="1"/>
          <p:nvPr/>
        </p:nvSpPr>
        <p:spPr>
          <a:xfrm>
            <a:off x="8156448" y="4892040"/>
            <a:ext cx="3255264" cy="502920"/>
          </a:xfrm>
          <a:prstGeom prst="rect">
            <a:avLst/>
          </a:prstGeom>
          <a:noFill/>
          <a:ln/>
        </p:spPr>
        <p:txBody>
          <a:bodyPr wrap="square" lIns="0" tIns="0" rIns="0" bIns="0" rtlCol="0" anchor="ctr"/>
          <a:lstStyle/>
          <a:p>
            <a:pPr algn="ctr" indent="0" marL="0">
              <a:buNone/>
            </a:pPr>
            <a:r>
              <a:rPr lang="en-US" sz="1150" dirty="0">
                <a:solidFill>
                  <a:srgbClr val="5A6B7B"/>
                </a:solidFill>
                <a:latin typeface="Calibri" pitchFamily="34" charset="0"/>
                <a:ea typeface="Calibri" pitchFamily="34" charset="-122"/>
                <a:cs typeface="Calibri" pitchFamily="34" charset="-120"/>
              </a:rPr>
              <a:t>cost to run</a:t>
            </a:r>
            <a:endParaRPr lang="en-US" sz="1150" dirty="0"/>
          </a:p>
          <a:p>
            <a:pPr algn="ctr" indent="0" marL="0">
              <a:buNone/>
            </a:pPr>
            <a:r>
              <a:rPr lang="en-US" sz="1150" dirty="0">
                <a:solidFill>
                  <a:srgbClr val="5A6B7B"/>
                </a:solidFill>
                <a:latin typeface="Calibri" pitchFamily="34" charset="0"/>
                <a:ea typeface="Calibri" pitchFamily="34" charset="-122"/>
                <a:cs typeface="Calibri" pitchFamily="34" charset="-120"/>
              </a:rPr>
              <a:t>per month, all Azure</a:t>
            </a:r>
            <a:endParaRPr lang="en-US" sz="1150" dirty="0"/>
          </a:p>
        </p:txBody>
      </p:sp>
      <p:sp>
        <p:nvSpPr>
          <p:cNvPr id="34" name="Text 32"/>
          <p:cNvSpPr txBox="1"/>
          <p:nvPr/>
        </p:nvSpPr>
        <p:spPr>
          <a:xfrm>
            <a:off x="640080" y="5715000"/>
            <a:ext cx="10881360" cy="548640"/>
          </a:xfrm>
          <a:prstGeom prst="rect">
            <a:avLst/>
          </a:prstGeom>
          <a:noFill/>
          <a:ln/>
        </p:spPr>
        <p:txBody>
          <a:bodyPr wrap="square" lIns="0" tIns="0" rIns="0" bIns="0" rtlCol="0" anchor="ctr"/>
          <a:lstStyle/>
          <a:p>
            <a:pPr indent="0" marL="0">
              <a:lnSpc>
                <a:spcPts val="2000"/>
              </a:lnSpc>
              <a:buNone/>
            </a:pPr>
            <a:r>
              <a:rPr lang="en-US" sz="1350" b="1" dirty="0">
                <a:solidFill>
                  <a:srgbClr val="14304F"/>
                </a:solidFill>
                <a:latin typeface="Calibri" pitchFamily="34" charset="0"/>
                <a:ea typeface="Calibri" pitchFamily="34" charset="-122"/>
                <a:cs typeface="Calibri" pitchFamily="34" charset="-120"/>
              </a:rPr>
              <a:t>Roughly a 5,000x return. Across Virginia's 326 public institutions on the quarterly cycle SEC530 already requires: 26,000–90,000 analyst hours a year returned to actual security work.</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182880"/>
            <a:ext cx="1088136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FEASIBILITY</a:t>
            </a:r>
            <a:endParaRPr lang="en-US" sz="1200" dirty="0"/>
          </a:p>
        </p:txBody>
      </p:sp>
      <p:sp>
        <p:nvSpPr>
          <p:cNvPr id="3" name="Text 1"/>
          <p:cNvSpPr txBox="1"/>
          <p:nvPr/>
        </p:nvSpPr>
        <p:spPr>
          <a:xfrm>
            <a:off x="640080" y="411480"/>
            <a:ext cx="10881360" cy="822960"/>
          </a:xfrm>
          <a:prstGeom prst="rect">
            <a:avLst/>
          </a:prstGeom>
          <a:noFill/>
          <a:ln/>
        </p:spPr>
        <p:txBody>
          <a:bodyPr wrap="square" lIns="0" tIns="0" rIns="0" bIns="0" rtlCol="0" anchor="ctr"/>
          <a:lstStyle/>
          <a:p>
            <a:pPr algn="l" indent="0" marL="0">
              <a:buNone/>
            </a:pPr>
            <a:r>
              <a:rPr lang="en-US" sz="3400" b="1" dirty="0">
                <a:solidFill>
                  <a:srgbClr val="10212F"/>
                </a:solidFill>
                <a:latin typeface="Cambria" pitchFamily="34" charset="0"/>
                <a:ea typeface="Cambria" pitchFamily="34" charset="-122"/>
                <a:cs typeface="Cambria" pitchFamily="34" charset="-120"/>
              </a:rPr>
              <a:t>This is running today, not a prototype sketch</a:t>
            </a:r>
            <a:endParaRPr lang="en-US" sz="3400" dirty="0"/>
          </a:p>
        </p:txBody>
      </p:sp>
      <p:sp>
        <p:nvSpPr>
          <p:cNvPr id="4" name="Shape 2"/>
          <p:cNvSpPr/>
          <p:nvPr/>
        </p:nvSpPr>
        <p:spPr>
          <a:xfrm>
            <a:off x="685800" y="1481328"/>
            <a:ext cx="384048" cy="384048"/>
          </a:xfrm>
          <a:prstGeom prst="ellipse">
            <a:avLst/>
          </a:prstGeom>
          <a:solidFill>
            <a:srgbClr val="E8F6EF"/>
          </a:solidFill>
          <a:ln w="12700">
            <a:solidFill>
              <a:srgbClr val="C3E9D7"/>
            </a:solidFill>
            <a:prstDash val="solid"/>
          </a:ln>
        </p:spPr>
      </p:sp>
      <p:sp>
        <p:nvSpPr>
          <p:cNvPr id="5" name="Text 3"/>
          <p:cNvSpPr txBox="1"/>
          <p:nvPr/>
        </p:nvSpPr>
        <p:spPr>
          <a:xfrm>
            <a:off x="685800" y="1536192"/>
            <a:ext cx="384048" cy="274320"/>
          </a:xfrm>
          <a:prstGeom prst="rect">
            <a:avLst/>
          </a:prstGeom>
          <a:noFill/>
          <a:ln/>
        </p:spPr>
        <p:txBody>
          <a:bodyPr wrap="square" lIns="0" tIns="0" rIns="0" bIns="0" rtlCol="0" anchor="ctr"/>
          <a:lstStyle/>
          <a:p>
            <a:pPr algn="ctr" indent="0" marL="0">
              <a:buNone/>
            </a:pPr>
            <a:r>
              <a:rPr lang="en-US" sz="1300" b="1" dirty="0">
                <a:solidFill>
                  <a:srgbClr val="30A46C"/>
                </a:solidFill>
                <a:latin typeface="Calibri" pitchFamily="34" charset="0"/>
                <a:ea typeface="Calibri" pitchFamily="34" charset="-122"/>
                <a:cs typeface="Calibri" pitchFamily="34" charset="-120"/>
              </a:rPr>
              <a:t>✓</a:t>
            </a:r>
            <a:endParaRPr lang="en-US" sz="1300" dirty="0"/>
          </a:p>
        </p:txBody>
      </p:sp>
      <p:sp>
        <p:nvSpPr>
          <p:cNvPr id="6" name="Text 4"/>
          <p:cNvSpPr txBox="1"/>
          <p:nvPr/>
        </p:nvSpPr>
        <p:spPr>
          <a:xfrm>
            <a:off x="1234440" y="1444752"/>
            <a:ext cx="2286000" cy="292608"/>
          </a:xfrm>
          <a:prstGeom prst="rect">
            <a:avLst/>
          </a:prstGeom>
          <a:noFill/>
          <a:ln/>
        </p:spPr>
        <p:txBody>
          <a:bodyPr wrap="square" lIns="0" tIns="0" rIns="0" bIns="0" rtlCol="0" anchor="ctr"/>
          <a:lstStyle/>
          <a:p>
            <a:pPr indent="0" marL="0">
              <a:buNone/>
            </a:pPr>
            <a:r>
              <a:rPr lang="en-US" sz="1350" b="1" dirty="0">
                <a:solidFill>
                  <a:srgbClr val="10212F"/>
                </a:solidFill>
                <a:latin typeface="Calibri" pitchFamily="34" charset="0"/>
                <a:ea typeface="Calibri" pitchFamily="34" charset="-122"/>
                <a:cs typeface="Calibri" pitchFamily="34" charset="-120"/>
              </a:rPr>
              <a:t>Real data</a:t>
            </a:r>
            <a:endParaRPr lang="en-US" sz="1350" dirty="0"/>
          </a:p>
        </p:txBody>
      </p:sp>
      <p:sp>
        <p:nvSpPr>
          <p:cNvPr id="7" name="Text 5"/>
          <p:cNvSpPr txBox="1"/>
          <p:nvPr/>
        </p:nvSpPr>
        <p:spPr>
          <a:xfrm>
            <a:off x="3566160" y="1417320"/>
            <a:ext cx="7955280" cy="685800"/>
          </a:xfrm>
          <a:prstGeom prst="rect">
            <a:avLst/>
          </a:prstGeom>
          <a:noFill/>
          <a:ln/>
        </p:spPr>
        <p:txBody>
          <a:bodyPr wrap="square" lIns="0" tIns="0" rIns="0" bIns="0" rtlCol="0" anchor="ctr"/>
          <a:lstStyle/>
          <a:p>
            <a:pPr indent="0" marL="0">
              <a:lnSpc>
                <a:spcPts val="1800"/>
              </a:lnSpc>
              <a:buNone/>
            </a:pPr>
            <a:r>
              <a:rPr lang="en-US" sz="1250" dirty="0">
                <a:solidFill>
                  <a:srgbClr val="5A6B7B"/>
                </a:solidFill>
                <a:latin typeface="Calibri" pitchFamily="34" charset="0"/>
                <a:ea typeface="Calibri" pitchFamily="34" charset="-122"/>
                <a:cs typeface="Calibri" pitchFamily="34" charset="-120"/>
              </a:rPr>
              <a:t>CISA's published ScubaGear assessment — a genuine redacted run, CC0 licensed. Any tenant's own ScubaResults file runs the same parser, transformers and validator — there is no separate demo path.</a:t>
            </a:r>
            <a:endParaRPr lang="en-US" sz="1250" dirty="0"/>
          </a:p>
        </p:txBody>
      </p:sp>
      <p:sp>
        <p:nvSpPr>
          <p:cNvPr id="8" name="Shape 6"/>
          <p:cNvSpPr/>
          <p:nvPr/>
        </p:nvSpPr>
        <p:spPr>
          <a:xfrm>
            <a:off x="685800" y="2377440"/>
            <a:ext cx="384048" cy="384048"/>
          </a:xfrm>
          <a:prstGeom prst="ellipse">
            <a:avLst/>
          </a:prstGeom>
          <a:solidFill>
            <a:srgbClr val="E8F6EF"/>
          </a:solidFill>
          <a:ln w="12700">
            <a:solidFill>
              <a:srgbClr val="C3E9D7"/>
            </a:solidFill>
            <a:prstDash val="solid"/>
          </a:ln>
        </p:spPr>
      </p:sp>
      <p:sp>
        <p:nvSpPr>
          <p:cNvPr id="9" name="Text 7"/>
          <p:cNvSpPr txBox="1"/>
          <p:nvPr/>
        </p:nvSpPr>
        <p:spPr>
          <a:xfrm>
            <a:off x="685800" y="2432304"/>
            <a:ext cx="384048" cy="274320"/>
          </a:xfrm>
          <a:prstGeom prst="rect">
            <a:avLst/>
          </a:prstGeom>
          <a:noFill/>
          <a:ln/>
        </p:spPr>
        <p:txBody>
          <a:bodyPr wrap="square" lIns="0" tIns="0" rIns="0" bIns="0" rtlCol="0" anchor="ctr"/>
          <a:lstStyle/>
          <a:p>
            <a:pPr algn="ctr" indent="0" marL="0">
              <a:buNone/>
            </a:pPr>
            <a:r>
              <a:rPr lang="en-US" sz="1300" b="1" dirty="0">
                <a:solidFill>
                  <a:srgbClr val="30A46C"/>
                </a:solidFill>
                <a:latin typeface="Calibri" pitchFamily="34" charset="0"/>
                <a:ea typeface="Calibri" pitchFamily="34" charset="-122"/>
                <a:cs typeface="Calibri" pitchFamily="34" charset="-120"/>
              </a:rPr>
              <a:t>✓</a:t>
            </a:r>
            <a:endParaRPr lang="en-US" sz="1300" dirty="0"/>
          </a:p>
        </p:txBody>
      </p:sp>
      <p:sp>
        <p:nvSpPr>
          <p:cNvPr id="10" name="Text 8"/>
          <p:cNvSpPr txBox="1"/>
          <p:nvPr/>
        </p:nvSpPr>
        <p:spPr>
          <a:xfrm>
            <a:off x="1234440" y="2340864"/>
            <a:ext cx="2286000" cy="292608"/>
          </a:xfrm>
          <a:prstGeom prst="rect">
            <a:avLst/>
          </a:prstGeom>
          <a:noFill/>
          <a:ln/>
        </p:spPr>
        <p:txBody>
          <a:bodyPr wrap="square" lIns="0" tIns="0" rIns="0" bIns="0" rtlCol="0" anchor="ctr"/>
          <a:lstStyle/>
          <a:p>
            <a:pPr indent="0" marL="0">
              <a:buNone/>
            </a:pPr>
            <a:r>
              <a:rPr lang="en-US" sz="1350" b="1" dirty="0">
                <a:solidFill>
                  <a:srgbClr val="10212F"/>
                </a:solidFill>
                <a:latin typeface="Calibri" pitchFamily="34" charset="0"/>
                <a:ea typeface="Calibri" pitchFamily="34" charset="-122"/>
                <a:cs typeface="Calibri" pitchFamily="34" charset="-120"/>
              </a:rPr>
              <a:t>Real validation</a:t>
            </a:r>
            <a:endParaRPr lang="en-US" sz="1350" dirty="0"/>
          </a:p>
        </p:txBody>
      </p:sp>
      <p:sp>
        <p:nvSpPr>
          <p:cNvPr id="11" name="Text 9"/>
          <p:cNvSpPr txBox="1"/>
          <p:nvPr/>
        </p:nvSpPr>
        <p:spPr>
          <a:xfrm>
            <a:off x="3566160" y="2313432"/>
            <a:ext cx="7955280" cy="685800"/>
          </a:xfrm>
          <a:prstGeom prst="rect">
            <a:avLst/>
          </a:prstGeom>
          <a:noFill/>
          <a:ln/>
        </p:spPr>
        <p:txBody>
          <a:bodyPr wrap="square" lIns="0" tIns="0" rIns="0" bIns="0" rtlCol="0" anchor="ctr"/>
          <a:lstStyle/>
          <a:p>
            <a:pPr indent="0" marL="0">
              <a:lnSpc>
                <a:spcPts val="1800"/>
              </a:lnSpc>
              <a:buNone/>
            </a:pPr>
            <a:r>
              <a:rPr lang="en-US" sz="1250" dirty="0">
                <a:solidFill>
                  <a:srgbClr val="5A6B7B"/>
                </a:solidFill>
                <a:latin typeface="Calibri" pitchFamily="34" charset="0"/>
                <a:ea typeface="Calibri" pitchFamily="34" charset="-122"/>
                <a:cs typeface="Calibri" pitchFamily="34" charset="-120"/>
              </a:rPr>
              <a:t>NIST oscal-cli in CI. The build fails if any document stops validating.</a:t>
            </a:r>
            <a:endParaRPr lang="en-US" sz="1250" dirty="0"/>
          </a:p>
        </p:txBody>
      </p:sp>
      <p:sp>
        <p:nvSpPr>
          <p:cNvPr id="12" name="Shape 10"/>
          <p:cNvSpPr/>
          <p:nvPr/>
        </p:nvSpPr>
        <p:spPr>
          <a:xfrm>
            <a:off x="685800" y="3273552"/>
            <a:ext cx="384048" cy="384048"/>
          </a:xfrm>
          <a:prstGeom prst="ellipse">
            <a:avLst/>
          </a:prstGeom>
          <a:solidFill>
            <a:srgbClr val="E8F6EF"/>
          </a:solidFill>
          <a:ln w="12700">
            <a:solidFill>
              <a:srgbClr val="C3E9D7"/>
            </a:solidFill>
            <a:prstDash val="solid"/>
          </a:ln>
        </p:spPr>
      </p:sp>
      <p:sp>
        <p:nvSpPr>
          <p:cNvPr id="13" name="Text 11"/>
          <p:cNvSpPr txBox="1"/>
          <p:nvPr/>
        </p:nvSpPr>
        <p:spPr>
          <a:xfrm>
            <a:off x="685800" y="3328416"/>
            <a:ext cx="384048" cy="274320"/>
          </a:xfrm>
          <a:prstGeom prst="rect">
            <a:avLst/>
          </a:prstGeom>
          <a:noFill/>
          <a:ln/>
        </p:spPr>
        <p:txBody>
          <a:bodyPr wrap="square" lIns="0" tIns="0" rIns="0" bIns="0" rtlCol="0" anchor="ctr"/>
          <a:lstStyle/>
          <a:p>
            <a:pPr algn="ctr" indent="0" marL="0">
              <a:buNone/>
            </a:pPr>
            <a:r>
              <a:rPr lang="en-US" sz="1300" b="1" dirty="0">
                <a:solidFill>
                  <a:srgbClr val="30A46C"/>
                </a:solidFill>
                <a:latin typeface="Calibri" pitchFamily="34" charset="0"/>
                <a:ea typeface="Calibri" pitchFamily="34" charset="-122"/>
                <a:cs typeface="Calibri" pitchFamily="34" charset="-120"/>
              </a:rPr>
              <a:t>✓</a:t>
            </a:r>
            <a:endParaRPr lang="en-US" sz="1300" dirty="0"/>
          </a:p>
        </p:txBody>
      </p:sp>
      <p:sp>
        <p:nvSpPr>
          <p:cNvPr id="14" name="Text 12"/>
          <p:cNvSpPr txBox="1"/>
          <p:nvPr/>
        </p:nvSpPr>
        <p:spPr>
          <a:xfrm>
            <a:off x="1234440" y="3236976"/>
            <a:ext cx="2286000" cy="292608"/>
          </a:xfrm>
          <a:prstGeom prst="rect">
            <a:avLst/>
          </a:prstGeom>
          <a:noFill/>
          <a:ln/>
        </p:spPr>
        <p:txBody>
          <a:bodyPr wrap="square" lIns="0" tIns="0" rIns="0" bIns="0" rtlCol="0" anchor="ctr"/>
          <a:lstStyle/>
          <a:p>
            <a:pPr indent="0" marL="0">
              <a:buNone/>
            </a:pPr>
            <a:r>
              <a:rPr lang="en-US" sz="1350" b="1" dirty="0">
                <a:solidFill>
                  <a:srgbClr val="10212F"/>
                </a:solidFill>
                <a:latin typeface="Calibri" pitchFamily="34" charset="0"/>
                <a:ea typeface="Calibri" pitchFamily="34" charset="-122"/>
                <a:cs typeface="Calibri" pitchFamily="34" charset="-120"/>
              </a:rPr>
              <a:t>Real deployment</a:t>
            </a:r>
            <a:endParaRPr lang="en-US" sz="1350" dirty="0"/>
          </a:p>
        </p:txBody>
      </p:sp>
      <p:sp>
        <p:nvSpPr>
          <p:cNvPr id="15" name="Text 13"/>
          <p:cNvSpPr txBox="1"/>
          <p:nvPr/>
        </p:nvSpPr>
        <p:spPr>
          <a:xfrm>
            <a:off x="3566160" y="3209544"/>
            <a:ext cx="7955280" cy="685800"/>
          </a:xfrm>
          <a:prstGeom prst="rect">
            <a:avLst/>
          </a:prstGeom>
          <a:noFill/>
          <a:ln/>
        </p:spPr>
        <p:txBody>
          <a:bodyPr wrap="square" lIns="0" tIns="0" rIns="0" bIns="0" rtlCol="0" anchor="ctr"/>
          <a:lstStyle/>
          <a:p>
            <a:pPr indent="0" marL="0">
              <a:lnSpc>
                <a:spcPts val="1800"/>
              </a:lnSpc>
              <a:buNone/>
            </a:pPr>
            <a:r>
              <a:rPr lang="en-US" sz="1250" dirty="0">
                <a:solidFill>
                  <a:srgbClr val="5A6B7B"/>
                </a:solidFill>
                <a:latin typeface="Calibri" pitchFamily="34" charset="0"/>
                <a:ea typeface="Calibri" pitchFamily="34" charset="-122"/>
                <a:cs typeface="Calibri" pitchFamily="34" charset="-120"/>
              </a:rPr>
              <a:t>Microsoft Foundry project in eastus2, gpt-5-mini, keyless auth. Provisioned and answering.</a:t>
            </a:r>
            <a:endParaRPr lang="en-US" sz="1250" dirty="0"/>
          </a:p>
        </p:txBody>
      </p:sp>
      <p:sp>
        <p:nvSpPr>
          <p:cNvPr id="16" name="Shape 14"/>
          <p:cNvSpPr/>
          <p:nvPr/>
        </p:nvSpPr>
        <p:spPr>
          <a:xfrm>
            <a:off x="685800" y="4169664"/>
            <a:ext cx="384048" cy="384048"/>
          </a:xfrm>
          <a:prstGeom prst="ellipse">
            <a:avLst/>
          </a:prstGeom>
          <a:solidFill>
            <a:srgbClr val="E8F6EF"/>
          </a:solidFill>
          <a:ln w="12700">
            <a:solidFill>
              <a:srgbClr val="C3E9D7"/>
            </a:solidFill>
            <a:prstDash val="solid"/>
          </a:ln>
        </p:spPr>
      </p:sp>
      <p:sp>
        <p:nvSpPr>
          <p:cNvPr id="17" name="Text 15"/>
          <p:cNvSpPr txBox="1"/>
          <p:nvPr/>
        </p:nvSpPr>
        <p:spPr>
          <a:xfrm>
            <a:off x="685800" y="4224528"/>
            <a:ext cx="384048" cy="274320"/>
          </a:xfrm>
          <a:prstGeom prst="rect">
            <a:avLst/>
          </a:prstGeom>
          <a:noFill/>
          <a:ln/>
        </p:spPr>
        <p:txBody>
          <a:bodyPr wrap="square" lIns="0" tIns="0" rIns="0" bIns="0" rtlCol="0" anchor="ctr"/>
          <a:lstStyle/>
          <a:p>
            <a:pPr algn="ctr" indent="0" marL="0">
              <a:buNone/>
            </a:pPr>
            <a:r>
              <a:rPr lang="en-US" sz="1300" b="1" dirty="0">
                <a:solidFill>
                  <a:srgbClr val="30A46C"/>
                </a:solidFill>
                <a:latin typeface="Calibri" pitchFamily="34" charset="0"/>
                <a:ea typeface="Calibri" pitchFamily="34" charset="-122"/>
                <a:cs typeface="Calibri" pitchFamily="34" charset="-120"/>
              </a:rPr>
              <a:t>✓</a:t>
            </a:r>
            <a:endParaRPr lang="en-US" sz="1300" dirty="0"/>
          </a:p>
        </p:txBody>
      </p:sp>
      <p:sp>
        <p:nvSpPr>
          <p:cNvPr id="18" name="Text 16"/>
          <p:cNvSpPr txBox="1"/>
          <p:nvPr/>
        </p:nvSpPr>
        <p:spPr>
          <a:xfrm>
            <a:off x="1234440" y="4133088"/>
            <a:ext cx="2286000" cy="292608"/>
          </a:xfrm>
          <a:prstGeom prst="rect">
            <a:avLst/>
          </a:prstGeom>
          <a:noFill/>
          <a:ln/>
        </p:spPr>
        <p:txBody>
          <a:bodyPr wrap="square" lIns="0" tIns="0" rIns="0" bIns="0" rtlCol="0" anchor="ctr"/>
          <a:lstStyle/>
          <a:p>
            <a:pPr indent="0" marL="0">
              <a:buNone/>
            </a:pPr>
            <a:r>
              <a:rPr lang="en-US" sz="1350" b="1" dirty="0">
                <a:solidFill>
                  <a:srgbClr val="10212F"/>
                </a:solidFill>
                <a:latin typeface="Calibri" pitchFamily="34" charset="0"/>
                <a:ea typeface="Calibri" pitchFamily="34" charset="-122"/>
                <a:cs typeface="Calibri" pitchFamily="34" charset="-120"/>
              </a:rPr>
              <a:t>Reproducible</a:t>
            </a:r>
            <a:endParaRPr lang="en-US" sz="1350" dirty="0"/>
          </a:p>
        </p:txBody>
      </p:sp>
      <p:sp>
        <p:nvSpPr>
          <p:cNvPr id="19" name="Text 17"/>
          <p:cNvSpPr txBox="1"/>
          <p:nvPr/>
        </p:nvSpPr>
        <p:spPr>
          <a:xfrm>
            <a:off x="3566160" y="4105656"/>
            <a:ext cx="7955280" cy="685800"/>
          </a:xfrm>
          <a:prstGeom prst="rect">
            <a:avLst/>
          </a:prstGeom>
          <a:noFill/>
          <a:ln/>
        </p:spPr>
        <p:txBody>
          <a:bodyPr wrap="square" lIns="0" tIns="0" rIns="0" bIns="0" rtlCol="0" anchor="ctr"/>
          <a:lstStyle/>
          <a:p>
            <a:pPr indent="0" marL="0">
              <a:lnSpc>
                <a:spcPts val="1800"/>
              </a:lnSpc>
              <a:buNone/>
            </a:pPr>
            <a:r>
              <a:rPr lang="en-US" sz="1250" dirty="0">
                <a:solidFill>
                  <a:srgbClr val="5A6B7B"/>
                </a:solidFill>
                <a:latin typeface="Calibri" pitchFamily="34" charset="0"/>
                <a:ea typeface="Calibri" pitchFamily="34" charset="-122"/>
                <a:cs typeface="Calibri" pitchFamily="34" charset="-120"/>
              </a:rPr>
              <a:t>From a clean clone: install, then two commands — generate and validate — reproduce every artifact byte-for-byte, fully offline. Every document carries the SHA-256 of each input inside its own metadata, so an artifact can be tied back to the exact scan that produced it.</a:t>
            </a:r>
            <a:endParaRPr lang="en-US" sz="1250" dirty="0"/>
          </a:p>
        </p:txBody>
      </p:sp>
      <p:sp>
        <p:nvSpPr>
          <p:cNvPr id="20" name="Shape 18"/>
          <p:cNvSpPr/>
          <p:nvPr/>
        </p:nvSpPr>
        <p:spPr>
          <a:xfrm>
            <a:off x="685800" y="5065776"/>
            <a:ext cx="384048" cy="384048"/>
          </a:xfrm>
          <a:prstGeom prst="ellipse">
            <a:avLst/>
          </a:prstGeom>
          <a:solidFill>
            <a:srgbClr val="FFF1CC"/>
          </a:solidFill>
          <a:ln w="12700">
            <a:solidFill>
              <a:srgbClr val="FFE2A8"/>
            </a:solidFill>
            <a:prstDash val="solid"/>
          </a:ln>
        </p:spPr>
      </p:sp>
      <p:sp>
        <p:nvSpPr>
          <p:cNvPr id="21" name="Text 19"/>
          <p:cNvSpPr txBox="1"/>
          <p:nvPr/>
        </p:nvSpPr>
        <p:spPr>
          <a:xfrm>
            <a:off x="685800" y="5120640"/>
            <a:ext cx="384048" cy="274320"/>
          </a:xfrm>
          <a:prstGeom prst="rect">
            <a:avLst/>
          </a:prstGeom>
          <a:noFill/>
          <a:ln/>
        </p:spPr>
        <p:txBody>
          <a:bodyPr wrap="square" lIns="0" tIns="0" rIns="0" bIns="0" rtlCol="0" anchor="ctr"/>
          <a:lstStyle/>
          <a:p>
            <a:pPr algn="ctr" indent="0" marL="0">
              <a:buNone/>
            </a:pPr>
            <a:r>
              <a:rPr lang="en-US" sz="1300" b="1" dirty="0">
                <a:solidFill>
                  <a:srgbClr val="8A5A00"/>
                </a:solidFill>
                <a:latin typeface="Calibri" pitchFamily="34" charset="0"/>
                <a:ea typeface="Calibri" pitchFamily="34" charset="-122"/>
                <a:cs typeface="Calibri" pitchFamily="34" charset="-120"/>
              </a:rPr>
              <a:t>!</a:t>
            </a:r>
            <a:endParaRPr lang="en-US" sz="1300" dirty="0"/>
          </a:p>
        </p:txBody>
      </p:sp>
      <p:sp>
        <p:nvSpPr>
          <p:cNvPr id="22" name="Text 20"/>
          <p:cNvSpPr txBox="1"/>
          <p:nvPr/>
        </p:nvSpPr>
        <p:spPr>
          <a:xfrm>
            <a:off x="1234440" y="5029200"/>
            <a:ext cx="2286000" cy="292608"/>
          </a:xfrm>
          <a:prstGeom prst="rect">
            <a:avLst/>
          </a:prstGeom>
          <a:noFill/>
          <a:ln/>
        </p:spPr>
        <p:txBody>
          <a:bodyPr wrap="square" lIns="0" tIns="0" rIns="0" bIns="0" rtlCol="0" anchor="ctr"/>
          <a:lstStyle/>
          <a:p>
            <a:pPr indent="0" marL="0">
              <a:buNone/>
            </a:pPr>
            <a:r>
              <a:rPr lang="en-US" sz="1350" b="1" dirty="0">
                <a:solidFill>
                  <a:srgbClr val="10212F"/>
                </a:solidFill>
                <a:latin typeface="Calibri" pitchFamily="34" charset="0"/>
                <a:ea typeface="Calibri" pitchFamily="34" charset="-122"/>
                <a:cs typeface="Calibri" pitchFamily="34" charset="-120"/>
              </a:rPr>
              <a:t>Honest about limits</a:t>
            </a:r>
            <a:endParaRPr lang="en-US" sz="1350" dirty="0"/>
          </a:p>
        </p:txBody>
      </p:sp>
      <p:sp>
        <p:nvSpPr>
          <p:cNvPr id="23" name="Text 21"/>
          <p:cNvSpPr txBox="1"/>
          <p:nvPr/>
        </p:nvSpPr>
        <p:spPr>
          <a:xfrm>
            <a:off x="3566160" y="5001768"/>
            <a:ext cx="7955280" cy="685800"/>
          </a:xfrm>
          <a:prstGeom prst="rect">
            <a:avLst/>
          </a:prstGeom>
          <a:noFill/>
          <a:ln/>
        </p:spPr>
        <p:txBody>
          <a:bodyPr wrap="square" lIns="0" tIns="0" rIns="0" bIns="0" rtlCol="0" anchor="ctr"/>
          <a:lstStyle/>
          <a:p>
            <a:pPr indent="0" marL="0">
              <a:lnSpc>
                <a:spcPts val="1800"/>
              </a:lnSpc>
              <a:buNone/>
            </a:pPr>
            <a:r>
              <a:rPr lang="en-US" sz="1250" dirty="0">
                <a:solidFill>
                  <a:srgbClr val="5A6B7B"/>
                </a:solidFill>
                <a:latin typeface="Calibri" pitchFamily="34" charset="0"/>
                <a:ea typeface="Calibri" pitchFamily="34" charset="-122"/>
                <a:cs typeface="Calibri" pitchFamily="34" charset="-120"/>
              </a:rPr>
              <a:t>oscal-cli has no mapping command yet, so that document is JSON-Schema validated only. We report cli:n/a rather than implying more.</a:t>
            </a:r>
            <a:endParaRPr lang="en-US" sz="1250" dirty="0"/>
          </a:p>
        </p:txBody>
      </p:sp>
      <p:sp>
        <p:nvSpPr>
          <p:cNvPr id="24" name="Text 22"/>
          <p:cNvSpPr txBox="1"/>
          <p:nvPr/>
        </p:nvSpPr>
        <p:spPr>
          <a:xfrm>
            <a:off x="640080" y="5943600"/>
            <a:ext cx="10881360" cy="365760"/>
          </a:xfrm>
          <a:prstGeom prst="rect">
            <a:avLst/>
          </a:prstGeom>
          <a:noFill/>
          <a:ln/>
        </p:spPr>
        <p:txBody>
          <a:bodyPr wrap="square" lIns="0" tIns="0" rIns="0" bIns="0" rtlCol="0" anchor="ctr"/>
          <a:lstStyle/>
          <a:p>
            <a:pPr indent="0" marL="0">
              <a:buNone/>
            </a:pPr>
            <a:r>
              <a:rPr lang="en-US" sz="1250" i="1" dirty="0">
                <a:solidFill>
                  <a:srgbClr val="5A6B7B"/>
                </a:solidFill>
                <a:latin typeface="Calibri" pitchFamily="34" charset="0"/>
                <a:ea typeface="Calibri" pitchFamily="34" charset="-122"/>
                <a:cs typeface="Calibri" pitchFamily="34" charset="-120"/>
              </a:rPr>
              <a:t>Next: an Azure Container Apps deployment, Azure AI Search over baseline guidance, and the remaining M365 products.</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A2F"/>
        </a:solidFill>
      </p:bgPr>
    </p:bg>
    <p:spTree>
      <p:nvGrpSpPr>
        <p:cNvPr id="1" name=""/>
        <p:cNvGrpSpPr/>
        <p:nvPr/>
      </p:nvGrpSpPr>
      <p:grpSpPr>
        <a:xfrm>
          <a:off x="0" y="0"/>
          <a:ext cx="0" cy="0"/>
          <a:chOff x="0" y="0"/>
          <a:chExt cx="0" cy="0"/>
        </a:xfrm>
      </p:grpSpPr>
      <p:sp>
        <p:nvSpPr>
          <p:cNvPr id="2" name="Shape 0"/>
          <p:cNvSpPr/>
          <p:nvPr/>
        </p:nvSpPr>
        <p:spPr>
          <a:xfrm>
            <a:off x="-1645920" y="4206240"/>
            <a:ext cx="4572000" cy="4572000"/>
          </a:xfrm>
          <a:prstGeom prst="ellipse">
            <a:avLst/>
          </a:prstGeom>
          <a:solidFill>
            <a:srgbClr val="14304F"/>
          </a:solidFill>
          <a:ln/>
        </p:spPr>
      </p:sp>
      <p:sp>
        <p:nvSpPr>
          <p:cNvPr id="3" name="Shape 1"/>
          <p:cNvSpPr/>
          <p:nvPr/>
        </p:nvSpPr>
        <p:spPr>
          <a:xfrm>
            <a:off x="10424160" y="-1097280"/>
            <a:ext cx="3291840" cy="3291840"/>
          </a:xfrm>
          <a:prstGeom prst="ellipse">
            <a:avLst/>
          </a:prstGeom>
          <a:solidFill>
            <a:srgbClr val="14304F"/>
          </a:solidFill>
          <a:ln/>
        </p:spPr>
      </p:sp>
      <p:sp>
        <p:nvSpPr>
          <p:cNvPr id="4" name="Text 2"/>
          <p:cNvSpPr txBox="1"/>
          <p:nvPr/>
        </p:nvSpPr>
        <p:spPr>
          <a:xfrm>
            <a:off x="822960" y="1325880"/>
            <a:ext cx="10241280" cy="1371600"/>
          </a:xfrm>
          <a:prstGeom prst="rect">
            <a:avLst/>
          </a:prstGeom>
          <a:noFill/>
          <a:ln/>
        </p:spPr>
        <p:txBody>
          <a:bodyPr wrap="square" lIns="0" tIns="0" rIns="0" bIns="0" rtlCol="0" anchor="ctr"/>
          <a:lstStyle/>
          <a:p>
            <a:pPr indent="0" marL="0">
              <a:lnSpc>
                <a:spcPts val="4600"/>
              </a:lnSpc>
              <a:buNone/>
            </a:pPr>
            <a:r>
              <a:rPr lang="en-US" sz="3800" b="1" dirty="0">
                <a:solidFill>
                  <a:srgbClr val="FFFFFF"/>
                </a:solidFill>
                <a:latin typeface="Cambria" pitchFamily="34" charset="0"/>
                <a:ea typeface="Cambria" pitchFamily="34" charset="-122"/>
                <a:cs typeface="Cambria" pitchFamily="34" charset="-120"/>
              </a:rPr>
              <a:t>CISA built the scanner.</a:t>
            </a:r>
            <a:endParaRPr lang="en-US" sz="3800" dirty="0"/>
          </a:p>
          <a:p>
            <a:pPr indent="0" marL="0">
              <a:lnSpc>
                <a:spcPts val="4600"/>
              </a:lnSpc>
              <a:buNone/>
            </a:pPr>
            <a:r>
              <a:rPr lang="en-US" sz="3800" b="1" dirty="0">
                <a:solidFill>
                  <a:srgbClr val="FFFFFF"/>
                </a:solidFill>
                <a:latin typeface="Cambria" pitchFamily="34" charset="0"/>
                <a:ea typeface="Cambria" pitchFamily="34" charset="-122"/>
                <a:cs typeface="Cambria" pitchFamily="34" charset="-120"/>
              </a:rPr>
              <a:t>We built everything after it.</a:t>
            </a:r>
            <a:endParaRPr lang="en-US" sz="3800" dirty="0"/>
          </a:p>
        </p:txBody>
      </p:sp>
      <p:sp>
        <p:nvSpPr>
          <p:cNvPr id="5" name="Text 3"/>
          <p:cNvSpPr txBox="1"/>
          <p:nvPr/>
        </p:nvSpPr>
        <p:spPr>
          <a:xfrm>
            <a:off x="822960" y="2788920"/>
            <a:ext cx="9875520" cy="1051560"/>
          </a:xfrm>
          <a:prstGeom prst="rect">
            <a:avLst/>
          </a:prstGeom>
          <a:noFill/>
          <a:ln/>
        </p:spPr>
        <p:txBody>
          <a:bodyPr wrap="square" lIns="0" tIns="0" rIns="0" bIns="0" rtlCol="0" anchor="ctr"/>
          <a:lstStyle/>
          <a:p>
            <a:pPr indent="0" marL="0">
              <a:lnSpc>
                <a:spcPts val="2100"/>
              </a:lnSpc>
              <a:buNone/>
            </a:pPr>
            <a:r>
              <a:rPr lang="en-US" sz="1400" dirty="0">
                <a:solidFill>
                  <a:srgbClr val="C6D4E0"/>
                </a:solidFill>
                <a:latin typeface="Calibri" pitchFamily="34" charset="0"/>
                <a:ea typeface="Calibri" pitchFamily="34" charset="-122"/>
                <a:cs typeface="Calibri" pitchFamily="34" charset="-120"/>
              </a:rPr>
              <a:t>A complete, validated OSCAL chain for Microsoft 365 — mappings provably faithful to CISA's own crosswalk, drift that survives a baseline version change, exemptions an auditor can query, and an AI layer that cannot invent a compliance fact. For a Commonwealth institution, every finding is also traced to SEC530.</a:t>
            </a:r>
            <a:endParaRPr lang="en-US" sz="1400" dirty="0"/>
          </a:p>
        </p:txBody>
      </p:sp>
      <p:sp>
        <p:nvSpPr>
          <p:cNvPr id="6" name="Text 4"/>
          <p:cNvSpPr txBox="1"/>
          <p:nvPr/>
        </p:nvSpPr>
        <p:spPr>
          <a:xfrm>
            <a:off x="822960" y="3931920"/>
            <a:ext cx="2468880" cy="594360"/>
          </a:xfrm>
          <a:prstGeom prst="rect">
            <a:avLst/>
          </a:prstGeom>
          <a:noFill/>
          <a:ln/>
        </p:spPr>
        <p:txBody>
          <a:bodyPr wrap="square" lIns="0" tIns="0" rIns="0" bIns="0" rtlCol="0" anchor="ctr"/>
          <a:lstStyle/>
          <a:p>
            <a:pPr indent="0" marL="0">
              <a:buNone/>
            </a:pPr>
            <a:r>
              <a:rPr lang="en-US" sz="3400" b="1" dirty="0">
                <a:solidFill>
                  <a:srgbClr val="FFB700"/>
                </a:solidFill>
                <a:latin typeface="Calibri" pitchFamily="34" charset="0"/>
                <a:ea typeface="Calibri" pitchFamily="34" charset="-122"/>
                <a:cs typeface="Calibri" pitchFamily="34" charset="-120"/>
              </a:rPr>
              <a:t>8</a:t>
            </a:r>
            <a:endParaRPr lang="en-US" sz="3400" dirty="0"/>
          </a:p>
        </p:txBody>
      </p:sp>
      <p:sp>
        <p:nvSpPr>
          <p:cNvPr id="7" name="Text 5"/>
          <p:cNvSpPr txBox="1"/>
          <p:nvPr/>
        </p:nvSpPr>
        <p:spPr>
          <a:xfrm>
            <a:off x="822960" y="4526280"/>
            <a:ext cx="2468880" cy="548640"/>
          </a:xfrm>
          <a:prstGeom prst="rect">
            <a:avLst/>
          </a:prstGeom>
          <a:noFill/>
          <a:ln/>
        </p:spPr>
        <p:txBody>
          <a:bodyPr wrap="square" lIns="0" tIns="0" rIns="0" bIns="0" rtlCol="0" anchor="ctr"/>
          <a:lstStyle/>
          <a:p>
            <a:pPr indent="0" marL="0">
              <a:lnSpc>
                <a:spcPts val="1500"/>
              </a:lnSpc>
              <a:buNone/>
            </a:pPr>
            <a:r>
              <a:rPr lang="en-US" sz="1150" dirty="0">
                <a:solidFill>
                  <a:srgbClr val="9FB3C8"/>
                </a:solidFill>
                <a:latin typeface="Calibri" pitchFamily="34" charset="0"/>
                <a:ea typeface="Calibri" pitchFamily="34" charset="-122"/>
                <a:cs typeface="Calibri" pitchFamily="34" charset="-120"/>
              </a:rPr>
              <a:t>OSCAL documents</a:t>
            </a:r>
            <a:endParaRPr lang="en-US" sz="1150" dirty="0"/>
          </a:p>
          <a:p>
            <a:pPr indent="0" marL="0">
              <a:lnSpc>
                <a:spcPts val="1500"/>
              </a:lnSpc>
              <a:buNone/>
            </a:pPr>
            <a:r>
              <a:rPr lang="en-US" sz="1150" dirty="0">
                <a:solidFill>
                  <a:srgbClr val="9FB3C8"/>
                </a:solidFill>
                <a:latin typeface="Calibri" pitchFamily="34" charset="0"/>
                <a:ea typeface="Calibri" pitchFamily="34" charset="-122"/>
                <a:cs typeface="Calibri" pitchFamily="34" charset="-120"/>
              </a:rPr>
              <a:t>NIST-validated</a:t>
            </a:r>
            <a:endParaRPr lang="en-US" sz="1150" dirty="0"/>
          </a:p>
        </p:txBody>
      </p:sp>
      <p:sp>
        <p:nvSpPr>
          <p:cNvPr id="8" name="Text 6"/>
          <p:cNvSpPr txBox="1"/>
          <p:nvPr/>
        </p:nvSpPr>
        <p:spPr>
          <a:xfrm>
            <a:off x="3520440" y="3931920"/>
            <a:ext cx="2468880" cy="594360"/>
          </a:xfrm>
          <a:prstGeom prst="rect">
            <a:avLst/>
          </a:prstGeom>
          <a:noFill/>
          <a:ln/>
        </p:spPr>
        <p:txBody>
          <a:bodyPr wrap="square" lIns="0" tIns="0" rIns="0" bIns="0" rtlCol="0" anchor="ctr"/>
          <a:lstStyle/>
          <a:p>
            <a:pPr indent="0" marL="0">
              <a:buNone/>
            </a:pPr>
            <a:r>
              <a:rPr lang="en-US" sz="3400" b="1" dirty="0">
                <a:solidFill>
                  <a:srgbClr val="FFB700"/>
                </a:solidFill>
                <a:latin typeface="Calibri" pitchFamily="34" charset="0"/>
                <a:ea typeface="Calibri" pitchFamily="34" charset="-122"/>
                <a:cs typeface="Calibri" pitchFamily="34" charset="-120"/>
              </a:rPr>
              <a:t>89/92</a:t>
            </a:r>
            <a:endParaRPr lang="en-US" sz="3400" dirty="0"/>
          </a:p>
        </p:txBody>
      </p:sp>
      <p:sp>
        <p:nvSpPr>
          <p:cNvPr id="9" name="Text 7"/>
          <p:cNvSpPr txBox="1"/>
          <p:nvPr/>
        </p:nvSpPr>
        <p:spPr>
          <a:xfrm>
            <a:off x="3520440" y="4526280"/>
            <a:ext cx="2468880" cy="548640"/>
          </a:xfrm>
          <a:prstGeom prst="rect">
            <a:avLst/>
          </a:prstGeom>
          <a:noFill/>
          <a:ln/>
        </p:spPr>
        <p:txBody>
          <a:bodyPr wrap="square" lIns="0" tIns="0" rIns="0" bIns="0" rtlCol="0" anchor="ctr"/>
          <a:lstStyle/>
          <a:p>
            <a:pPr indent="0" marL="0">
              <a:lnSpc>
                <a:spcPts val="1500"/>
              </a:lnSpc>
              <a:buNone/>
            </a:pPr>
            <a:r>
              <a:rPr lang="en-US" sz="1150" dirty="0">
                <a:solidFill>
                  <a:srgbClr val="9FB3C8"/>
                </a:solidFill>
                <a:latin typeface="Calibri" pitchFamily="34" charset="0"/>
                <a:ea typeface="Calibri" pitchFamily="34" charset="-122"/>
                <a:cs typeface="Calibri" pitchFamily="34" charset="-120"/>
              </a:rPr>
              <a:t>mappings deterministic</a:t>
            </a:r>
            <a:endParaRPr lang="en-US" sz="1150" dirty="0"/>
          </a:p>
          <a:p>
            <a:pPr indent="0" marL="0">
              <a:lnSpc>
                <a:spcPts val="1500"/>
              </a:lnSpc>
              <a:buNone/>
            </a:pPr>
            <a:r>
              <a:rPr lang="en-US" sz="1150" dirty="0">
                <a:solidFill>
                  <a:srgbClr val="9FB3C8"/>
                </a:solidFill>
                <a:latin typeface="Calibri" pitchFamily="34" charset="0"/>
                <a:ea typeface="Calibri" pitchFamily="34" charset="-122"/>
                <a:cs typeface="Calibri" pitchFamily="34" charset="-120"/>
              </a:rPr>
              <a:t>no AI guessing</a:t>
            </a:r>
            <a:endParaRPr lang="en-US" sz="1150" dirty="0"/>
          </a:p>
        </p:txBody>
      </p:sp>
      <p:sp>
        <p:nvSpPr>
          <p:cNvPr id="10" name="Text 8"/>
          <p:cNvSpPr txBox="1"/>
          <p:nvPr/>
        </p:nvSpPr>
        <p:spPr>
          <a:xfrm>
            <a:off x="6217920" y="3931920"/>
            <a:ext cx="2468880" cy="594360"/>
          </a:xfrm>
          <a:prstGeom prst="rect">
            <a:avLst/>
          </a:prstGeom>
          <a:noFill/>
          <a:ln/>
        </p:spPr>
        <p:txBody>
          <a:bodyPr wrap="square" lIns="0" tIns="0" rIns="0" bIns="0" rtlCol="0" anchor="ctr"/>
          <a:lstStyle/>
          <a:p>
            <a:pPr indent="0" marL="0">
              <a:buNone/>
            </a:pPr>
            <a:r>
              <a:rPr lang="en-US" sz="3400" b="1" dirty="0">
                <a:solidFill>
                  <a:srgbClr val="FFB700"/>
                </a:solidFill>
                <a:latin typeface="Calibri" pitchFamily="34" charset="0"/>
                <a:ea typeface="Calibri" pitchFamily="34" charset="-122"/>
                <a:cs typeface="Calibri" pitchFamily="34" charset="-120"/>
              </a:rPr>
              <a:t>26</a:t>
            </a:r>
            <a:endParaRPr lang="en-US" sz="3400" dirty="0"/>
          </a:p>
        </p:txBody>
      </p:sp>
      <p:sp>
        <p:nvSpPr>
          <p:cNvPr id="11" name="Text 9"/>
          <p:cNvSpPr txBox="1"/>
          <p:nvPr/>
        </p:nvSpPr>
        <p:spPr>
          <a:xfrm>
            <a:off x="6217920" y="4526280"/>
            <a:ext cx="2468880" cy="548640"/>
          </a:xfrm>
          <a:prstGeom prst="rect">
            <a:avLst/>
          </a:prstGeom>
          <a:noFill/>
          <a:ln/>
        </p:spPr>
        <p:txBody>
          <a:bodyPr wrap="square" lIns="0" tIns="0" rIns="0" bIns="0" rtlCol="0" anchor="ctr"/>
          <a:lstStyle/>
          <a:p>
            <a:pPr indent="0" marL="0">
              <a:lnSpc>
                <a:spcPts val="1500"/>
              </a:lnSpc>
              <a:buNone/>
            </a:pPr>
            <a:r>
              <a:rPr lang="en-US" sz="1150" dirty="0">
                <a:solidFill>
                  <a:srgbClr val="9FB3C8"/>
                </a:solidFill>
                <a:latin typeface="Calibri" pitchFamily="34" charset="0"/>
                <a:ea typeface="Calibri" pitchFamily="34" charset="-122"/>
                <a:cs typeface="Calibri" pitchFamily="34" charset="-120"/>
              </a:rPr>
              <a:t>false findings</a:t>
            </a:r>
            <a:endParaRPr lang="en-US" sz="1150" dirty="0"/>
          </a:p>
          <a:p>
            <a:pPr indent="0" marL="0">
              <a:lnSpc>
                <a:spcPts val="1500"/>
              </a:lnSpc>
              <a:buNone/>
            </a:pPr>
            <a:r>
              <a:rPr lang="en-US" sz="1150" dirty="0">
                <a:solidFill>
                  <a:srgbClr val="9FB3C8"/>
                </a:solidFill>
                <a:latin typeface="Calibri" pitchFamily="34" charset="0"/>
                <a:ea typeface="Calibri" pitchFamily="34" charset="-122"/>
                <a:cs typeface="Calibri" pitchFamily="34" charset="-120"/>
              </a:rPr>
              <a:t>eliminated</a:t>
            </a:r>
            <a:endParaRPr lang="en-US" sz="1150" dirty="0"/>
          </a:p>
        </p:txBody>
      </p:sp>
      <p:sp>
        <p:nvSpPr>
          <p:cNvPr id="12" name="Text 10"/>
          <p:cNvSpPr txBox="1"/>
          <p:nvPr/>
        </p:nvSpPr>
        <p:spPr>
          <a:xfrm>
            <a:off x="8915400" y="3931920"/>
            <a:ext cx="2468880" cy="594360"/>
          </a:xfrm>
          <a:prstGeom prst="rect">
            <a:avLst/>
          </a:prstGeom>
          <a:noFill/>
          <a:ln/>
        </p:spPr>
        <p:txBody>
          <a:bodyPr wrap="square" lIns="0" tIns="0" rIns="0" bIns="0" rtlCol="0" anchor="ctr"/>
          <a:lstStyle/>
          <a:p>
            <a:pPr indent="0" marL="0">
              <a:buNone/>
            </a:pPr>
            <a:r>
              <a:rPr lang="en-US" sz="3400" b="1" dirty="0">
                <a:solidFill>
                  <a:srgbClr val="FFB700"/>
                </a:solidFill>
                <a:latin typeface="Calibri" pitchFamily="34" charset="0"/>
                <a:ea typeface="Calibri" pitchFamily="34" charset="-122"/>
                <a:cs typeface="Calibri" pitchFamily="34" charset="-120"/>
              </a:rPr>
              <a:t>100%</a:t>
            </a:r>
            <a:endParaRPr lang="en-US" sz="3400" dirty="0"/>
          </a:p>
        </p:txBody>
      </p:sp>
      <p:sp>
        <p:nvSpPr>
          <p:cNvPr id="13" name="Text 11"/>
          <p:cNvSpPr txBox="1"/>
          <p:nvPr/>
        </p:nvSpPr>
        <p:spPr>
          <a:xfrm>
            <a:off x="8915400" y="4526280"/>
            <a:ext cx="2468880" cy="548640"/>
          </a:xfrm>
          <a:prstGeom prst="rect">
            <a:avLst/>
          </a:prstGeom>
          <a:noFill/>
          <a:ln/>
        </p:spPr>
        <p:txBody>
          <a:bodyPr wrap="square" lIns="0" tIns="0" rIns="0" bIns="0" rtlCol="0" anchor="ctr"/>
          <a:lstStyle/>
          <a:p>
            <a:pPr indent="0" marL="0">
              <a:lnSpc>
                <a:spcPts val="1500"/>
              </a:lnSpc>
              <a:buNone/>
            </a:pPr>
            <a:r>
              <a:rPr lang="en-US" sz="1150" dirty="0">
                <a:solidFill>
                  <a:srgbClr val="9FB3C8"/>
                </a:solidFill>
                <a:latin typeface="Calibri" pitchFamily="34" charset="0"/>
                <a:ea typeface="Calibri" pitchFamily="34" charset="-122"/>
                <a:cs typeface="Calibri" pitchFamily="34" charset="-120"/>
              </a:rPr>
              <a:t>evaluation</a:t>
            </a:r>
            <a:endParaRPr lang="en-US" sz="1150" dirty="0"/>
          </a:p>
          <a:p>
            <a:pPr indent="0" marL="0">
              <a:lnSpc>
                <a:spcPts val="1500"/>
              </a:lnSpc>
              <a:buNone/>
            </a:pPr>
            <a:r>
              <a:rPr lang="en-US" sz="1150" dirty="0">
                <a:solidFill>
                  <a:srgbClr val="9FB3C8"/>
                </a:solidFill>
                <a:latin typeface="Calibri" pitchFamily="34" charset="0"/>
                <a:ea typeface="Calibri" pitchFamily="34" charset="-122"/>
                <a:cs typeface="Calibri" pitchFamily="34" charset="-120"/>
              </a:rPr>
              <a:t>accuracy</a:t>
            </a:r>
            <a:endParaRPr lang="en-US" sz="1150" dirty="0"/>
          </a:p>
        </p:txBody>
      </p:sp>
      <p:sp>
        <p:nvSpPr>
          <p:cNvPr id="14" name="Text 12"/>
          <p:cNvSpPr txBox="1"/>
          <p:nvPr/>
        </p:nvSpPr>
        <p:spPr>
          <a:xfrm>
            <a:off x="822960" y="5440680"/>
            <a:ext cx="10241280" cy="365760"/>
          </a:xfrm>
          <a:prstGeom prst="rect">
            <a:avLst/>
          </a:prstGeom>
          <a:noFill/>
          <a:ln/>
        </p:spPr>
        <p:txBody>
          <a:bodyPr wrap="square" lIns="0" tIns="0" rIns="0" bIns="0" rtlCol="0" anchor="ctr"/>
          <a:lstStyle/>
          <a:p>
            <a:pPr indent="0" marL="0">
              <a:buNone/>
            </a:pPr>
            <a:r>
              <a:rPr lang="en-US" sz="1400" b="1" dirty="0">
                <a:solidFill>
                  <a:srgbClr val="3FC1C9"/>
                </a:solidFill>
                <a:latin typeface="Courier New" pitchFamily="34" charset="0"/>
                <a:ea typeface="Courier New" pitchFamily="34" charset="-122"/>
                <a:cs typeface="Courier New" pitchFamily="34" charset="-120"/>
              </a:rPr>
              <a:t>github.com/saleha-muzammil/microsoft-sec</a:t>
            </a:r>
            <a:endParaRPr lang="en-US" sz="1400" dirty="0"/>
          </a:p>
        </p:txBody>
      </p:sp>
      <p:sp>
        <p:nvSpPr>
          <p:cNvPr id="15" name="Text 13"/>
          <p:cNvSpPr txBox="1"/>
          <p:nvPr/>
        </p:nvSpPr>
        <p:spPr>
          <a:xfrm>
            <a:off x="822960" y="5897880"/>
            <a:ext cx="10241280" cy="320040"/>
          </a:xfrm>
          <a:prstGeom prst="rect">
            <a:avLst/>
          </a:prstGeom>
          <a:noFill/>
          <a:ln/>
        </p:spPr>
        <p:txBody>
          <a:bodyPr wrap="square" lIns="0" tIns="0" rIns="0" bIns="0" rtlCol="0" anchor="ctr"/>
          <a:lstStyle/>
          <a:p>
            <a:pPr indent="0" marL="0">
              <a:buNone/>
            </a:pPr>
            <a:r>
              <a:rPr lang="en-US" sz="1200" dirty="0">
                <a:solidFill>
                  <a:srgbClr val="7E93A6"/>
                </a:solidFill>
                <a:latin typeface="Calibri" pitchFamily="34" charset="0"/>
                <a:ea typeface="Calibri" pitchFamily="34" charset="-122"/>
                <a:cs typeface="Calibri" pitchFamily="34" charset="-120"/>
              </a:rPr>
              <a:t>Apache-2.0  ·  Built on Microsoft Foundry  ·  Virginia Tech &amp; University of Virginia</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SCuBA Compliance Copilot</dc:title>
  <dc:subject>PptxGenJS Presentation</dc:subject>
  <dc:creator>SCuBA Compliance Copilot</dc:creator>
  <cp:lastModifiedBy>SCuBA Compliance Copilot</cp:lastModifiedBy>
  <cp:revision>1</cp:revision>
  <dcterms:created xsi:type="dcterms:W3CDTF">2026-09-26T00:05:21Z</dcterms:created>
  <dcterms:modified xsi:type="dcterms:W3CDTF">2026-09-26T00:05:21Z</dcterms:modified>
</cp:coreProperties>
</file>