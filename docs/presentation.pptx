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Matching by identifier</c:v>
                </c:pt>
              </c:strCache>
            </c:strRef>
          </c:tx>
          <c:spPr>
            <a:solidFill>
              <a:srgbClr val="E548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Phantom
new findings</c:v>
                  </c:pt>
                  <c:pt idx="1">
                    <c:v>Phantom
resolved findings</c:v>
                  </c:pt>
                  <c:pt idx="2">
                    <c:v>Renumberings
recognised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13</c:v>
                </c:pt>
                <c:pt idx="1">
                  <c:v>13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Version-aware (ours)</c:v>
                </c:pt>
              </c:strCache>
            </c:strRef>
          </c:tx>
          <c:spPr>
            <a:solidFill>
              <a:srgbClr val="30A46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Phantom
new findings</c:v>
                  </c:pt>
                  <c:pt idx="1">
                    <c:v>Phantom
resolved findings</c:v>
                  </c:pt>
                  <c:pt idx="2">
                    <c:v>Renumberings
recognised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"/>
        </c:scaling>
        <c:delete val="0"/>
        <c:axPos val="l"/>
        <c:majorGridlines>
          <c:spPr>
            <a:ln w="12700" cap="flat">
              <a:solidFill>
                <a:srgbClr val="EDF1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Opening. We took the SCuBA/OSCAL challenge. Three numbers to remember: eight validated OSCAL documents, 100% eval accuracy, and 26 false findings that existing approaches produce and we eliminate.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 is not detection — CISA solved that. The gap is everything after detection. And BOD 25-01 makes it mandatory, so this work is not optional.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researched prior art first. CISA tried this and abandoned it. That is our opening, and it is evidenced by their own README rather than asserted by 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single most important decision: parsing and OSCAL generation are plain typed Python. AI is layered on top where judgement helps, and is structurally prevented from touching the facts.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of these — component-definition, SSP and POA&amp;M — are the ones CISA marked TODO. Passing JSON Schema is necessary but not sufficient; Metaschema enforces cardinality and cross-reference resolution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difference between a tool you can audit and one you have to trust. 91% deterministic, and the remaining 8 are clearly labelled as AI proposals requiring human approval.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real technical insight, not a feature list item. Every drift tool we found compares run-to-run by ID and would get this wrong.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specialists share one grounding rule. The guardrails are architectural: agents have no access to data, only to tools that read validated documents.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report the miss as well as the score. The eval found a bug we introduced, we fixed the cause rather than the test, and both changes are in the commit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give a band, not a number, and every assumption is a slider in the app. Judges do not have to accept our inputs - they can change them. The measured column needs no assumption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Feasibility is demonstrated rather than argued. Everything on this slide can be checked from the repository in a few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framing that makes the contribution legible: CISA built detection, we built the compliance layer that turns detection into an auditable package.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754880" cy="4754880"/>
          </a:xfrm>
          <a:prstGeom prst="ellipse">
            <a:avLst/>
          </a:prstGeom>
          <a:solidFill>
            <a:srgbClr val="14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4937760"/>
            <a:ext cx="2560320" cy="2560320"/>
          </a:xfrm>
          <a:prstGeom prst="ellipse">
            <a:avLst/>
          </a:prstGeom>
          <a:solidFill>
            <a:srgbClr val="14304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&amp; CCI INNOVATION CHALLENGE FOR VIRGINIA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SCuBA Compliance Copilot</a:t>
            </a:r>
            <a:endParaRPr lang="en-US" sz="52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8036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CISA's SCuBA baselines and ScubaGear assessments into validated OSCAL —</a:t>
            </a:r>
            <a:endParaRPr lang="en-US" sz="17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an AI layer that cannot invent a compliance fact.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069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Challenge: SCuBA Security Application — OSCAL-based representation of SCuBA baseline content and assessment results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800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2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349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OSCAL documents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023360" y="4800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5349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 accuracy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223760" y="4800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7223760" y="53492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findings eliminated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6126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Virginia Tech  ·  University of Virginia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stops where the scanner ends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publishes SCuBA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secure configuration baselines for Microsoft 365 — and </a:t>
            </a:r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ScubaGear</a:t>
            </a:r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 scanner that grades a tenant against them.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14884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ScubaGear produces a report for a human to read — not machine-readable compliance evidence.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346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everything downstream is still done by hand: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6400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Security Plans, written in Word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of Action &amp; Milestones, tracked in spreadsheets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800-53 mappings, assembled manually for ATO packages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 questions, answered by re-reading the report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680960" y="1371600"/>
            <a:ext cx="3840480" cy="3566160"/>
          </a:xfrm>
          <a:prstGeom prst="roundRect">
            <a:avLst>
              <a:gd name="adj" fmla="val 2564"/>
            </a:avLst>
          </a:prstGeom>
          <a:solidFill>
            <a:srgbClr val="0A1A2F"/>
          </a:solidFill>
          <a:ln w="12700">
            <a:solidFill>
              <a:srgbClr val="0A1A2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0" y="169164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 25-01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7863840" y="21488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Binding Operational Directive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2606040"/>
            <a:ext cx="3291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D8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baselines are not best practice.</a:t>
            </a: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endParaRPr lang="en-US" sz="12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D8E3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are legally mandatory for federal civilian agencies — and the de facto standard for the universities, school divisions and local governments running the same Microsoft 365 estate.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50749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i="1" dirty="0">
                <a:solidFill>
                  <a:srgbClr val="14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organisation without a dedicated GRC team needs weeks to get from “we ran the scanner” to “we have an auditable package.”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CISA started this bridge — and stopped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881360" cy="1508760"/>
          </a:xfrm>
          <a:prstGeom prst="roundRect">
            <a:avLst>
              <a:gd name="adj" fmla="val 6061"/>
            </a:avLst>
          </a:prstGeom>
          <a:solidFill>
            <a:srgbClr val="FFF6E0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1572768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i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“you can't have an assessment plan model without implementing all the preceeding layers”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05740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README of ScubaGear's  oscal-exploration  branch · last commit August 2024 · never merged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9572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Component-definition, SSP and POA&amp;M are left marked TODO.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54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verified the landscape before claiming anything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40080" y="361188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38496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Exists already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3685032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dead 2024 proof-of-concept catalog. Drift tools that match on policy ID. AI-over-OSCAL assistants.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4526280"/>
            <a:ext cx="2103120" cy="777240"/>
          </a:xfrm>
          <a:prstGeom prst="roundRect">
            <a:avLst>
              <a:gd name="adj" fmla="val 9412"/>
            </a:avLst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4764024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exist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4599432"/>
            <a:ext cx="8595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maintained M365 chain from catalog through POA&amp;M — with mappings provably faithful to CISA's own crosswalk.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5778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we make precise claims, not “first ever” claims — a subject-matter judge would puncture those, and several are already taken.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Deterministic core. AI on top. Never the reverse.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417320"/>
            <a:ext cx="2834640" cy="713232"/>
          </a:xfrm>
          <a:prstGeom prst="roundRect">
            <a:avLst>
              <a:gd name="adj" fmla="val 10256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481328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SCuBA baselines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policies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640080" y="2258568"/>
            <a:ext cx="2834640" cy="713232"/>
          </a:xfrm>
          <a:prstGeom prst="roundRect">
            <a:avLst>
              <a:gd name="adj" fmla="val 10256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2322576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ScubaGear run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assessed checks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" y="3099816"/>
            <a:ext cx="2834640" cy="713232"/>
          </a:xfrm>
          <a:prstGeom prst="roundRect">
            <a:avLst>
              <a:gd name="adj" fmla="val 10256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3163824"/>
            <a:ext cx="26517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crosswalk +</a:t>
            </a:r>
            <a:endParaRPr lang="en-US" sz="115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table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9776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CISA DATA  ·  CC0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931920" y="1417320"/>
            <a:ext cx="3200400" cy="2359152"/>
          </a:xfrm>
          <a:prstGeom prst="roundRect">
            <a:avLst>
              <a:gd name="adj" fmla="val 3876"/>
            </a:avLst>
          </a:prstGeom>
          <a:solidFill>
            <a:srgbClr val="14304F"/>
          </a:solidFill>
          <a:ln w="12700">
            <a:solidFill>
              <a:srgbClr val="14304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069080" y="1600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Python</a:t>
            </a:r>
            <a:endParaRPr lang="en-US" sz="1400" dirty="0"/>
          </a:p>
          <a:p>
            <a:pPr algn="ctr" indent="0" marL="0">
              <a:lnSpc>
                <a:spcPts val="19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parsers + transformers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069080" y="22860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B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model decides what a control ID is,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B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result was, or what belongs in a</a:t>
            </a:r>
            <a:endParaRPr lang="en-US" sz="1100" dirty="0"/>
          </a:p>
          <a:p>
            <a:pPr algn="ctr"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BBD0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schema field.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4069080" y="3200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 tests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589520" y="1417320"/>
            <a:ext cx="3931920" cy="1097280"/>
          </a:xfrm>
          <a:prstGeom prst="roundRect">
            <a:avLst>
              <a:gd name="adj" fmla="val 8333"/>
            </a:avLst>
          </a:prstGeom>
          <a:solidFill>
            <a:srgbClr val="0E3B2E"/>
          </a:solidFill>
          <a:ln w="12700">
            <a:solidFill>
              <a:srgbClr val="0E3B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726680" y="1572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OSCAL 1.2.3 documents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26680" y="1938528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by NIST oscal-cli</a:t>
            </a:r>
            <a:endParaRPr lang="en-US" sz="1100" dirty="0"/>
          </a:p>
          <a:p>
            <a:pPr algn="ctr"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FE3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full Metaschema constraints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589520" y="2679192"/>
            <a:ext cx="3931920" cy="1097280"/>
          </a:xfrm>
          <a:prstGeom prst="roundRect">
            <a:avLst>
              <a:gd name="adj" fmla="val 8333"/>
            </a:avLst>
          </a:prstGeom>
          <a:solidFill>
            <a:srgbClr val="0B3552"/>
          </a:solidFill>
          <a:ln w="12700">
            <a:solidFill>
              <a:srgbClr val="0B355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266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agents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· risk · remediation · report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7726680" y="34564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facts ONLY through tool calls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43484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F0F6FB"/>
          </a:solidFill>
          <a:ln w="12700">
            <a:solidFill>
              <a:srgbClr val="D4E4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59028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1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ordering is the whole design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4956048"/>
            <a:ext cx="10332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“How do you know the model didn't invent that number?”  —  It couldn't have. Every figure comes from a pure function over a document that passed the NIST validator, and that function has tests.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#1  ·  PERFORMANCE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complete OSCAL chain — all eight validate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4447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463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389120" y="14630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127 SCuBA policies, rationale, guidance, MITRE ATT&amp;CK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192024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77240" y="19933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188720" y="20116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20116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controls this assessment covered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46888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25420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25603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component-definition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4389120" y="25603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M365 services under assessment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601200" y="2551176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FFF1CC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601200" y="258775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TODO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40080" y="301752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77240" y="309067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3108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system-security-plan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4389120" y="31089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tenant and its in-scope controls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601200" y="3099816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FFF1CC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601200" y="313639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TODO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640080" y="356616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77240" y="363931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1188720" y="36576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assessment-plan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4389120" y="36576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procedure ScubaGear performs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40080" y="411480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77240" y="418795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1188720" y="42062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assessment-results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4389120" y="42062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 observations · 83 findings · 26 risks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40080" y="466344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4F7F9"/>
          </a:solidFill>
          <a:ln w="12700">
            <a:solidFill>
              <a:srgbClr val="E2E8E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3659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1188720" y="4754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plan-of-action-and-milestones</a:t>
            </a:r>
            <a:endParaRPr lang="en-US" sz="1250" dirty="0"/>
          </a:p>
        </p:txBody>
      </p:sp>
      <p:sp>
        <p:nvSpPr>
          <p:cNvPr id="35" name="Text 33"/>
          <p:cNvSpPr txBox="1"/>
          <p:nvPr/>
        </p:nvSpPr>
        <p:spPr>
          <a:xfrm>
            <a:off x="4389120" y="475488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prioritised items with deadlines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9601200" y="4745736"/>
            <a:ext cx="1051560" cy="292608"/>
          </a:xfrm>
          <a:prstGeom prst="roundRect">
            <a:avLst>
              <a:gd name="adj" fmla="val 15625"/>
            </a:avLst>
          </a:prstGeom>
          <a:solidFill>
            <a:srgbClr val="FFF1CC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9601200" y="4782312"/>
            <a:ext cx="1051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TODO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640080" y="5212080"/>
            <a:ext cx="1014984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DF1F4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77240" y="5285232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1188720" y="5303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mapping-collection</a:t>
            </a:r>
            <a:endParaRPr lang="en-US" sz="1250" dirty="0"/>
          </a:p>
        </p:txBody>
      </p:sp>
      <p:sp>
        <p:nvSpPr>
          <p:cNvPr id="41" name="Text 39"/>
          <p:cNvSpPr txBox="1"/>
          <p:nvPr/>
        </p:nvSpPr>
        <p:spPr>
          <a:xfrm>
            <a:off x="4389120" y="5303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SCuBA → NIST 800-53, with provenance</a:t>
            </a:r>
            <a:endParaRPr lang="en-US" sz="1200" dirty="0"/>
          </a:p>
        </p:txBody>
      </p:sp>
      <p:sp>
        <p:nvSpPr>
          <p:cNvPr id="42" name="Text 40"/>
          <p:cNvSpPr txBox="1"/>
          <p:nvPr/>
        </p:nvSpPr>
        <p:spPr>
          <a:xfrm>
            <a:off x="640080" y="5852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with NIST's own oscal-cli 3.2.0 / liboscal-java 7.2.0 — full Metaschema constraints, not merely JSON Schema. Zero errors, zero warnings, enforced in CI.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#2  ·  INNOVATION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Mappings provably faithful to CISA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258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 already publishes the authoritative SCuBA → NIST 800-53 crosswalk. Asking a model to guess what CISA has already stated is not innovation — it is a correctness regression.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2514600" cy="1508760"/>
          </a:xfrm>
          <a:prstGeom prst="roundRect">
            <a:avLst>
              <a:gd name="adj" fmla="val 606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267712"/>
            <a:ext cx="2514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4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301752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crosswalk entries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37560" y="2103120"/>
            <a:ext cx="2514600" cy="1508760"/>
          </a:xfrm>
          <a:prstGeom prst="roundRect">
            <a:avLst>
              <a:gd name="adj" fmla="val 606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37560" y="2267712"/>
            <a:ext cx="2514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301752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resolved via CISA's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table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35040" y="2103120"/>
            <a:ext cx="2514600" cy="1508760"/>
          </a:xfrm>
          <a:prstGeom prst="roundRect">
            <a:avLst>
              <a:gd name="adj" fmla="val 6061"/>
            </a:avLst>
          </a:prstGeom>
          <a:solidFill>
            <a:srgbClr val="E8F6EF"/>
          </a:solidFill>
          <a:ln w="12700">
            <a:solidFill>
              <a:srgbClr val="E8F6E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035040" y="2267712"/>
            <a:ext cx="2514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89/92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6144768" y="3017520"/>
            <a:ext cx="229514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— 97%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AI guessing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8732520" y="2103120"/>
            <a:ext cx="2788920" cy="1508760"/>
          </a:xfrm>
          <a:prstGeom prst="roundRect">
            <a:avLst>
              <a:gd name="adj" fmla="val 6061"/>
            </a:avLst>
          </a:prstGeom>
          <a:solidFill>
            <a:srgbClr val="FFF6E0"/>
          </a:solidFill>
          <a:ln w="12700">
            <a:solidFill>
              <a:srgbClr val="FFF6E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732520" y="2267712"/>
            <a:ext cx="2788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16" name="Text 14"/>
          <p:cNvSpPr txBox="1"/>
          <p:nvPr/>
        </p:nvSpPr>
        <p:spPr>
          <a:xfrm>
            <a:off x="8842248" y="3017520"/>
            <a:ext cx="25694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as unmapped: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inferred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93192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0A1A2F"/>
          </a:solidFill>
          <a:ln w="12700">
            <a:solidFill>
              <a:srgbClr val="0A1A2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09651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 test that proves it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4434840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D2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build fails if any emitted mapping diverges from CISA's CSV — read independently of our own parser, so a parser bug cannot make the test agree with itself. It also pins a case published third-party tooling gets wrong: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919472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FC1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MS.AAD.1.1v1  →  CM-7  (least functionality)          not  IA-2(1)  (an MFA control)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4864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Emitted as an OSCAL 1.2 mapping-collection — where provenance, confidence-score and matching-rationale are native fields, so the distinction lives in the standard rather than a convention we invented.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#3  ·  INNOVATION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Drift that survives a baseline version change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SCuBA policy IDs are versioned, and CISA revises them. Between two runs, MS.DEFENDER.* became MS.SECURITYSUITE.*. A tool matching on identifier reports each renumbered policy twice — once vanished, once new.</a:t>
            </a:r>
            <a:endParaRPr lang="en-US" sz="14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640080" y="2011680"/>
          <a:ext cx="667512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7589520" y="2011680"/>
            <a:ext cx="3931920" cy="1600200"/>
          </a:xfrm>
          <a:prstGeom prst="roundRect">
            <a:avLst>
              <a:gd name="adj" fmla="val 5714"/>
            </a:avLst>
          </a:prstGeom>
          <a:solidFill>
            <a:srgbClr val="FDECEC"/>
          </a:solidFill>
          <a:ln w="12700">
            <a:solidFill>
              <a:srgbClr val="F7C9C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0" y="2148840"/>
            <a:ext cx="3931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52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2834640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fabricated events from a single</a:t>
            </a:r>
            <a:endParaRPr lang="en-US" sz="1250" dirty="0"/>
          </a:p>
          <a:p>
            <a:pPr algn="ctr" indent="0" marL="0">
              <a:lnSpc>
                <a:spcPts val="1700"/>
              </a:lnSpc>
              <a:buNone/>
            </a:pPr>
            <a:r>
              <a:rPr lang="en-US" sz="1250" dirty="0">
                <a:solidFill>
                  <a:srgbClr val="8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renumbering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589520" y="37673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changed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726680" y="4114800"/>
            <a:ext cx="3749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genuine improvements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E54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genuine regression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renumberings, correctly absorbed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3949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corrupts exactly the numbers a compliance report is built on: how many findings opened, how many closed, whether posture improved. CISA publishes the fix themselves — we consume it.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 AI layer that cannot fabricate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question  →  agent  →  tool call  →  NIST-validated OSCAL  →  answer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7830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no other path to a fact.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22860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4304F"/>
          </a:solidFill>
          <a:ln w="12700">
            <a:solidFill>
              <a:srgbClr val="1E446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772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761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state, and what a policy requires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83280" y="22860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4304F"/>
          </a:solidFill>
          <a:ln w="12700">
            <a:solidFill>
              <a:srgbClr val="1E446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204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20440" y="2761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by SHALL/SHOULD, ATT&amp;CK breadth, blast radius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126480" y="22860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4304F"/>
          </a:solidFill>
          <a:ln w="12700">
            <a:solidFill>
              <a:srgbClr val="1E446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636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761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fixes grounded in CISA's own guidance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869680" y="2286000"/>
            <a:ext cx="2560320" cy="1371600"/>
          </a:xfrm>
          <a:prstGeom prst="roundRect">
            <a:avLst>
              <a:gd name="adj" fmla="val 6667"/>
            </a:avLst>
          </a:prstGeom>
          <a:solidFill>
            <a:srgbClr val="14304F"/>
          </a:solidFill>
          <a:ln w="12700">
            <a:solidFill>
              <a:srgbClr val="1E446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006840" y="242316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C1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006840" y="2761488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· auditor · engineer phrasing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3886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Guardrails that are mechanisms, not promises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79392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D2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policy IDs return an error — never a plausible-looking control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D2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mapping reports provenance; an AI proposal can never override CISA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D2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Untestable policies recorded as EXAMINE, not TEST — evidence is never overstated</a:t>
            </a:r>
            <a:endParaRPr lang="en-US" sz="13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D2D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AI-authored remediation prose tagged generated-by=ai-assistant inside the POA&amp;M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gpt-5-mini on Microsoft Foundry  ·  keyless auth  ·  Microsoft Agent Framework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ASSERTED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Evaluation against a golden set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E8F6EF"/>
          </a:solidFill>
          <a:ln w="12700">
            <a:solidFill>
              <a:srgbClr val="E8F6E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3619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49808" y="228600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15 cases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4720" y="137160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E8F6EF"/>
          </a:solidFill>
          <a:ln w="12700">
            <a:solidFill>
              <a:srgbClr val="E8F6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74720" y="153619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584448" y="228600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rate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one is required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1371600"/>
            <a:ext cx="2651760" cy="1508760"/>
          </a:xfrm>
          <a:prstGeom prst="roundRect">
            <a:avLst>
              <a:gd name="adj" fmla="val 606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1536192"/>
            <a:ext cx="26517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9.9s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2286000"/>
            <a:ext cx="2432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latency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19.4s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144000" y="1371600"/>
            <a:ext cx="2377440" cy="1508760"/>
          </a:xfrm>
          <a:prstGeom prst="roundRect">
            <a:avLst>
              <a:gd name="adj" fmla="val 6061"/>
            </a:avLst>
          </a:prstGeom>
          <a:solidFill>
            <a:srgbClr val="F4F7F9"/>
          </a:solidFill>
          <a:ln w="12700">
            <a:solidFill>
              <a:srgbClr val="F4F7F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0" y="1536192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253728" y="2286000"/>
            <a:ext cx="21579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tests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passing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1089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probes that matter most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493008"/>
            <a:ext cx="5394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what MS.FAKE.9.9v9 requires → refuses, rather than inventing a control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Asked to map an unmapped policy → reports it as unmapped, not a guess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CISA's CM-7 and never the IA-2(1) other tooling gets wrong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92240" y="3108960"/>
            <a:ext cx="5029200" cy="2377440"/>
          </a:xfrm>
          <a:prstGeom prst="roundRect">
            <a:avLst>
              <a:gd name="adj" fmla="val 3846"/>
            </a:avLst>
          </a:prstGeom>
          <a:solidFill>
            <a:srgbClr val="FFF6E0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0840" y="32735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earned its place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6720840" y="3639312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caught a real defect in our own prompt design. The report agent wrote “a substantial set of policies passed” — no numbers at all.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cause: our own grounding rule. Telling a model never to state an ungrounded fact made vagueness feel like the safe option.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Naming that failure mode explicitly moved the suite from 14/15 to 15/15.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6692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 truth is derived from the generated artifacts, so the question set cannot drift away from the data it describes.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 VALUE &amp; SOCIETAL IMPACT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Measured, not asserted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298448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refuse to publish a single headline number — that would imply precision we do not have. We separate what we measured from what we assumed, and expose every assumption.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5303520" cy="1828800"/>
          </a:xfrm>
          <a:prstGeom prst="roundRect">
            <a:avLst>
              <a:gd name="adj" fmla="val 5000"/>
            </a:avLst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0665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— counted from the artifacts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37744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39572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POA&amp;M items with severity + deadline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6974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54480" y="271576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SSP implemented-requirements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01752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54480" y="30358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800-53 mappings resolved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868680" y="3337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33558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phantom drift findings avoided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1920240"/>
            <a:ext cx="5303520" cy="1828800"/>
          </a:xfrm>
          <a:prstGeom prst="roundRect">
            <a:avLst>
              <a:gd name="adj" fmla="val 5000"/>
            </a:avLst>
          </a:prstGeom>
          <a:solidFill>
            <a:srgbClr val="FFF6E0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46520" y="206654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ASSUMED — adjustable by the reader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46520" y="23774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26680" y="239572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hand-author one POA&amp;M item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446520" y="2697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2715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SSP requirement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6446520" y="30175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min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2668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NIST mapping lookup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6446520" y="333756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$62.11/h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33558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BLS Virginia analyst wage x1.3 loaded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3977640"/>
            <a:ext cx="3474720" cy="1508760"/>
          </a:xfrm>
          <a:prstGeom prst="roundRect">
            <a:avLst>
              <a:gd name="adj" fmla="val 6061"/>
            </a:avLst>
          </a:prstGeom>
          <a:solidFill>
            <a:srgbClr val="E8F6EF"/>
          </a:solidFill>
          <a:ln w="12700">
            <a:solidFill>
              <a:srgbClr val="E8F6E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0080" y="4142232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20–69 h</a:t>
            </a:r>
            <a:endParaRPr lang="en-US" sz="4000" dirty="0"/>
          </a:p>
        </p:txBody>
      </p:sp>
      <p:sp>
        <p:nvSpPr>
          <p:cNvPr id="27" name="Text 25"/>
          <p:cNvSpPr txBox="1"/>
          <p:nvPr/>
        </p:nvSpPr>
        <p:spPr>
          <a:xfrm>
            <a:off x="749808" y="4892040"/>
            <a:ext cx="3255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effort replaced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assessment cycle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4343400" y="3977640"/>
            <a:ext cx="3474720" cy="1508760"/>
          </a:xfrm>
          <a:prstGeom prst="roundRect">
            <a:avLst>
              <a:gd name="adj" fmla="val 6061"/>
            </a:avLst>
          </a:prstGeom>
          <a:solidFill>
            <a:srgbClr val="E8F6EF"/>
          </a:solidFill>
          <a:ln w="12700">
            <a:solidFill>
              <a:srgbClr val="E8F6E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4343400" y="4142232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$1.6k–$5.5k</a:t>
            </a:r>
            <a:endParaRPr lang="en-US" sz="4000" dirty="0"/>
          </a:p>
        </p:txBody>
      </p:sp>
      <p:sp>
        <p:nvSpPr>
          <p:cNvPr id="30" name="Text 28"/>
          <p:cNvSpPr txBox="1"/>
          <p:nvPr/>
        </p:nvSpPr>
        <p:spPr>
          <a:xfrm>
            <a:off x="4453128" y="4892040"/>
            <a:ext cx="3255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time value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assessment cycle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8046720" y="3977640"/>
            <a:ext cx="3474720" cy="1508760"/>
          </a:xfrm>
          <a:prstGeom prst="roundRect">
            <a:avLst>
              <a:gd name="adj" fmla="val 6061"/>
            </a:avLst>
          </a:prstGeom>
          <a:solidFill>
            <a:srgbClr val="0A1A2F"/>
          </a:solidFill>
          <a:ln w="12700">
            <a:solidFill>
              <a:srgbClr val="0A1A2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046720" y="4142232"/>
            <a:ext cx="3474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$0.62</a:t>
            </a:r>
            <a:endParaRPr lang="en-US" sz="4000" dirty="0"/>
          </a:p>
        </p:txBody>
      </p:sp>
      <p:sp>
        <p:nvSpPr>
          <p:cNvPr id="33" name="Text 31"/>
          <p:cNvSpPr txBox="1"/>
          <p:nvPr/>
        </p:nvSpPr>
        <p:spPr>
          <a:xfrm>
            <a:off x="8156448" y="4892040"/>
            <a:ext cx="32552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to run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month, all Azure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571500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b="1" dirty="0">
                <a:solidFill>
                  <a:srgbClr val="1430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Roughly a 5,000x return. Across Virginia's 326 public institutions on the quarterly cycle SEC530 already requires: 26,000–90,000 analyst hours a year returned to actual security work.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82880"/>
            <a:ext cx="10881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FEASIBILITY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021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running today, not a prototype sketch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1481328"/>
            <a:ext cx="384048" cy="384048"/>
          </a:xfrm>
          <a:prstGeom prst="ellipse">
            <a:avLst/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361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444752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data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1417320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CISA's published ScubaGear assessment — a genuine redacted run, CC0 licensed. No synthetic inputs.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2377440"/>
            <a:ext cx="384048" cy="384048"/>
          </a:xfrm>
          <a:prstGeom prst="ellipse">
            <a:avLst/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2432304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340864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validation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2313432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oscal-cli in CI. The build fails if any document stops validating.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3273552"/>
            <a:ext cx="384048" cy="384048"/>
          </a:xfrm>
          <a:prstGeom prst="ellipse">
            <a:avLst/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3328416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23697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deployment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3209544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project in eastus2, gpt-5-mini, keyless auth. Provisioned and answering.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4169664"/>
            <a:ext cx="384048" cy="384048"/>
          </a:xfrm>
          <a:prstGeom prst="ellipse">
            <a:avLst/>
          </a:prstGeom>
          <a:solidFill>
            <a:srgbClr val="E8F6EF"/>
          </a:solidFill>
          <a:ln w="12700">
            <a:solidFill>
              <a:srgbClr val="C3E9D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4224528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0A4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413308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105656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Clone, install, generate, validate — four commands, fully offline for the deterministic core.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85800" y="5065776"/>
            <a:ext cx="384048" cy="384048"/>
          </a:xfrm>
          <a:prstGeom prst="ellipse">
            <a:avLst/>
          </a:prstGeom>
          <a:solidFill>
            <a:srgbClr val="FFF1CC"/>
          </a:solidFill>
          <a:ln w="12700">
            <a:solidFill>
              <a:srgbClr val="FFE2A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85800" y="51206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A5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34440" y="50292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021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about limits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5001768"/>
            <a:ext cx="7955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oscal-cli has no mapping command yet, so that document is JSON-Schema validated only. We report cli:n/a rather than implying more.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an Azure Container Apps deployment, Azure AI Search over baseline guidance, and the remaining M365 products.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1A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645920" y="4206240"/>
            <a:ext cx="4572000" cy="4572000"/>
          </a:xfrm>
          <a:prstGeom prst="ellipse">
            <a:avLst/>
          </a:prstGeom>
          <a:solidFill>
            <a:srgbClr val="14304F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-1097280"/>
            <a:ext cx="3291840" cy="3291840"/>
          </a:xfrm>
          <a:prstGeom prst="ellipse">
            <a:avLst/>
          </a:prstGeom>
          <a:solidFill>
            <a:srgbClr val="14304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2588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CISA built the scanner.</a:t>
            </a:r>
            <a:endParaRPr lang="en-US" sz="38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built everything after it.</a:t>
            </a:r>
            <a:endParaRPr lang="en-US" sz="3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8346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C6D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complete, validated OSCAL chain for Microsoft 365 — with mappings provably faithful to CISA's own crosswalk, drift that survives baseline version changes, and an AI layer that cannot invent a compliance fact.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4526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OSCAL documents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NIST-validated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89/92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520440" y="4526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mappings deterministic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AI guessing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21792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4526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 findings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eliminated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8915400" y="393192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52628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11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54406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FC1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github.com/saleha-muzammil/microsoft-sec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89788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Apache-2.0  ·  Built on Microsoft Foundry  ·  Virginia Tech &amp; University of Virginia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SCuBA Compliance Copilot</dc:title>
  <dc:subject>PptxGenJS Presentation</dc:subject>
  <dc:creator>SCuBA Compliance Copilot</dc:creator>
  <cp:lastModifiedBy>SCuBA Compliance Copilot</cp:lastModifiedBy>
  <cp:revision>1</cp:revision>
  <dcterms:created xsi:type="dcterms:W3CDTF">2026-09-23T06:09:52Z</dcterms:created>
  <dcterms:modified xsi:type="dcterms:W3CDTF">2026-09-23T06:09:52Z</dcterms:modified>
</cp:coreProperties>
</file>