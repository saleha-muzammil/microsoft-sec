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Matching by identifier</c:v>
                </c:pt>
              </c:strCache>
            </c:strRef>
          </c:tx>
          <c:spPr>
            <a:solidFill>
              <a:srgbClr val="E548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Phantom
new findings</c:v>
                  </c:pt>
                  <c:pt idx="1">
                    <c:v>Phantom
resolved findings</c:v>
                  </c:pt>
                  <c:pt idx="2">
                    <c:v>Renumberings
recognised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13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Version-aware (ours)</c:v>
                </c:pt>
              </c:strCache>
            </c:strRef>
          </c:tx>
          <c:spPr>
            <a:solidFill>
              <a:srgbClr val="30A4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Phantom
new findings</c:v>
                  </c:pt>
                  <c:pt idx="1">
                    <c:v>Phantom
resolved findings</c:v>
                  </c:pt>
                  <c:pt idx="2">
                    <c:v>Renumberings
recognised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0"/>
        <c:axPos val="l"/>
        <c:majorGridlines>
          <c:spPr>
            <a:ln w="12700" cap="flat">
              <a:solidFill>
                <a:srgbClr val="ED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We took the SCuBA/OSCAL challenge. Three numbers to remember: eight validated OSCAL documents, 100% eval accuracy, and 26 false findings that existing approaches produce and we eliminate.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is not detection — CISA solved that. The gap is everything after detection. And BOD 25-01 makes it mandatory, so this work is not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researched prior art first. CISA tried this and abandoned it. That is our opening, and it is evidenced by their own README rather than asserted by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decision: parsing and OSCAL generation are plain typed Python. AI is layered on top where judgement helps, and is structurally prevented from touching the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of these — component-definition, SSP and POA&amp;M — are the ones CISA marked TODO. Passing JSON Schema is necessary but not sufficient; Metaschema enforces cardinality and cross-reference resolution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difference between a tool you can audit and one you have to trust. 91% deterministic, and the remaining 8 are clearly labelled as AI proposals requiring human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technical insight, not a feature list item. Every drift tool we found compares run-to-run by ID and would get this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specialists share one grounding rule. The guardrails are architectural: agents have no access to data, only to tools that read validated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report the miss as well as the score. The eval found a bug we introduced, we fixed the cause rather than the test, and both changes are in the commit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societal case: compliance capability is currently gated on having a GRC team. This removes that gate for exactly the institutions that do not have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is demonstrated rather than argued. Everything on this slide can be checked from the repository in a few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framing that makes the contribution legible: CISA built detection, we built the compliance layer that turns detection into an auditable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754880" cy="4754880"/>
          </a:xfrm>
          <a:prstGeom prst="ellipse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937760"/>
            <a:ext cx="2560320" cy="2560320"/>
          </a:xfrm>
          <a:prstGeom prst="ellipse">
            <a:avLst/>
          </a:prstGeom>
          <a:solidFill>
            <a:srgbClr val="1430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&amp; CCI INNOVATION CHALLENGE FOR VIRGINIA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SCuBA Compliance Copilot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CISA's SCuBA baselines and ScubaGear assessments into validated OSCAL —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AI layer that cannot invent a compliance fact.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SCuBA Security Application — OSCAL-based representation of SCuBA baseline content and assessment results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00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49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OSCAL documents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4800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5349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accuracy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4800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5349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findings eliminated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Virginia Tech  ·  University of Virginia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stops where the scanner ends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publishes SCuBA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secure configuration baselines for Microsoft 365 — and 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ScubaGear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scanner that grades a tenant against them.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ScubaGear produces a report for a human to read — not machine-readable compliance evidence.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everything downstream is still done by hand: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Security Plans, written in Word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of Action &amp; Milestones, tracked in spreadsheets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800-53 mappings, assembled manually for ATO packages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questions, answered by re-reading the report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0" y="1371600"/>
            <a:ext cx="3840480" cy="3566160"/>
          </a:xfrm>
          <a:prstGeom prst="roundRect">
            <a:avLst>
              <a:gd name="adj" fmla="val 2564"/>
            </a:avLst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0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 25-01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Binding Operational Directive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60604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baselines are not best practice.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legally mandatory for federal civilian agencies — and the de facto standard for the universities, school divisions and local governments running the same Microsoft 365 estate.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organisation without a dedicated GRC team needs weeks to get from “we ran the scanner” to “we have an auditable package.”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CISA started this bridge — and stopped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FFF6E0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727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0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can't have an assessment plan model without implementing all the preceeding layers”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5740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README of ScubaGear's  oscal-exploration  branch · last commit August 2024 · never merged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957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Component-definition, SSP and POA&amp;M are left marked TODO.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54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verified the landscape before claiming anything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8496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already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685032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 2024 proof-of-concept catalog. Drift tools that match on policy ID. AI-over-OSCAL assistants.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E8F6EF"/>
          </a:solidFill>
          <a:ln w="12700">
            <a:solidFill>
              <a:srgbClr val="C3E9D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7640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exist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4599432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maintained M365 chain from catalog through POA&amp;M — with mappings provably faithful to CISA's own crosswalk.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577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make precise claims, not “first ever” claims — a subject-matter judge would puncture those, and several are already taken.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core. AI on top. Never the reverse.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834640" cy="713232"/>
          </a:xfrm>
          <a:prstGeom prst="roundRect">
            <a:avLst>
              <a:gd name="adj" fmla="val 10256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SCuBA baselines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policies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2834640" cy="713232"/>
          </a:xfrm>
          <a:prstGeom prst="roundRect">
            <a:avLst>
              <a:gd name="adj" fmla="val 10256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32257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ScubaGear run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assessed checks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099816"/>
            <a:ext cx="2834640" cy="713232"/>
          </a:xfrm>
          <a:prstGeom prst="roundRect">
            <a:avLst>
              <a:gd name="adj" fmla="val 10256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163824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crosswalk +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table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77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CISA DATA  ·  CC0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31920" y="1417320"/>
            <a:ext cx="3200400" cy="2359152"/>
          </a:xfrm>
          <a:prstGeom prst="roundRect">
            <a:avLst>
              <a:gd name="adj" fmla="val 3876"/>
            </a:avLst>
          </a:prstGeom>
          <a:solidFill>
            <a:srgbClr val="14304F"/>
          </a:solidFill>
          <a:ln w="12700">
            <a:solidFill>
              <a:srgbClr val="1430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69080" y="1600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Python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parsers + transformers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2286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B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decides what a control ID is,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B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result was, or what belongs in a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B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schema field.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tests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89520" y="141732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0E3B2E"/>
          </a:solidFill>
          <a:ln w="12700">
            <a:solidFill>
              <a:srgbClr val="0E3B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OSCAL 1.2.3 documents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19385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NIST oscal-cli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Metaschema constraints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0" y="2679192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0B3552"/>
          </a:solidFill>
          <a:ln w="12700">
            <a:solidFill>
              <a:srgbClr val="0B35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 agents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· risk · remediation · report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facts ONLY through tool calls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0F6FB"/>
          </a:solidFill>
          <a:ln w="12700">
            <a:solidFill>
              <a:srgbClr val="D4E4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5902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ordering is the whole design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956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you know the model didn't invent that number?”  —  It couldn't have. Every figure comes from a pure function over a document that passed the NIST validator, and that function has tests.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#1  · 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OSCAL chain — all eight validate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149840" cy="4572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63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SCuBA policies, rationale, guidance, MITRE ATT&amp;CK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10149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11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0116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controls this assessment covered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10149840" cy="4572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542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560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component-definition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2560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M365 services under assessment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0" y="2551176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FF1CC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0" y="25877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TODO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10149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090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108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system-security-plan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31089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tenant and its in-scope controls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3099816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FF1CC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31363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TODO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" y="3566160"/>
            <a:ext cx="10149840" cy="4572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639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657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assessment-plan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36576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procedure ScubaGear performs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114800"/>
            <a:ext cx="10149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187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4206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assessment-results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389120" y="4206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observations · 83 findings · 26 risks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663440"/>
            <a:ext cx="10149840" cy="4572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736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188720" y="4754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plan-of-action-and-milestones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389120" y="4754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prioritised items with deadlines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01200" y="4745736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FF1CC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01200" y="478231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TODO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" y="5212080"/>
            <a:ext cx="10149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5285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188720" y="5303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mapping-collection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4389120" y="5303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SCuBA → NIST 800-53, with provenance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NIST's own oscal-cli 3.2.0 / liboscal-java 7.2.0 — full Metaschema constraints, not merely JSON Schema. Zero errors, zero warnings, enforced in CI.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#2  ·  INNOVATION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Mappings provably faithful to CISA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already publishes the authoritative SCuBA → NIST 800-53 crosswalk. Asking a model to guess what CISA has already stated is not innovation — it is a correctness regression.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26771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01752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crosswalk entries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210312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226771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301752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via CISA's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table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210312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E8F6EF"/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226771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84/92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301752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91%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AI guessing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32520" y="2103120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FFF6E0"/>
          </a:solidFill>
          <a:ln w="12700">
            <a:solidFill>
              <a:srgbClr val="FFF6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32520" y="2267712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842248" y="301752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for AI proposal: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labelled, scored, approved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0965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 test that proves it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4348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2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build fails if any emitted mapping diverges from CISA's CSV — read independently of our own parser, so a parser bug cannot make the test agree with itself. It also pins a case published third-party tooling gets wrong: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91947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C1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MS.AAD.1.1v1  →  CM-7  (least functionality)          not  IA-2(1)  (an MFA control)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Emitted as an OSCAL 1.2 mapping-collection — where provenance, confidence-score and matching-rationale are native fields, so the distinction lives in the standard rather than a convention we invented.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#3  ·  INNOVATION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that survives a baseline version change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SCuBA policy IDs are versioned, and CISA revises them. Between two runs, MS.DEFENDER.* became MS.SECURITYSUITE.*. A tool matching on identifier reports each renumbered policy twice — once vanished, once new.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6675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201168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12700">
            <a:solidFill>
              <a:srgbClr val="F7C9C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89520" y="21488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52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8346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events from a single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renumbering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3767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changed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41148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genuine improvements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genuine regression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renumberings, correctly absorbed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corrupts exactly the numbers a compliance report is built on: how many findings opened, how many closed, whether posture improved. CISA publishes the fix themselves — we consume it.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layer that cannot fabricate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 →  agent  →  tool call  →  NIST-validated OSCAL  →  answer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other path to a fact.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4304F"/>
          </a:solidFill>
          <a:ln w="12700">
            <a:solidFill>
              <a:srgbClr val="1E44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61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state, and what a policy requires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22860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4304F"/>
          </a:solidFill>
          <a:ln w="12700">
            <a:solidFill>
              <a:srgbClr val="1E44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761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by SHALL/SHOULD, ATT&amp;CK breadth, blast radius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22860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4304F"/>
          </a:solidFill>
          <a:ln w="12700">
            <a:solidFill>
              <a:srgbClr val="1E44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761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grounded in CISA's own guidance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69680" y="22860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4304F"/>
          </a:solidFill>
          <a:ln w="12700">
            <a:solidFill>
              <a:srgbClr val="1E44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0684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761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· auditor · engineer phrasing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86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that are mechanisms, not promises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279392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D2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policy IDs return an error — never a plausible-looking control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D2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mapping reports provenance; an AI proposal can never override CISA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D2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Untestable policies recorded as EXAMINE, not TEST — evidence is never overstated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D2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AI-authored remediation prose tagged generated-by=ai-assistant inside the POA&amp;M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on Microsoft Foundry  ·  keyless auth  ·  Microsoft Agent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ASSERTED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against a golden set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E8F6EF"/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8600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 cases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53619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28600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rate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ID cited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53619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~13s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28600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0" y="1371600"/>
            <a:ext cx="2377440" cy="1508760"/>
          </a:xfrm>
          <a:prstGeom prst="roundRect">
            <a:avLst>
              <a:gd name="adj" fmla="val 606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0" y="153619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53728" y="228600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passing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probes that matter most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493008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what MS.FAKE.9.9v9 requires → refuses, rather than inventing a control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to map an unmapped policy → reports it as unmapped, not a guess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CISA's CM-7 and never the IA-2(1) other tooling gets wrong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3108960"/>
            <a:ext cx="5029200" cy="2377440"/>
          </a:xfrm>
          <a:prstGeom prst="roundRect">
            <a:avLst>
              <a:gd name="adj" fmla="val 3846"/>
            </a:avLst>
          </a:prstGeom>
          <a:solidFill>
            <a:srgbClr val="FFF6E0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0840" y="32735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earned its place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3639312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caught a real defect in our own prompt design. The report agent wrote “a substantial set of policies passed” — no numbers at all.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our own grounding rule. Telling a model never to state an ungrounded fact made vagueness feel like the safe option.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that failure mode explicitly moved the suite from 14/15 to 15/15.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is derived from the generated artifacts, so the question set cannot drift away from the data it describes.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VALUE &amp; SOCIETAL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institutions that can least afford this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481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by hand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47088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ScubaGear report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failures into a POA&amp;M spreadsheet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each NIST 800-53 mapping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SSP in Word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32588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E8F6EF"/>
          </a:solidFill>
          <a:ln w="12700">
            <a:solidFill>
              <a:srgbClr val="C3E9D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481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pipeline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847088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seconds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POA&amp;M generated with severity and deadlines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Mappings bound to CISA's crosswalk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in the format assessors already consume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7307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is for, in Virginia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69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2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universities, K-12 school divisions, county and municipal governments, and small state agencies — all running the same Microsoft 365 estate as a federal agency, all subject to the same expectations, with a fraction of the compliance staff. OSCAL is the format FedRAMP and federal assessors already consume, so the output is immediately useful rather than another bespoke report.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under Apache-2.0. Runs on CISA's public data with no tenant access required, so any institution can evaluate it before trusting it with their own.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running today, not a prototype sketch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384048" cy="384048"/>
          </a:xfrm>
          <a:prstGeom prst="ellipse">
            <a:avLst/>
          </a:prstGeom>
          <a:solidFill>
            <a:srgbClr val="E8F6EF"/>
          </a:solidFill>
          <a:ln w="12700">
            <a:solidFill>
              <a:srgbClr val="C3E9D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447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4173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CISA's published ScubaGear assessment — a genuine redacted run, CC0 licensed. No synthetic inputs.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384048" cy="384048"/>
          </a:xfrm>
          <a:prstGeom prst="ellipse">
            <a:avLst/>
          </a:prstGeom>
          <a:solidFill>
            <a:srgbClr val="E8F6EF"/>
          </a:solidFill>
          <a:ln w="12700">
            <a:solidFill>
              <a:srgbClr val="C3E9D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4323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3408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validation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31343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oscal-cli in CI. The build fails if any document stops validating.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273552"/>
            <a:ext cx="384048" cy="384048"/>
          </a:xfrm>
          <a:prstGeom prst="ellipse">
            <a:avLst/>
          </a:prstGeom>
          <a:solidFill>
            <a:srgbClr val="E8F6EF"/>
          </a:solidFill>
          <a:ln w="12700">
            <a:solidFill>
              <a:srgbClr val="C3E9D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32841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2369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deployment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209544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 project in eastus2, gpt-5-mini, keyless auth. Provisioned and answering.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169664"/>
            <a:ext cx="384048" cy="384048"/>
          </a:xfrm>
          <a:prstGeom prst="ellipse">
            <a:avLst/>
          </a:prstGeom>
          <a:solidFill>
            <a:srgbClr val="E8F6EF"/>
          </a:solidFill>
          <a:ln w="12700">
            <a:solidFill>
              <a:srgbClr val="C3E9D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2245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330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4105656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Clone, install, generate, validate — four commands, fully offline for the deterministic core.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065776"/>
            <a:ext cx="384048" cy="384048"/>
          </a:xfrm>
          <a:prstGeom prst="ellipse">
            <a:avLst/>
          </a:prstGeom>
          <a:solidFill>
            <a:srgbClr val="FFF1CC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1206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029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limits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5001768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oscal-cli has no mapping command yet, so that document is JSON-Schema validated only. We report cli:n/a rather than implying more.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an Azure Container Apps deployment, Azure AI Search over baseline guidance, and the remaining M365 products.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572000" cy="4572000"/>
          </a:xfrm>
          <a:prstGeom prst="ellipse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097280"/>
            <a:ext cx="3291840" cy="3291840"/>
          </a:xfrm>
          <a:prstGeom prst="ellipse">
            <a:avLst/>
          </a:prstGeom>
          <a:solidFill>
            <a:srgbClr val="1430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CISA built the scanner.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everything after it.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validated OSCAL chain for Microsoft 365 — with mappings provably faithful to CISA's own crosswalk, drift that survives baseline version changes, and an AI layer that cannot invent a compliance fact.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OSCAL documents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NIST-validated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84/92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mappings deterministic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guessing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findings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4406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C1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github.com/saleha-muzammil/microsoft-sec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8978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 ·  Built on Microsoft Foundry  ·  Virginia Tech &amp; University of Virginia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SCuBA Compliance Copilot</dc:title>
  <dc:subject>PptxGenJS Presentation</dc:subject>
  <dc:creator>SCuBA Compliance Copilot</dc:creator>
  <cp:lastModifiedBy>SCuBA Compliance Copilot</cp:lastModifiedBy>
  <cp:revision>1</cp:revision>
  <dcterms:created xsi:type="dcterms:W3CDTF">2026-09-23T04:38:17Z</dcterms:created>
  <dcterms:modified xsi:type="dcterms:W3CDTF">2026-09-23T04:38:17Z</dcterms:modified>
</cp:coreProperties>
</file>